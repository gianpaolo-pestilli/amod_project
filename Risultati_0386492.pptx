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9" r:id="rId43"/>
    <p:sldId id="300" r:id="rId44"/>
    <p:sldId id="301" r:id="rId45"/>
    <p:sldId id="305" r:id="rId46"/>
    <p:sldId id="302" r:id="rId47"/>
    <p:sldId id="308" r:id="rId48"/>
    <p:sldId id="309" r:id="rId49"/>
    <p:sldId id="310" r:id="rId50"/>
    <p:sldId id="306" r:id="rId51"/>
    <p:sldId id="307" r:id="rId52"/>
    <p:sldId id="311" r:id="rId53"/>
    <p:sldId id="312" r:id="rId54"/>
    <p:sldId id="313" r:id="rId55"/>
    <p:sldId id="315" r:id="rId56"/>
    <p:sldId id="316" r:id="rId57"/>
    <p:sldId id="314" r:id="rId58"/>
    <p:sldId id="317" r:id="rId59"/>
    <p:sldId id="303" r:id="rId60"/>
    <p:sldId id="304" r:id="rId61"/>
    <p:sldId id="318" r:id="rId62"/>
    <p:sldId id="319" r:id="rId63"/>
    <p:sldId id="320" r:id="rId6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C88626-8297-4000-AA78-E4F17AAF9259}" type="datetimeFigureOut">
              <a:rPr lang="it-IT" smtClean="0"/>
              <a:t>25/06/2026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D32BE9-5CDD-4B08-B335-3127A5390EC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0518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D9585E-86E7-C51C-DBC6-323DFE3296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4A09B2E-DACF-F53A-9ED4-EA6214CCD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D0594E-272B-258A-6E66-903CB7D18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3E97-3DDD-4186-A208-B850F35723DB}" type="datetime1">
              <a:rPr lang="it-IT" smtClean="0"/>
              <a:t>25/06/2026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C970AA6-09FF-A32D-53E0-255613B8A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D7CDC2-436A-F090-2527-3DCF10D7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8320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4B7833-C7FE-C1EB-F5A4-73338189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561FFD-4945-CB7B-175E-E22C106C0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D72E431-7732-BDDA-EF08-259BEB8F2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9C9B6-BFF0-438D-B09E-8432B8734EE5}" type="datetime1">
              <a:rPr lang="it-IT" smtClean="0"/>
              <a:t>25/06/2026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8886248-1C0E-CD31-A043-C9AF6ABD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FE2C7A0-7804-1D82-F1D8-8704D7FE0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4438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275AD8-13A0-7BCA-0BFC-44889835A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42F52C2-7F0B-951A-BE57-866D655A1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3B3025A-BED1-B69C-F8C5-F7C26DA61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C7979-BD5D-4D0F-9310-241562FF9E94}" type="datetime1">
              <a:rPr lang="it-IT" smtClean="0"/>
              <a:t>25/06/2026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CF15A6-7D3A-1EE3-8C93-BEDB5827D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983C0F8-2110-103E-F53F-5B5B27761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512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C04EA3-E933-FD6C-2636-76CB3C5CA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41C80B-567D-F5B4-012F-6DF76DD234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2A6BC71-5BE3-8ED9-A3D0-67030591F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2C47705-E9F5-242F-89A9-35EFA764E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8F376-66C7-47F4-9CDC-69997AFD8804}" type="datetime1">
              <a:rPr lang="it-IT" smtClean="0"/>
              <a:t>25/06/2026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9E27AFF-3855-4D84-3EBB-1B4534BE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046636D-508A-F918-428F-2D2E85B7D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550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9870B8-8B4A-0B2E-BC66-16813AC78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D21403D-1617-68BE-3DA1-FC420E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D7D558C-4F53-B3CA-FDD9-51E7901BC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F2248B6A-9F26-ED59-9793-58B21F426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1100B6A-8982-DD20-607C-FB8F28DD73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05599F6-63D7-507E-CB4F-A90619A7E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CE95E-26FA-4B50-AEEC-A0C3476A6D97}" type="datetime1">
              <a:rPr lang="it-IT" smtClean="0"/>
              <a:t>25/06/2026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5AB9D1C-0DB6-A962-CC59-66E65F9EC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8E73910-2453-BDEA-5CB4-A90CC2FB3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1212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BD6F99-B675-6972-968E-88A0DB583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BEBE7B-CD5E-4D0B-4254-ABA5BB55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C9EBA-B4EE-4B7C-8D99-E4EE9B4515D3}" type="datetime1">
              <a:rPr lang="it-IT" smtClean="0"/>
              <a:t>25/06/2026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C1E58DF-617B-75B4-0DC9-38AD3244D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43AAAE4-B107-6694-572A-8F977E70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232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3A98471-C700-ED9F-AA69-BEB7F01F0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4029C-F4FA-44C2-8417-402E4F9F070D}" type="datetime1">
              <a:rPr lang="it-IT" smtClean="0"/>
              <a:t>25/06/2026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E4ACC49-989F-AD6A-8E71-09FA00494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16A85-9891-F44A-82CC-28490001D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392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8AD5BC-4845-5B99-FA83-1928E2DDE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4AA091-9D2B-EF94-6123-1FD3BF53A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57014E7-2FAB-AFCB-393B-1FB3906F4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4AC79B6-B2C6-4876-11E0-E581067BC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525BE-1E49-4B4B-B3DA-784C3A60B941}" type="datetime1">
              <a:rPr lang="it-IT" smtClean="0"/>
              <a:t>25/06/2026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1D644F9-20F8-3257-C31A-E0FBC1764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3F4CD04-B1A7-782E-9EF1-2CF93DDFD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6856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280370-37DC-6CC1-70FE-AE4B2E5B8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8A652FF-2568-DF84-D98D-DA30D75FB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B827820-ABE3-837C-A38A-E63C64150D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26271C9-0E2F-A958-FB55-7A515C1E0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C9992-29B7-4892-A984-BAD5A3D1DFD6}" type="datetime1">
              <a:rPr lang="it-IT" smtClean="0"/>
              <a:t>25/06/2026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2F22AA1-30BA-F52C-8758-B41AED60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82121F-4297-F62C-83E9-BC5015BF0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2072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80029D-8D34-C2E8-7338-0E7A340DA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898D646-4D39-8D8A-AD0D-F714C726B9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8925E-1BE4-BEF5-E531-9E0B6C04E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2FBA6-F7A9-4C74-B465-9FF20E4A7E98}" type="datetime1">
              <a:rPr lang="it-IT" smtClean="0"/>
              <a:t>25/06/2026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FBFC074-4E2F-A17E-B86B-4EE665854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2D9A63-F119-1320-0B6A-3829333E4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5548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9F29494-2A49-8AA3-8BD4-C2E0D6B44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8BD18CE-90CF-79B8-A3DD-6BF72BEA31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561BBFC-D7C8-B3DA-E98B-6E83E3C96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89735-B0FA-42EC-B352-C4875869C0BC}" type="datetime1">
              <a:rPr lang="it-IT" smtClean="0"/>
              <a:t>25/06/2026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7FBF0-2723-C95F-13E7-BCFC961D7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F7AC2A-F052-E1B7-153F-92794CD9B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42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81474D5-93F1-C6BF-4FC2-01FD92F26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73D5310-8276-3FF7-784A-BE9885103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0FB978-1F5C-98BC-6FCB-E9F695F3C2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5A07EC-953A-454F-8426-34AAF06A63B6}" type="datetime1">
              <a:rPr lang="it-IT" smtClean="0"/>
              <a:t>25/06/2026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76155F4-765E-8C1B-2783-3716C2DD2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D5E4149-5748-8CE2-5B3A-FC8A3B273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CF5B0F-C317-4CE9-868E-EACF911AC3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0711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grafos">
            <a:extLst>
              <a:ext uri="{FF2B5EF4-FFF2-40B4-BE49-F238E27FC236}">
                <a16:creationId xmlns:a16="http://schemas.microsoft.com/office/drawing/2014/main" id="{7F45E4BA-9922-4894-47D3-0308BEEE42B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12192001" cy="4762919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83A6944F-C6A5-D8BA-82B2-D03F96F1C80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923F726-1D35-BA39-C8D2-F4EF10F57513}"/>
              </a:ext>
            </a:extLst>
          </p:cNvPr>
          <p:cNvSpPr txBox="1"/>
          <p:nvPr/>
        </p:nvSpPr>
        <p:spPr>
          <a:xfrm>
            <a:off x="1396179" y="3654923"/>
            <a:ext cx="93996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600" b="1" dirty="0">
                <a:solidFill>
                  <a:srgbClr val="990000"/>
                </a:solidFill>
              </a:rPr>
              <a:t>MINIMUM VERTEX COVER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BEEED13-D24E-CECE-E6F5-2C5FAD148501}"/>
              </a:ext>
            </a:extLst>
          </p:cNvPr>
          <p:cNvSpPr txBox="1"/>
          <p:nvPr/>
        </p:nvSpPr>
        <p:spPr>
          <a:xfrm>
            <a:off x="8802356" y="6222490"/>
            <a:ext cx="3285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 (0386492) 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74679B7-D32B-7777-B8F0-7F40911C8AE9}"/>
              </a:ext>
            </a:extLst>
          </p:cNvPr>
          <p:cNvSpPr txBox="1"/>
          <p:nvPr/>
        </p:nvSpPr>
        <p:spPr>
          <a:xfrm>
            <a:off x="103832" y="6222490"/>
            <a:ext cx="21269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AMOD 2025-2026</a:t>
            </a:r>
          </a:p>
        </p:txBody>
      </p:sp>
    </p:spTree>
    <p:extLst>
      <p:ext uri="{BB962C8B-B14F-4D97-AF65-F5344CB8AC3E}">
        <p14:creationId xmlns:p14="http://schemas.microsoft.com/office/powerpoint/2010/main" val="3139750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6725-92B5-3B1E-6F34-784FA2A2F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3A58A5-7B62-B7C8-AB5A-3384C06A23B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46BBC47-0C05-6043-053E-9C532B26202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08438DD-8FFC-A83F-4FDC-F7E451F078F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4862638-C662-D171-BA24-7BE83738BF0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/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3312608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41291-74B8-7E05-0F50-FFEEA4622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9CEE577-B151-FB0C-F1B2-4E68BBD2685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A90F200-4F12-E9F5-F6CC-9F77401E41E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E97F6DF-BC58-7414-0FC5-90B555528674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7192AA6-47F9-1040-6EF7-F1EE767A7D5B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301529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FF0FC-BD09-BF0F-AD7B-5F31CE0AC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CB05E6-11E7-2515-0DB5-AEB005B33A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A7C265-2507-930E-62A1-73A52594594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8081FC8-AEE9-F1BB-2240-0076E5727DCD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8B15BBA-CB7D-CFC3-8A68-1B568777BC59}"/>
              </a:ext>
            </a:extLst>
          </p:cNvPr>
          <p:cNvSpPr txBox="1"/>
          <p:nvPr/>
        </p:nvSpPr>
        <p:spPr>
          <a:xfrm>
            <a:off x="533399" y="728069"/>
            <a:ext cx="1111688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IDEA</a:t>
            </a:r>
            <a:endParaRPr lang="it-IT" sz="3200" dirty="0"/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Il progetto si pone l’obiettivo di analizzare e confrontare le performance di vari algoritmi per il problema del </a:t>
            </a:r>
            <a:r>
              <a:rPr lang="it-IT" sz="3200" b="1" dirty="0"/>
              <a:t>minimum vertex cover </a:t>
            </a:r>
            <a:r>
              <a:rPr lang="it-IT" sz="3200" dirty="0"/>
              <a:t>su grafo non orientato.</a:t>
            </a:r>
          </a:p>
          <a:p>
            <a:pPr algn="just"/>
            <a:endParaRPr lang="it-IT" sz="3200" dirty="0"/>
          </a:p>
          <a:p>
            <a:pPr algn="just"/>
            <a:r>
              <a:rPr lang="it-IT" sz="3200" dirty="0"/>
              <a:t>Vengono presi in esame sia la variante originale del problema che il </a:t>
            </a: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  <a:r>
              <a:rPr lang="it-IT" sz="3200" dirty="0"/>
              <a:t>.</a:t>
            </a:r>
          </a:p>
          <a:p>
            <a:endParaRPr lang="it-IT" sz="4000" b="1" dirty="0">
              <a:solidFill>
                <a:srgbClr val="99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321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9C0AC-FA4D-E6C8-1228-983A03BAB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6EB3C69-F5B7-DDCC-E656-FA278C44211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BD3796-118F-480D-76CF-4CFD0DFA1D9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91901B9-69F8-627F-4415-BF73A605FE9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it-IT" sz="4000" b="1" dirty="0">
                    <a:solidFill>
                      <a:srgbClr val="990000"/>
                    </a:solidFill>
                  </a:rPr>
                  <a:t>CONCETTO DI COVER</a:t>
                </a:r>
                <a:endParaRPr lang="it-IT" sz="3200" dirty="0"/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Dato un grafo, una </a:t>
                </a:r>
                <a:r>
                  <a:rPr lang="it-IT" sz="3200" b="1" dirty="0"/>
                  <a:t>cover</a:t>
                </a:r>
                <a:r>
                  <a:rPr lang="it-IT" sz="3200" dirty="0"/>
                  <a:t> è un </a:t>
                </a:r>
                <a:r>
                  <a:rPr lang="it-IT" sz="3200" b="1" dirty="0"/>
                  <a:t>sottoinsieme S dei vertici </a:t>
                </a:r>
                <a:r>
                  <a:rPr lang="it-IT" sz="3200" dirty="0"/>
                  <a:t>tale che, per ogni arco del grafo, </a:t>
                </a:r>
                <a:r>
                  <a:rPr lang="it-IT" sz="3200" b="1" dirty="0"/>
                  <a:t>almeno uno dei suoi vertici </a:t>
                </a:r>
                <a:r>
                  <a:rPr lang="it-IT" sz="3200" dirty="0"/>
                  <a:t>appartiene ad S.</a:t>
                </a:r>
              </a:p>
              <a:p>
                <a:pPr algn="just"/>
                <a:endParaRPr lang="it-IT" sz="3200" dirty="0"/>
              </a:p>
              <a:p>
                <a:pPr algn="just"/>
                <a:r>
                  <a:rPr lang="it-IT" sz="3200" dirty="0"/>
                  <a:t>G = (V,E)</a:t>
                </a:r>
              </a:p>
              <a:p>
                <a:pPr algn="just"/>
                <a:r>
                  <a:rPr lang="it-IT" sz="3200" b="1" dirty="0"/>
                  <a:t>S </a:t>
                </a:r>
                <a14:m>
                  <m:oMath xmlns:m="http://schemas.openxmlformats.org/officeDocument/2006/math">
                    <m:r>
                      <a:rPr lang="it-IT" sz="3200" b="1" i="0">
                        <a:latin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it-IT" sz="3200" b="1" dirty="0"/>
                  <a:t> V : </a:t>
                </a:r>
                <a14:m>
                  <m:oMath xmlns:m="http://schemas.openxmlformats.org/officeDocument/2006/math">
                    <m:r>
                      <a:rPr lang="it-IT" sz="3200" b="1" i="1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it-IT" sz="3200" b="1" dirty="0"/>
                  <a:t> e = {</a:t>
                </a:r>
                <a:r>
                  <a:rPr lang="it-IT" sz="3200" b="1" dirty="0" err="1"/>
                  <a:t>u,v</a:t>
                </a:r>
                <a:r>
                  <a:rPr lang="it-IT" sz="3200" b="1" dirty="0"/>
                  <a:t>}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E </a:t>
                </a:r>
                <a14:m>
                  <m:oMath xmlns:m="http://schemas.openxmlformats.org/officeDocument/2006/math">
                    <m:r>
                      <a:rPr lang="it-IT" sz="3200" b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it-IT" sz="3200" b="1" dirty="0"/>
                  <a:t> (u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 v (v </a:t>
                </a:r>
                <a14:m>
                  <m:oMath xmlns:m="http://schemas.openxmlformats.org/officeDocument/2006/math">
                    <m:r>
                      <a:rPr lang="it-IT" sz="32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3200" b="1" dirty="0"/>
                  <a:t> S)</a:t>
                </a:r>
              </a:p>
              <a:p>
                <a:pPr algn="just"/>
                <a:endParaRPr lang="it-IT" sz="32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5C98985-4886-6DA9-9D3E-AC25AAE49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647426"/>
              </a:xfrm>
              <a:prstGeom prst="rect">
                <a:avLst/>
              </a:prstGeom>
              <a:blipFill>
                <a:blip r:embed="rId2"/>
                <a:stretch>
                  <a:fillRect l="-1919" t="-2359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9481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3839F-864E-14C9-4A97-722F96667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A7A7000-CE1C-3198-9679-EB84A67CB0E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518A9F-9EE6-4DA3-6D70-A197ACBCFC2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4E29D4F-5562-539C-9B36-7515B0F5EE6A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F03DD3B-EFDA-D9F9-B8C9-CC3ECD8F3E01}"/>
              </a:ext>
            </a:extLst>
          </p:cNvPr>
          <p:cNvSpPr txBox="1"/>
          <p:nvPr/>
        </p:nvSpPr>
        <p:spPr>
          <a:xfrm>
            <a:off x="533399" y="728069"/>
            <a:ext cx="11116884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4000" b="1" dirty="0">
                <a:solidFill>
                  <a:srgbClr val="990000"/>
                </a:solidFill>
              </a:rPr>
              <a:t>COVER MINIMA</a:t>
            </a:r>
          </a:p>
          <a:p>
            <a:pPr algn="just"/>
            <a:endParaRPr lang="it-IT" sz="4000" b="1" dirty="0">
              <a:solidFill>
                <a:srgbClr val="990000"/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cardinalità minima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b="1" dirty="0"/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3200" b="1" dirty="0"/>
              <a:t>Sottoinsieme S di peso totale minore</a:t>
            </a:r>
          </a:p>
          <a:p>
            <a:pPr marL="914400" lvl="1" indent="-457200" algn="just">
              <a:buFont typeface="Arial" panose="020B0604020202020204" pitchFamily="34" charset="0"/>
              <a:buChar char="•"/>
            </a:pPr>
            <a:r>
              <a:rPr lang="it-IT" sz="3200" dirty="0"/>
              <a:t>Peso totale = somma dei pesi di tutti i vertici presenti nella cover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3200" dirty="0"/>
          </a:p>
          <a:p>
            <a:pPr algn="just"/>
            <a:endParaRPr lang="it-IT" sz="3200" b="1" dirty="0"/>
          </a:p>
          <a:p>
            <a:pPr algn="just"/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552696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3D11F-D29B-4911-9725-49539C093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D7E69A-FBCD-B7E2-31CA-4366C7E18B3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13F7D9B-8386-6CDA-EF67-A39F516B505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61EC2B6-336C-1F38-2575-BDD5C5488E8C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A8F6C2F-DF59-78F3-10AF-6F012DBF3E48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1244029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7C550-5246-62F8-642A-7062A379B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2AC18B2-2919-5EE3-CEC1-A1233CE1FD6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247A63D-EB98-4FCC-C824-9F5D2D67C62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A12123A-9F44-697E-1F75-975F82D7BAA6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C2E51A3-9F65-61AF-3FC4-BDFA9CD623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parte da un vertice qualsiasi)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355780FD-742B-FB21-690A-18D37ECBB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18466"/>
            <a:ext cx="4086373" cy="370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680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1F40-733A-62AF-6B74-81746B8D4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BCF60E4-17F4-1A54-8512-7511AF8F6B4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1145040-E22A-C851-EE32-409E28464A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85185F7-104C-35DD-ED4D-0D9B0AA5017E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A72BB08-D902-CAAF-19F1-8448A26EE06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grado decrescente)</a:t>
            </a: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0EEEDA-C7CD-E7E5-F6D6-70B4BF2B4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8560586" cy="181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252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18003-55A9-082D-CD9A-AFFBCF16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538783-DE3A-3257-3ABD-C216CEA142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BAEE5A3-78E6-3070-DBD3-ACD39023064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931D45D-1B95-84D2-0CF2-69AFBFE43ED1}"/>
              </a:ext>
            </a:extLst>
          </p:cNvPr>
          <p:cNvSpPr txBox="1"/>
          <p:nvPr/>
        </p:nvSpPr>
        <p:spPr>
          <a:xfrm>
            <a:off x="11650283" y="6222490"/>
            <a:ext cx="2620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1F8678-4068-1A9F-94C2-9FFE09D94A98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(basato sul matching massimale)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C71F03F-0223-D9DE-6028-1D25CF1E13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93"/>
          <a:stretch>
            <a:fillRect/>
          </a:stretch>
        </p:blipFill>
        <p:spPr>
          <a:xfrm>
            <a:off x="533399" y="2314007"/>
            <a:ext cx="4274575" cy="33167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CC9B6F7E-3AD4-3CEE-DCD9-10BE279F49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380"/>
          <a:stretch>
            <a:fillRect/>
          </a:stretch>
        </p:blipFill>
        <p:spPr>
          <a:xfrm>
            <a:off x="6091841" y="2314007"/>
            <a:ext cx="4138438" cy="195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941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A2EAD-DFAF-31AF-5EAF-56B269B9C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219B91-BA4B-B5DD-25A5-C91EB616EE1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C8A72E-054B-6A8F-E2BF-03F3E0A11CD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AFC70D3-AB8C-0F39-FE80-2CE0E9280E9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CC36DE6-25D1-7331-99BC-060F84C277DF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37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F1F9-8FEB-6A8F-10A8-10D1C1276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5C3883C-7764-0835-5410-F87964F83C2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EEB942E-014D-1165-FD44-C9DBF2386F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8252BC9-85D1-8131-8374-946EC8194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831D7CC-6BA4-CDEF-10CE-9FDE3E5258B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980851D-AA83-0B2B-1DE7-25AA154B8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76782"/>
            <a:ext cx="3546988" cy="172651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30162F0-99C4-B5E3-E14A-F143DFA70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806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F22A7-A0C2-A43F-E9CA-238C15F88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CA91E07-E52E-D621-867A-E481958FC752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2C09B9C-8FA5-2E5F-2A04-C8D571A34BA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D67676B-1BED-4C49-33C4-CF6AFF211F4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80F41E-C28D-0125-496B-C5A8D378BD7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293837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BF3E4-0529-3DE3-A8D0-B3530A42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C0AC4A8-8E28-7AC7-447D-8AA369C568B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01469AE-EACD-7505-1BDB-BE9B8236DD8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FFC7E8C-F660-9258-FD25-C732E8FF18F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1662036-A3D7-8F4E-F7A2-9B59F4519D19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Concetto: </a:t>
            </a:r>
            <a:r>
              <a:rPr lang="it-IT" sz="3200" dirty="0"/>
              <a:t>a partire da un ciclo di lunghezza dispari (2k+1) non è possibile scegliere più di k vertici senza che ci sia almeno una coppia di vertici adiacenti tra quelli selezionati.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Considerazione: </a:t>
            </a:r>
            <a:r>
              <a:rPr lang="it-IT" sz="3200" dirty="0"/>
              <a:t>nel modello di PLI la x[i] relativa al vertice i vale 1 se quel vertice è stato inserito nella cover. Nel modello rilassato la x[i] può assumere valori frazionari.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1611430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DB9C7-C12C-FB9E-BD5B-E6E1F6E7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0DE0A1C-D9FA-6552-EB65-8DB2236EF18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69437A2-D929-025B-6C2E-6E6BFA10D4E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B278B73-0778-D492-1F6C-87666990069B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50821A6-60A4-D071-9460-0357233E6C11}"/>
              </a:ext>
            </a:extLst>
          </p:cNvPr>
          <p:cNvSpPr txBox="1"/>
          <p:nvPr/>
        </p:nvSpPr>
        <p:spPr>
          <a:xfrm>
            <a:off x="533399" y="728069"/>
            <a:ext cx="11116884" cy="46935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Conseguenza: </a:t>
            </a:r>
            <a:r>
              <a:rPr lang="it-IT" sz="3200" dirty="0"/>
              <a:t>somme di x[i] a valore frazionario potrebbero violare 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inqualities</a:t>
            </a:r>
            <a:r>
              <a:rPr lang="it-IT" sz="3200" dirty="0"/>
              <a:t>.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Applicazione: </a:t>
            </a:r>
            <a:r>
              <a:rPr lang="it-IT" sz="3200" dirty="0"/>
              <a:t>si potrebbe aggiungere un vincolo in più al modello di PL per ogni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inequality</a:t>
            </a:r>
            <a:r>
              <a:rPr lang="it-IT" sz="3200" dirty="0"/>
              <a:t> che deriva da un ciclo di lunghezza dispari.</a:t>
            </a:r>
            <a:endParaRPr lang="it-IT" sz="3200" b="1" dirty="0"/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</p:spTree>
    <p:extLst>
      <p:ext uri="{BB962C8B-B14F-4D97-AF65-F5344CB8AC3E}">
        <p14:creationId xmlns:p14="http://schemas.microsoft.com/office/powerpoint/2010/main" val="1229577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30790-CA9E-46C8-B79E-2C880476D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1A564E7-D61A-3689-0E67-C7CE0AADE60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305053A-FB04-3D98-B7E3-A6725328FDD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FA4171D-448C-DEF1-81DC-A8E37FFA789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0316673-81A7-D354-1165-75AC074028F5}"/>
              </a:ext>
            </a:extLst>
          </p:cNvPr>
          <p:cNvSpPr txBox="1"/>
          <p:nvPr/>
        </p:nvSpPr>
        <p:spPr>
          <a:xfrm>
            <a:off x="533399" y="728069"/>
            <a:ext cx="11116884" cy="404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ODD CYCLE INEQUALITIES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Implementazione nel progetto: </a:t>
            </a:r>
            <a:r>
              <a:rPr lang="it-IT" sz="3200" dirty="0"/>
              <a:t>ci si è concentrati solo sui cicli dispari di lunghezza minore possibile (triangoli).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b="1" dirty="0"/>
              <a:t>Utilizzo: </a:t>
            </a:r>
            <a:r>
              <a:rPr lang="it-IT" sz="3200" dirty="0"/>
              <a:t>dato che il numero di vertici del grafo non è noto a priori, si preferisce inserire gruppi di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r>
              <a:rPr lang="it-IT" sz="3200" dirty="0"/>
              <a:t> applicando uno schema simile al cutting </a:t>
            </a:r>
            <a:r>
              <a:rPr lang="it-IT" sz="3200" dirty="0" err="1"/>
              <a:t>plane</a:t>
            </a:r>
            <a:r>
              <a:rPr lang="it-IT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26379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E9BDE-A0B6-3742-345C-8ED85F34D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562A1DD-93D0-1283-5099-CEDCAE30C00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BB24AD-AA98-DED7-6C5C-EBCCDB55CDB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9F8CEEF-F5F0-9F75-81AC-63D515AEF5E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1839A1B-9027-C69F-0555-D9716897EC96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5AE0B3B-0EB5-2442-F012-75EBE81DB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1859CCF3-79AE-EDF7-5912-5022FE8354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624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0DBB2-FA59-3862-822E-8F22BB25A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34486F-E157-CE4B-8B76-606DE4779D1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D5ADA02-9D55-FE98-8218-A0A75A81E7C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5D07FC8-87DB-9EC9-C10E-896E8722AEDF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3133AFF-CC31-2531-68B4-4AF1B4FDC8F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17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660095E0-8889-C11E-725E-B986A9346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841" y="2488704"/>
            <a:ext cx="4268117" cy="31320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04C1D0E1-F2EE-4355-A35B-F27CE384F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406379"/>
            <a:ext cx="4474286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557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4DC3E-B905-A214-A6A7-C5438E643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0E96AE6-E07F-6876-69A4-EFCB475313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06235A-D864-01E9-5926-7D9B39940F67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515F7E1-DD4F-96D7-9081-17AFB8A8B2B9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NON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C8788C-EAF8-7049-F6C6-D4BD6A1471F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18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C00CDCF-54A7-249A-7039-FEAD102A0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06379"/>
            <a:ext cx="6036676" cy="31320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FE2E4DD0-FD5A-A8CC-1501-388171D38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859" y="2406379"/>
            <a:ext cx="2960383" cy="31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6938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17E2-0E3E-CABB-EC49-58ABA6B4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0FD3871-534A-8E95-ACAF-56D3AD97998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A89934-52C4-4247-B668-047FA8F5AB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B5714A1-BAAE-C1E4-5192-8105E7641735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1 (si ordinano i vertici per peso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D5DB99-C127-942B-151C-6B5EEADEA74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19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00539F8-7AB2-1A90-F9A4-4F1C9890A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288416"/>
            <a:ext cx="6272014" cy="361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60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2EA7B-DC77-71F4-A489-EB7970040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4B287D7-EAFC-DCFC-0C1F-D5B2DBCF2A81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6BF57AC-FEA7-92B9-CF09-3C1EF6FD885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72CD3A2-892B-E2D1-DE23-984C2628EF77}"/>
              </a:ext>
            </a:extLst>
          </p:cNvPr>
          <p:cNvSpPr txBox="1"/>
          <p:nvPr/>
        </p:nvSpPr>
        <p:spPr>
          <a:xfrm>
            <a:off x="533399" y="728069"/>
            <a:ext cx="11116884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2 (si ordinano i vertici per rapporto peso/grado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1F72936-B423-792D-6842-AEA081856A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20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5C7F1FD-810F-89A9-47DC-C2318D174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497784"/>
            <a:ext cx="3771652" cy="344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889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B65F2-BF6C-D3ED-14C7-FDBB3C373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4CECEE7-5915-6A91-9ECA-771A3BEC21B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787D36D-2875-48C9-1784-0C64D157A074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950AA2C-363F-16BD-AA56-3CEF0315EDFB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3 (si ordinano gli archi per costo)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DFEFDB8-79BF-FCDD-5542-69986AA237B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21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5D73F98-DD41-D930-6857-00C6A5295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0659"/>
            <a:ext cx="8504628" cy="27720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356D9A61-982F-6D0D-5155-A15ABB634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027" y="2080659"/>
            <a:ext cx="2932573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498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85D05-94E8-544E-86AD-DE03E7A1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892DE5-1DDB-59F0-B6B9-5E21842CBCC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ACAD12B-3C9B-FC5E-E6B7-E4D5CB24BACF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5D37131-EA1B-6341-0D15-06A5596D905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49666B-5587-CE81-68CA-76A0BABC4B42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 con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odd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cycle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inequalities</a:t>
            </a: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9505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E61DF-9781-8898-73DD-1666AFCEE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53DEB75-A96E-59FF-3FB3-D247D4CB459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1B8DC77-076E-FEF9-0D5B-0B5B8C00D89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BEC9EDE-ACF9-2E4B-F74E-F2C2CF913D0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A615C6A-89AE-4ABE-5FA9-ABAF76C546F2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0DC28201-4F7B-BF55-CF75-F14240234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34" y="2276782"/>
            <a:ext cx="5479505" cy="3391194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DF3DA32B-B0B8-0D8F-ACA6-4F1556447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2276782"/>
            <a:ext cx="3958154" cy="1960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617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F655E-E848-A4C0-562A-268D00091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506995B-2D0A-2DDD-BB1A-2DA88C2A0CCC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4056FEB-76F0-3B13-C9B8-8AF6B4E486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39A8D05-F370-195A-12F5-3D4F7879D819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C4495C9-0AE1-8EF1-7BF8-47CF205DD6C9}"/>
              </a:ext>
            </a:extLst>
          </p:cNvPr>
          <p:cNvSpPr txBox="1"/>
          <p:nvPr/>
        </p:nvSpPr>
        <p:spPr>
          <a:xfrm>
            <a:off x="533399" y="728069"/>
            <a:ext cx="111168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down)</a:t>
            </a:r>
            <a:endParaRPr lang="it-IT" sz="3200" dirty="0"/>
          </a:p>
          <a:p>
            <a:pPr algn="just">
              <a:spcAft>
                <a:spcPts val="1200"/>
              </a:spcAft>
            </a:pPr>
            <a:r>
              <a:rPr lang="it-IT" sz="3200" dirty="0" err="1"/>
              <a:t>Doubling</a:t>
            </a:r>
            <a:r>
              <a:rPr lang="it-IT" sz="3200" dirty="0"/>
              <a:t> and </a:t>
            </a:r>
            <a:r>
              <a:rPr lang="it-IT" sz="3200" dirty="0" err="1"/>
              <a:t>rounding</a:t>
            </a:r>
            <a:r>
              <a:rPr lang="it-IT" sz="3200" dirty="0"/>
              <a:t> down effettuato dopo aver risolto: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Rilassamento lineare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Rilassamento lineare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endParaRPr lang="it-IT" sz="3200" b="1" dirty="0"/>
          </a:p>
        </p:txBody>
      </p:sp>
    </p:spTree>
    <p:extLst>
      <p:ext uri="{BB962C8B-B14F-4D97-AF65-F5344CB8AC3E}">
        <p14:creationId xmlns:p14="http://schemas.microsoft.com/office/powerpoint/2010/main" val="407276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120F6-BA5B-C31F-C302-0C8C50BCF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EB7DA05-E429-4CC0-A0DD-02DE6748199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7D2CBFC-BB8B-6C25-374C-47ABB2C71AB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D32EFA0-15C5-74BE-D99C-F9F1D907B1C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3DB798B-684B-B331-9678-CAF9CB170740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1200"/>
              </a:spcAft>
            </a:pPr>
            <a:r>
              <a:rPr lang="it-IT" sz="3200" b="1" dirty="0"/>
              <a:t>Algoritmo 4 (</a:t>
            </a:r>
            <a:r>
              <a:rPr lang="it-IT" sz="3200" b="1" dirty="0" err="1"/>
              <a:t>doubling</a:t>
            </a:r>
            <a:r>
              <a:rPr lang="it-IT" sz="3200" b="1" dirty="0"/>
              <a:t> and </a:t>
            </a:r>
            <a:r>
              <a:rPr lang="it-IT" sz="3200" b="1" dirty="0" err="1"/>
              <a:t>rounding</a:t>
            </a:r>
            <a:r>
              <a:rPr lang="it-IT" sz="3200" b="1" dirty="0"/>
              <a:t> down con </a:t>
            </a:r>
            <a:r>
              <a:rPr lang="it-IT" sz="3200" b="1" dirty="0" err="1"/>
              <a:t>odd</a:t>
            </a:r>
            <a:r>
              <a:rPr lang="it-IT" sz="3200" b="1" dirty="0"/>
              <a:t> </a:t>
            </a:r>
            <a:r>
              <a:rPr lang="it-IT" sz="3200" b="1" dirty="0" err="1"/>
              <a:t>cycle</a:t>
            </a:r>
            <a:r>
              <a:rPr lang="it-IT" sz="3200" b="1" dirty="0"/>
              <a:t> </a:t>
            </a:r>
            <a:r>
              <a:rPr lang="it-IT" sz="3200" b="1" dirty="0" err="1"/>
              <a:t>inequalities</a:t>
            </a:r>
            <a:r>
              <a:rPr lang="it-IT" sz="3200" b="1" dirty="0"/>
              <a:t>)</a:t>
            </a:r>
          </a:p>
          <a:p>
            <a:pPr algn="just">
              <a:spcAft>
                <a:spcPts val="1200"/>
              </a:spcAft>
            </a:pPr>
            <a:endParaRPr lang="it-IT" sz="32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9D5ABF5B-A1A5-11F2-5794-7EBB1E7E80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151"/>
          <a:stretch>
            <a:fillRect/>
          </a:stretch>
        </p:blipFill>
        <p:spPr>
          <a:xfrm>
            <a:off x="533399" y="2672964"/>
            <a:ext cx="4680000" cy="317562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8F62357-C7EB-F48D-200F-265310874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70"/>
          <a:stretch>
            <a:fillRect/>
          </a:stretch>
        </p:blipFill>
        <p:spPr>
          <a:xfrm>
            <a:off x="6091841" y="2672964"/>
            <a:ext cx="4680000" cy="312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6222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C9B5B-0D95-EBB0-95BA-A82BA4A1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45A0D36-379D-1F02-8C3D-FBE995A5CD4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F1BEB0-EC82-1584-9EBC-96894BAA4B9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D346DA7-3FE8-47E9-1A4F-8D34543E9046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0BB1ACC-6158-6845-0028-176E0DCAD8F5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0A85566-7F2D-28B6-F154-91C8B93F8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851814" cy="356954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272809F-97B0-E473-8B28-AB00369E5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188" y="2004516"/>
            <a:ext cx="5379120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9827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04597-F93E-821B-58E7-7AAFA50D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45F5D7D-01D8-65B4-C04A-CF0DB742243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AC21F6-602E-DF0B-5461-E52E88D1605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2B4472-83AF-5CE5-2C37-37C816DC337D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VERTEX COVER PESATO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Algoritmo 5 (basato sul duale del rilassamento lineare)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E76F09A-D9DB-50A7-E2CB-F58F1109F21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766EBF9-DE25-D9D2-704E-92FFE5D628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86779"/>
            <a:ext cx="3251093" cy="357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946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C0F47-A07E-AD5D-8C78-66A34A85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BD5D540-9466-62B5-C501-26F6DFB5F09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D4A2B94-EA1F-EDC7-476E-0FB7EB6749B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9BD82AE-AF79-0B74-63F1-59BB1B09301F}"/>
              </a:ext>
            </a:extLst>
          </p:cNvPr>
          <p:cNvSpPr txBox="1"/>
          <p:nvPr/>
        </p:nvSpPr>
        <p:spPr>
          <a:xfrm>
            <a:off x="533399" y="728069"/>
            <a:ext cx="6304281" cy="4324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000" b="1" dirty="0">
                <a:solidFill>
                  <a:srgbClr val="990000"/>
                </a:solidFill>
              </a:rPr>
              <a:t>ROADMAP: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IDEA DEL PROGETTO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ALGORITMI CONFRONTATI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b="1" dirty="0"/>
              <a:t>METODOLOGIA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RISULTATI PIÙ SIGNIFICATIVI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CONCLUSIONI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F0CC2D-250E-43D1-8C8E-CFA9E7DF5D4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573229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7DAAD-41E2-528F-B305-818EBE4D7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8FEF686-F581-C756-0D99-D9B5E980F8E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D89110-0EEC-B552-F323-35D2C3A2462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A56459E-123A-EBEC-F87C-4B78AD68C7B0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Minimum </a:t>
            </a:r>
            <a:r>
              <a:rPr lang="it-IT" sz="3200" dirty="0" err="1"/>
              <a:t>weighted</a:t>
            </a:r>
            <a:r>
              <a:rPr lang="it-IT" sz="3200" dirty="0"/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17CBAE4-9B6A-55E6-A7FF-75AC63DDE62D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86633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04F10-42A0-1A54-BA62-028E95FCC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9184005-635C-4C43-F1AF-8BE05B398E3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73570F4-0674-7179-B545-DBFA3E71007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29DFCBA-9891-67E0-E2D9-831CC81BEDB9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</a:t>
            </a:r>
            <a:r>
              <a:rPr lang="it-IT" sz="3200" dirty="0" err="1">
                <a:solidFill>
                  <a:schemeClr val="bg2">
                    <a:lumMod val="75000"/>
                  </a:schemeClr>
                </a:solidFill>
              </a:rPr>
              <a:t>weighted</a:t>
            </a: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0E9414D-7F76-C200-E47F-F22DA413C08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720965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B37B5-6C90-6417-2B9E-D230DFC83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10C53F6-893E-BAF7-3BE0-7636E75FCCB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4577CEF-69E3-D875-6777-EB324580E16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D31ECF8-836C-E9D2-5CA5-238EB89E076D}"/>
              </a:ext>
            </a:extLst>
          </p:cNvPr>
          <p:cNvSpPr txBox="1"/>
          <p:nvPr/>
        </p:nvSpPr>
        <p:spPr>
          <a:xfrm>
            <a:off x="533399" y="728069"/>
            <a:ext cx="11116884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vertex cover</a:t>
            </a:r>
            <a:endParaRPr lang="it-IT" sz="3200" b="1" dirty="0">
              <a:solidFill>
                <a:schemeClr val="bg2">
                  <a:lumMod val="75000"/>
                </a:schemeClr>
              </a:solidFill>
            </a:endParaRP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Densità del grafo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Grado massimo di un vertice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AE1F7-3F7D-519E-449C-384EB533D13A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9604129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9854-7937-FF94-411E-E32EBE8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8F25EE0-3FF0-C238-9B07-C1C9A9AE7E89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52798EE-F0D9-C040-1A2B-199BF850817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A84F896-CB1C-1106-FDEE-9FD7EC2CE851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469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NUMERO DI VERTICI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Assunzione: </a:t>
                </a:r>
                <a:r>
                  <a:rPr lang="it-IT" sz="3200" dirty="0"/>
                  <a:t>anziché suddividere l’intervallo {1,…,</a:t>
                </a:r>
                <a:r>
                  <a:rPr lang="it-IT" sz="3200" dirty="0" err="1"/>
                  <a:t>N_max</a:t>
                </a:r>
                <a:r>
                  <a:rPr lang="it-IT" sz="3200" dirty="0"/>
                  <a:t>} in sotto-intervalli, si è preferito fissare dei valori «ragionevolmente distanti tra loro» che potessero fungere da rappresentanti per tali sotto-intervalli.</a:t>
                </a:r>
              </a:p>
              <a:p>
                <a:pPr algn="just">
                  <a:spcAft>
                    <a:spcPts val="600"/>
                  </a:spcAft>
                </a:pPr>
                <a:endParaRPr lang="it-IT" sz="3200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dirty="0" err="1"/>
                  <a:t>N_i</a:t>
                </a:r>
                <a:r>
                  <a:rPr lang="it-IT" sz="3200" dirty="0"/>
                  <a:t> = #vertici della classe 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dirty="0" err="1"/>
                  <a:t>N_i</a:t>
                </a:r>
                <a:r>
                  <a:rPr lang="it-IT" sz="3200" dirty="0"/>
                  <a:t> = 50 *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it-IT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it-IT" sz="32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DA84F896-CB1C-1106-FDEE-9FD7EC2CE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469109"/>
              </a:xfrm>
              <a:prstGeom prst="rect">
                <a:avLst/>
              </a:prstGeom>
              <a:blipFill>
                <a:blip r:embed="rId2"/>
                <a:stretch>
                  <a:fillRect l="-1919" t="-2452" r="-1371" b="-35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AEEA1D-E930-78E7-46F4-40F6E7EF61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9680086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92F2-A39F-6B56-B16D-C73C2E838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9555159-8CB2-7B07-4EF3-4D02D5A6C50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E1AB727-875C-F086-D167-9F65A25F5E3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67846B3-13FF-5E25-4BF7-D3F271550C03}"/>
              </a:ext>
            </a:extLst>
          </p:cNvPr>
          <p:cNvSpPr txBox="1"/>
          <p:nvPr/>
        </p:nvSpPr>
        <p:spPr>
          <a:xfrm>
            <a:off x="533399" y="728069"/>
            <a:ext cx="1111688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NUMERO DI VERTICI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50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200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400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800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CE62D7A-5EE6-46FB-D5D7-6B389F0191E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3392813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E79C4-F9D0-F34C-4BF4-10C1169D5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A3947AA-5588-D116-34D4-B606C693F69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4FB8C8-2E70-7BDE-29C5-E4E2EFBF6EA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45B7534-6DCF-6A81-F4D0-DDEF0AEE7AA8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1295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DENSITÀ DEL GRAFO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Concetto: </a:t>
                </a:r>
                <a:r>
                  <a:rPr lang="it-IT" sz="3200" dirty="0"/>
                  <a:t>è il rapporto tra il numero di archi presenti nel grafo e il numero di archi possibili.</a:t>
                </a: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d(G)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it-IT" sz="3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it-IT" sz="3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it-IT" sz="3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V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it-IT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d>
                      </m:den>
                    </m:f>
                  </m:oMath>
                </a14:m>
                <a:r>
                  <a:rPr lang="it-IT" sz="3200" dirty="0"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3200" b="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it-IT" sz="3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3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−1)</m:t>
                        </m:r>
                      </m:den>
                    </m:f>
                  </m:oMath>
                </a14:m>
                <a:r>
                  <a:rPr lang="it-IT" sz="3200" dirty="0">
                    <a:ea typeface="Cambria Math" panose="02040503050406030204" pitchFamily="18" charset="0"/>
                  </a:rPr>
                  <a:t> 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>
                    <a:ea typeface="Cambria Math" panose="02040503050406030204" pitchFamily="18" charset="0"/>
                  </a:rPr>
                  <a:t>Classi: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0.2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0.5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>
                    <a:ea typeface="Cambria Math" panose="02040503050406030204" pitchFamily="18" charset="0"/>
                  </a:rPr>
                  <a:t>0.8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45B7534-6DCF-6A81-F4D0-DDEF0AEE7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129546"/>
              </a:xfrm>
              <a:prstGeom prst="rect">
                <a:avLst/>
              </a:prstGeom>
              <a:blipFill>
                <a:blip r:embed="rId2"/>
                <a:stretch>
                  <a:fillRect l="-1919" t="-2138" r="-1371" b="-296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DDEE3579-E63A-A55B-5CA2-C65634EFE29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568336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120BA-4D15-E745-27EC-7E15D7674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171EBE3-E0AB-5704-0CEB-1B5F20742E6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2010490-F577-7C08-8C62-B7E8CD52560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DCF863F-BE38-6E66-B6C0-EC10A5A4494A}"/>
              </a:ext>
            </a:extLst>
          </p:cNvPr>
          <p:cNvSpPr txBox="1"/>
          <p:nvPr/>
        </p:nvSpPr>
        <p:spPr>
          <a:xfrm>
            <a:off x="533399" y="728069"/>
            <a:ext cx="11116884" cy="487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GRADO MASSIMO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Assunzione: </a:t>
            </a:r>
            <a:r>
              <a:rPr lang="it-IT" sz="3200" dirty="0"/>
              <a:t>anziché utilizzare il grado massimo di un vertice (che è un valore fisso), si è cercato un modo per parametrizzarlo in funzione del numero dei vertici e degli archi del grafo.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Osservazione: </a:t>
            </a:r>
            <a:r>
              <a:rPr lang="it-IT" sz="3200" dirty="0"/>
              <a:t>non è tanto di interesse il valore in sé del grado massimo di un vertice, quanto lo «sbilanciamento» del grafo e la disposizione dei vertici di grado maggiore rispetto a quelli di grado inferiore.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08BBA79-C3AE-6B56-797D-C981F8A73B4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3560043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071F-9272-DC55-0D89-40F436C13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E00DA1-3FBC-1B04-F0CE-51546FE2D10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A3F5A4F-7683-98DA-28C3-B11AC35D2D8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FF7A392-E0C5-4E09-093D-0EED36C8000B}"/>
              </a:ext>
            </a:extLst>
          </p:cNvPr>
          <p:cNvSpPr txBox="1"/>
          <p:nvPr/>
        </p:nvSpPr>
        <p:spPr>
          <a:xfrm>
            <a:off x="533399" y="728069"/>
            <a:ext cx="1111688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GRADO MASSIMO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Rapporto grado massimo-medio: </a:t>
            </a:r>
            <a:r>
              <a:rPr lang="it-IT" sz="3200" dirty="0"/>
              <a:t>è il rapporto tra il grado massimo tra tutti i vertici e la media del grado di tutti i vertici del grafo.</a:t>
            </a:r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 (omogeneità assoluta)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Tra 1.2 e 1.6 (leggero sbilanciamento)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Maggiore di 2 (sbilanciamento evidente)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1822831-E080-58BF-31FF-7C3844F29D9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879209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28139-54FB-548A-ADFB-6D5FC6D14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98764A11-C028-62AD-AE63-DD92896A3EA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E43F34A-DFC6-98D9-EE2C-AF5AED71E51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831E679-5002-C657-B24C-F017B4D6E3AF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>
                <a:solidFill>
                  <a:schemeClr val="bg2">
                    <a:lumMod val="75000"/>
                  </a:schemeClr>
                </a:solidFill>
              </a:rPr>
              <a:t>Minimum vertex cover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1E9E7E4-2FAE-427A-DE93-11FB7474358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830983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30F36-403E-F851-35DD-259A9460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5A149BE-D7C6-A01A-61E7-F93E8BC0111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BEFB73-EDE7-ACC1-7369-9D1608F5BCD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341268-8C66-59FE-E44B-2D2F0E107DA6}"/>
              </a:ext>
            </a:extLst>
          </p:cNvPr>
          <p:cNvSpPr txBox="1"/>
          <p:nvPr/>
        </p:nvSpPr>
        <p:spPr>
          <a:xfrm>
            <a:off x="533399" y="728069"/>
            <a:ext cx="1111688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CLASSI DI ISTANZE</a:t>
            </a:r>
          </a:p>
          <a:p>
            <a:pPr algn="just">
              <a:spcAft>
                <a:spcPts val="600"/>
              </a:spcAft>
            </a:pPr>
            <a:endParaRPr lang="it-IT" sz="3200" dirty="0">
              <a:solidFill>
                <a:schemeClr val="bg2">
                  <a:lumMod val="75000"/>
                </a:schemeClr>
              </a:solidFill>
            </a:endParaRP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b="1" dirty="0"/>
              <a:t>Minimum </a:t>
            </a:r>
            <a:r>
              <a:rPr lang="it-IT" sz="3200" b="1" dirty="0" err="1"/>
              <a:t>weighted</a:t>
            </a:r>
            <a:r>
              <a:rPr lang="it-IT" sz="3200" b="1" dirty="0"/>
              <a:t> vertex cover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Numero di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Densità del grafo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Variabilità dei pesi dei vertici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Correlazione tra grado e peso di un vertice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FF0F6C9-DCAB-85F0-DB48-88DE914574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8697630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F209B-7043-304F-E41E-E514A658B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3E3A7A6-ED4B-A9F8-7D7E-C2E55661E50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54A412D-0290-5106-F40C-3CBCC80E16D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9DFE2-DEAB-DE30-7B95-FD109E8C4973}"/>
                  </a:ext>
                </a:extLst>
              </p:cNvPr>
              <p:cNvSpPr txBox="1"/>
              <p:nvPr/>
            </p:nvSpPr>
            <p:spPr>
              <a:xfrm>
                <a:off x="537557" y="540116"/>
                <a:ext cx="11116884" cy="5399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VARIABILITÀ DEI PESI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Variabile aleatoria: </a:t>
                </a:r>
                <a:r>
                  <a:rPr lang="it-IT" sz="3200" dirty="0"/>
                  <a:t>si è impiegata una variabile aleatoria uniforme nell’intervallo [</a:t>
                </a:r>
                <a:r>
                  <a:rPr lang="it-IT" sz="3200" dirty="0" err="1"/>
                  <a:t>a,b</a:t>
                </a:r>
                <a:r>
                  <a:rPr lang="it-IT" sz="3200" dirty="0"/>
                  <a:t>] con a = 1.</a:t>
                </a: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Varianza: </a:t>
                </a:r>
                <a:r>
                  <a:rPr lang="it-IT" sz="3200" dirty="0"/>
                  <a:t>per aumentare la varianza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3200" b="0" i="0" smtClean="0">
                            <a:latin typeface="Cambria Math" panose="02040503050406030204" pitchFamily="18" charset="0"/>
                          </a:rPr>
                          <m:t> (</m:t>
                        </m:r>
                        <m:sSup>
                          <m:sSupPr>
                            <m:ctrlPr>
                              <a:rPr lang="it-IT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it-IT" sz="32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it-IT" sz="3200" b="0" i="0" smtClean="0"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  <a:r>
                  <a:rPr lang="it-IT" sz="3200" dirty="0"/>
                  <a:t>) si modifica il secondo estremo dell’intervallo.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Classi (valori di b):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1000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3200" dirty="0"/>
                  <a:t>10000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539DFE2-DEAB-DE30-7B95-FD109E8C4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57" y="540116"/>
                <a:ext cx="11116884" cy="5399299"/>
              </a:xfrm>
              <a:prstGeom prst="rect">
                <a:avLst/>
              </a:prstGeom>
              <a:blipFill>
                <a:blip r:embed="rId2"/>
                <a:stretch>
                  <a:fillRect l="-1919" t="-2034" r="-1371" b="-29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9D3603-D75C-F8F9-FA09-186A36798B1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4114985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0A46D-60D4-0C90-1EB7-BB6C6C6FC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5B179D8-ADFF-0FBC-E90C-9782DDCCEFB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5970EF1-9EF5-2FFD-872E-3AD067D41F90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6518C64-F227-6624-FF88-8BDC7F1E65E4}"/>
              </a:ext>
            </a:extLst>
          </p:cNvPr>
          <p:cNvSpPr txBox="1"/>
          <p:nvPr/>
        </p:nvSpPr>
        <p:spPr>
          <a:xfrm>
            <a:off x="533399" y="728069"/>
            <a:ext cx="11116884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CORRELAZIONE TRA GRADO E PESO DI UN VERTICE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 (in base al coefficiente di Spearman):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-1 (correlazione monotona decrescente)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0 (nessuna correlazione)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1 (correlazione monotona crescente)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3C6B9F5-92A2-38DF-FE62-F5B89AA7B91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716711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1C33-3F58-18BF-B814-4E5791EF0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47A4476-A3F8-72D1-876D-9CA3DD348E8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CB6BF83-BD73-51C5-4516-841A8B23DC0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940374B-69D3-4663-1003-A16A937FDBF9}"/>
              </a:ext>
            </a:extLst>
          </p:cNvPr>
          <p:cNvSpPr txBox="1"/>
          <p:nvPr/>
        </p:nvSpPr>
        <p:spPr>
          <a:xfrm>
            <a:off x="533399" y="728069"/>
            <a:ext cx="11116884" cy="275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dirty="0"/>
              <a:t>Il codice implementato </a:t>
            </a:r>
            <a:r>
              <a:rPr lang="it-IT" sz="3200" b="1" dirty="0"/>
              <a:t>non mappa perfettamente </a:t>
            </a:r>
            <a:r>
              <a:rPr lang="it-IT" sz="3200" dirty="0"/>
              <a:t>lo pseudocodice fornito, in quanto sono state fatte alcune considerazioni in termini di ottimizzazione per diminuire il tempo di calcolo e impiegare meno memoria.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4A2D03D-67EF-74FD-C74B-5789DE31883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4365309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7C6D1-EAB5-F8B8-B2D0-03594144E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267A1DB-4101-5BFC-3BB2-3912239CE92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FFFFF16-B0FA-B89A-727A-3E0E4E596246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34FD40F-09DF-5E8F-59CE-6AE882A8705E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2220094-D0D1-0F26-6B3C-2AD03949E724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42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FE5EF27-5A59-1247-CA4F-C23A2A151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05342"/>
            <a:ext cx="4086373" cy="370782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29FFF527-D3E3-48A9-BEAF-25218801D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738" y="2005255"/>
            <a:ext cx="5732545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42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4C469-DC9B-9954-70C8-E26C87F0A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6A9E0C1-CBCF-AB54-A98D-90DF6B14412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533399" y="2005342"/>
            <a:ext cx="4086373" cy="3707826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F16B493-2C88-A65A-8A2C-0F86B1F75C0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5917738" y="2005255"/>
            <a:ext cx="5732545" cy="3708000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F14F000F-5740-52AC-C7C3-9E2D3A75446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A986DCE-F49A-1A9E-4D79-212E15DA738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57F950F-C7CF-F523-9492-F98AEF8260EA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319D31D-B86D-A671-A9FD-B58A29151BF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42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05C4942-8E67-39E3-0B14-08ABE296E39C}"/>
              </a:ext>
            </a:extLst>
          </p:cNvPr>
          <p:cNvSpPr/>
          <p:nvPr/>
        </p:nvSpPr>
        <p:spPr>
          <a:xfrm>
            <a:off x="533399" y="2836700"/>
            <a:ext cx="10161229" cy="204511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dirty="0"/>
              <a:t>Sebbene l’idea sia la stessa, rimuovere dall’insieme degli archi la stella uscente da un vertice ogni volta che questo viene inserito nella cover è subottimale rispetto a decrementare semplicemente il contatore degli archi.</a:t>
            </a:r>
          </a:p>
        </p:txBody>
      </p:sp>
    </p:spTree>
    <p:extLst>
      <p:ext uri="{BB962C8B-B14F-4D97-AF65-F5344CB8AC3E}">
        <p14:creationId xmlns:p14="http://schemas.microsoft.com/office/powerpoint/2010/main" val="2158829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BA0B6-56B2-ED72-FE07-969126030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E28C53A-CE24-0C52-8B35-936207B8EA5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691086-7FB8-C41B-CF61-19EC0FF1D18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0AAD23F-8931-BDC5-F213-74BA6BF7A06E}"/>
              </a:ext>
            </a:extLst>
          </p:cNvPr>
          <p:cNvSpPr txBox="1"/>
          <p:nvPr/>
        </p:nvSpPr>
        <p:spPr>
          <a:xfrm>
            <a:off x="533399" y="728069"/>
            <a:ext cx="1111688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OTTIMIZZAZIONI NEL CODICE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Esempio:</a:t>
            </a:r>
          </a:p>
          <a:p>
            <a:pPr algn="just">
              <a:spcAft>
                <a:spcPts val="600"/>
              </a:spcAft>
            </a:pPr>
            <a:r>
              <a:rPr lang="it-IT" sz="3200" dirty="0"/>
              <a:t>Nella generazione delle </a:t>
            </a:r>
            <a:r>
              <a:rPr lang="it-IT" sz="3200" dirty="0" err="1"/>
              <a:t>odd</a:t>
            </a:r>
            <a:r>
              <a:rPr lang="it-IT" sz="3200" dirty="0"/>
              <a:t> </a:t>
            </a:r>
            <a:r>
              <a:rPr lang="it-IT" sz="3200" dirty="0" err="1"/>
              <a:t>cycle</a:t>
            </a:r>
            <a:r>
              <a:rPr lang="it-IT" sz="3200" dirty="0"/>
              <a:t> </a:t>
            </a:r>
            <a:r>
              <a:rPr lang="it-IT" sz="3200" dirty="0" err="1"/>
              <a:t>inequalities</a:t>
            </a: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endParaRPr lang="it-IT" sz="3200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Sebbene matematicamente andrebbe inserito il &lt; 2, si è osservato che la tolleranza del solver è di 6 cifre decimali, per evitare loop dovuti a quantità trascurabili si è deciso di considerarne solo 3.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E4ED579-F613-05A2-8948-3E925E1A2E5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43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742655C-F841-B06C-B25D-B332E1EB7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612" y="2992378"/>
            <a:ext cx="8131191" cy="87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06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E9A20-E43A-1F21-F073-B9D10212B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A0923138-EA1C-CF47-4D3D-FA3AC08BC8F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74C6CF-998E-A198-8C28-F87E9FA0A84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8C0C367-5681-6726-7023-4E3E2B71F786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B6B7461-15DE-E844-8522-129FFD123F1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44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F3EFA6-900E-C300-954D-8C209DBD8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197879"/>
            <a:ext cx="859684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3977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3DC49-E87D-7159-1108-EEE967279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EE10947-101A-9954-5F52-530C06919244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0597A4-2145-11C4-FD8B-59CCB92148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E24D50B-B149-D6B4-3DA7-56CBC7ABD6AE}"/>
              </a:ext>
            </a:extLst>
          </p:cNvPr>
          <p:cNvSpPr txBox="1"/>
          <p:nvPr/>
        </p:nvSpPr>
        <p:spPr>
          <a:xfrm>
            <a:off x="533399" y="728069"/>
            <a:ext cx="11116884" cy="4231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np.round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gradi_float</a:t>
            </a:r>
            <a:r>
              <a:rPr lang="it-IT" sz="2800" dirty="0">
                <a:latin typeface="Consolas" panose="020B0609020204030204" pitchFamily="49" charset="0"/>
              </a:rPr>
              <a:t>).</a:t>
            </a:r>
            <a:r>
              <a:rPr lang="it-IT" sz="2800" dirty="0" err="1">
                <a:latin typeface="Consolas" panose="020B0609020204030204" pitchFamily="49" charset="0"/>
              </a:rPr>
              <a:t>astype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int</a:t>
            </a:r>
            <a:r>
              <a:rPr lang="it-IT" sz="2800" dirty="0">
                <a:latin typeface="Consolas" panose="020B0609020204030204" pitchFamily="49" charset="0"/>
              </a:rPr>
              <a:t>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Arrotonda gli eventuali gradi decimali.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np.clip</a:t>
            </a:r>
            <a:r>
              <a:rPr lang="it-IT" sz="2800" dirty="0">
                <a:latin typeface="Consolas" panose="020B0609020204030204" pitchFamily="49" charset="0"/>
              </a:rPr>
              <a:t>(</a:t>
            </a:r>
            <a:r>
              <a:rPr lang="it-IT" sz="2800" dirty="0" err="1">
                <a:latin typeface="Consolas" panose="020B0609020204030204" pitchFamily="49" charset="0"/>
              </a:rPr>
              <a:t>gradi_int</a:t>
            </a:r>
            <a:r>
              <a:rPr lang="it-IT" sz="2800" dirty="0">
                <a:latin typeface="Consolas" panose="020B0609020204030204" pitchFamily="49" charset="0"/>
              </a:rPr>
              <a:t>, 0, n - 1)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Forza il grado di ogni nodo ad assumere un valore compreso tra 0 e |V|- 1.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6605BC1-0C80-8FDB-BE3C-2BF0DB2EF73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992482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F77FF-6A6E-B053-68F9-33D6A2635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89307781-5909-5C06-9E77-BB842D1F2FE7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3A2BF1B-6C74-0E58-96C3-211D9647308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6CBDE75-193D-27BA-0D5B-A4D963F627A7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Se si sono generati dei gradi incompatibili con l’</a:t>
            </a:r>
            <a:r>
              <a:rPr lang="it-IT" sz="3200" dirty="0" err="1"/>
              <a:t>handshaking</a:t>
            </a:r>
            <a:r>
              <a:rPr lang="it-IT" sz="3200" dirty="0"/>
              <a:t> lemma si prende un vertice qualsiasi e, se non ha già grado massimo, si aumenta il suo grado di 1.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1C58B9-94E0-9144-0FAE-70F14FEA01C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A92D987-9E64-491B-BF0C-C11065775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706849"/>
            <a:ext cx="10636681" cy="1444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194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7F99D-A595-5AB1-5CF8-A49CDC337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7DBA301-ABF0-401A-692D-F8501E7B725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34363F1-FF69-78DF-20A6-434E3725958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36B604C-2121-753C-FD74-CD61E84AC794}"/>
              </a:ext>
            </a:extLst>
          </p:cNvPr>
          <p:cNvSpPr txBox="1"/>
          <p:nvPr/>
        </p:nvSpPr>
        <p:spPr>
          <a:xfrm>
            <a:off x="533399" y="728069"/>
            <a:ext cx="11116884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Si costruisce il </a:t>
            </a:r>
            <a:r>
              <a:rPr lang="it-IT" sz="3200" dirty="0" err="1"/>
              <a:t>multigrafo</a:t>
            </a:r>
            <a:r>
              <a:rPr lang="it-IT" sz="3200" dirty="0"/>
              <a:t> in base ai gradi generati, si rimuovono gli archi duplicati e i self loop.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D0A8CDE-8214-9E22-360A-045AFF5BF39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47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CDC0678-81E1-63DE-BCC0-6BEABFAC5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532708"/>
            <a:ext cx="8410736" cy="142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108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FF01-38AB-BF5A-9E88-BAAD0364B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86A96D0-CAF4-C273-C765-4A46E9D2C93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66FE574-6776-F4BD-CD56-5DCABEB010CE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C2C3A32-E256-E9B3-BC30-0186A1010A0A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53D62D5-FE43-A6F4-2EBA-0FD584BE0140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48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3ABDD6E-A179-B13F-D76E-9DAC10CB63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40"/>
          <a:stretch>
            <a:fillRect/>
          </a:stretch>
        </p:blipFill>
        <p:spPr>
          <a:xfrm>
            <a:off x="533399" y="1974106"/>
            <a:ext cx="9397182" cy="3823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08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D8080-B743-2B78-AC09-5BA7DD72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00626E60-66BA-F808-C30F-92A951636DD8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06D154A-DABC-05E1-8835-62E9671A85F1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37A410F-54BA-AD42-9426-5EF5B3E5EB9C}"/>
              </a:ext>
            </a:extLst>
          </p:cNvPr>
          <p:cNvSpPr txBox="1"/>
          <p:nvPr/>
        </p:nvSpPr>
        <p:spPr>
          <a:xfrm>
            <a:off x="533399" y="728069"/>
            <a:ext cx="11116884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4DBC72A-860D-A0AC-B162-252165AD586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>
                <a:solidFill>
                  <a:schemeClr val="bg1"/>
                </a:solidFill>
              </a:rPr>
              <a:t>49</a:t>
            </a:r>
            <a:endParaRPr lang="it-IT" sz="2000" b="1"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ECF66FD-530E-E959-DA32-EDBB5A48A0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169"/>
          <a:stretch>
            <a:fillRect/>
          </a:stretch>
        </p:blipFill>
        <p:spPr>
          <a:xfrm>
            <a:off x="533399" y="2078682"/>
            <a:ext cx="10793496" cy="331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190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86A4D-DE3D-A16A-9AF9-7374B86DB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BCD9D98-CFBB-70FF-140F-E428D4D2BE9B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1088094-58BF-08BC-A232-ADB0B7BE2F5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2B6AD42-8CE8-E1E9-65E4-36C6A868C57B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47257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densita_target</a:t>
                </a:r>
                <a:r>
                  <a:rPr lang="it-IT" sz="2800" dirty="0">
                    <a:latin typeface="Consolas" panose="020B0609020204030204" pitchFamily="49" charset="0"/>
                  </a:rPr>
                  <a:t> * (n - 1)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Se la densità è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2|</m:t>
                        </m:r>
                        <m:r>
                          <m:rPr>
                            <m:sty m:val="p"/>
                          </m:rP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−1)</m:t>
                        </m:r>
                      </m:den>
                    </m:f>
                  </m:oMath>
                </a14:m>
                <a:r>
                  <a:rPr lang="it-IT" sz="2800" dirty="0">
                    <a:ea typeface="Cambria Math" panose="02040503050406030204" pitchFamily="18" charset="0"/>
                  </a:rPr>
                  <a:t> 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>
                    <a:ea typeface="Cambria Math" panose="02040503050406030204" pitchFamily="18" charset="0"/>
                  </a:rPr>
                  <a:t>La moltiplicazione per |V|-1 restituisce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2|</m:t>
                        </m:r>
                        <m:r>
                          <m:rPr>
                            <m:sty m:val="p"/>
                          </m:rP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r>
                          <a:rPr lang="it-IT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2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</m:d>
                      </m:den>
                    </m:f>
                  </m:oMath>
                </a14:m>
                <a:endParaRPr lang="it-IT" sz="2800" dirty="0">
                  <a:ea typeface="Cambria Math" panose="02040503050406030204" pitchFamily="18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>
                    <a:ea typeface="Cambria Math" panose="02040503050406030204" pitchFamily="18" charset="0"/>
                  </a:rPr>
                  <a:t>Per l’</a:t>
                </a:r>
                <a:r>
                  <a:rPr lang="it-IT" sz="2800" dirty="0" err="1">
                    <a:ea typeface="Cambria Math" panose="02040503050406030204" pitchFamily="18" charset="0"/>
                  </a:rPr>
                  <a:t>Handshaking</a:t>
                </a:r>
                <a:r>
                  <a:rPr lang="it-IT" sz="2800" dirty="0">
                    <a:ea typeface="Cambria Math" panose="02040503050406030204" pitchFamily="18" charset="0"/>
                  </a:rPr>
                  <a:t> Lemma la somma dei gradi di tutti i vertici è esattamente 2|E|, pertanto il rapporto ottenuto è il grado medio.</a:t>
                </a:r>
                <a:endParaRPr lang="it-IT" sz="3200" b="1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2B6AD42-8CE8-E1E9-65E4-36C6A868C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4725781"/>
              </a:xfrm>
              <a:prstGeom prst="rect">
                <a:avLst/>
              </a:prstGeom>
              <a:blipFill>
                <a:blip r:embed="rId2"/>
                <a:stretch>
                  <a:fillRect l="-1919" t="-2320" r="-1371" b="-257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6A6BAE02-12A7-DB65-A526-F078DBFE15E6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3538459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A09D4-D117-28D9-6253-B4DA12CE8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FF8ADEB-9A3A-CD51-F4BC-E122302BF66A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D0880C7-8535-68E7-8EA0-476753782CC2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163504A-B561-395B-8F3E-2414883E45B5}"/>
              </a:ext>
            </a:extLst>
          </p:cNvPr>
          <p:cNvSpPr txBox="1"/>
          <p:nvPr/>
        </p:nvSpPr>
        <p:spPr>
          <a:xfrm>
            <a:off x="533399" y="728069"/>
            <a:ext cx="11116884" cy="527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2800" dirty="0"/>
              <a:t>Se è si sta considerando un rapporto grado massimo/grado medio di 1 (classe 0) allora si usa la primitiva che genera un grafo di n nodi, tutti con stesso grado, pari al valore medio trovato. Da notare l’arrotondamento e la modifica del grado se si viola l’</a:t>
            </a:r>
            <a:r>
              <a:rPr lang="it-IT" sz="2800" dirty="0" err="1"/>
              <a:t>Handshaking</a:t>
            </a:r>
            <a:r>
              <a:rPr lang="it-IT" sz="2800" dirty="0"/>
              <a:t> Lemma.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111EB55-7D1F-1CCA-AFCF-E1275C20BAB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51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D4A719A-1DFB-9E51-2B0F-E6AFCF2D07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66" b="70581"/>
          <a:stretch>
            <a:fillRect/>
          </a:stretch>
        </p:blipFill>
        <p:spPr>
          <a:xfrm>
            <a:off x="533399" y="2529465"/>
            <a:ext cx="10127598" cy="1462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374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03C0D-6076-EDDA-DA62-3FFD560D3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0DA4FF2-7B5D-EDBE-99E5-1CC39E1E32F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A63AD9D-B169-C12A-2A0C-144AF23F63FC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028465C-1A6E-7D80-5C6C-3E04F17A1A6B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Si utilizza una normale perché è una variabile aleatoria la cui varianza non si ottiene in modo matematico a partire dalla media (si può modificare a piacimento mantenendo la media fissa).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B63DFD3-C9E3-9EFF-F47F-CFF1391A685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52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1D6FA59-3C57-891A-8CE1-008016D91F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356" b="5339"/>
          <a:stretch>
            <a:fillRect/>
          </a:stretch>
        </p:blipFill>
        <p:spPr>
          <a:xfrm>
            <a:off x="533399" y="2445773"/>
            <a:ext cx="8708924" cy="178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189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19B3B-FB8E-C5A6-9BDE-D35B59838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CB98510-44D4-2C4B-8DD1-C758BCCE573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4CDE8D-B5A2-F3F2-7BD8-9B307A68CA1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272D098-FA51-5710-8EA5-BB43608A9639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6577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std_dev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* </a:t>
                </a:r>
                <a:r>
                  <a:rPr lang="it-IT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0.14</a:t>
                </a:r>
                <a:endParaRPr lang="it-IT" sz="3200" b="1" dirty="0">
                  <a:solidFill>
                    <a:srgbClr val="FF0000"/>
                  </a:solidFill>
                  <a:latin typeface="Consolas" panose="020B0609020204030204" pitchFamily="49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H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deg</m:t>
                        </m:r>
                        <m:r>
                          <a:rPr lang="it-IT" sz="2800" b="0" i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deg</m:t>
                        </m:r>
                        <m:r>
                          <a:rPr lang="it-IT" sz="2800" b="0" i="0" smtClean="0">
                            <a:latin typeface="Cambria Math" panose="02040503050406030204" pitchFamily="18" charset="0"/>
                          </a:rPr>
                          <m:t>⁡_</m:t>
                        </m:r>
                        <m:r>
                          <m:rPr>
                            <m:sty m:val="p"/>
                          </m:rPr>
                          <a:rPr lang="it-IT" sz="2800" b="0" i="0" smtClean="0">
                            <a:latin typeface="Cambria Math" panose="02040503050406030204" pitchFamily="18" charset="0"/>
                          </a:rPr>
                          <m:t>medio</m:t>
                        </m:r>
                      </m:den>
                    </m:f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Per una normale: </a:t>
                </a:r>
                <a:r>
                  <a:rPr lang="it-IT" sz="2800" dirty="0" err="1"/>
                  <a:t>val_max</a:t>
                </a:r>
                <a14:m>
                  <m:oMath xmlns:m="http://schemas.openxmlformats.org/officeDocument/2006/math">
                    <m:r>
                      <a:rPr lang="it-IT" sz="2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280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r>
                      <a:rPr lang="it-IT" sz="2800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800" dirty="0"/>
                  <a:t> + 3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Quindi 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nor/>
                          </m:rPr>
                          <a:rPr lang="it-IT" sz="2800" dirty="0"/>
                          <m:t> + 3 </m:t>
                        </m:r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m:rPr>
                            <m:nor/>
                          </m:rPr>
                          <a:rPr lang="it-IT" sz="2800" dirty="0"/>
                          <m:t> </m:t>
                        </m:r>
                      </m:num>
                      <m:den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endParaRPr lang="it-IT" sz="2800" dirty="0"/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Si è imposto H </a:t>
                </a:r>
                <a14:m>
                  <m:oMath xmlns:m="http://schemas.openxmlformats.org/officeDocument/2006/math">
                    <m:r>
                      <a:rPr lang="it-IT" sz="2800" b="1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800" dirty="0"/>
                  <a:t> [1.2, 1.6], si considera 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dirty="0" smtClean="0">
                            <a:latin typeface="Cambria Math" panose="02040503050406030204" pitchFamily="18" charset="0"/>
                          </a:rPr>
                          <m:t>1.2+1.6</m:t>
                        </m:r>
                      </m:num>
                      <m:den>
                        <m:r>
                          <a:rPr lang="it-IT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it-IT" sz="2800" dirty="0"/>
                  <a:t> = 1.4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it-IT" sz="28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0272D098-FA51-5710-8EA5-BB43608A9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657767"/>
              </a:xfrm>
              <a:prstGeom prst="rect">
                <a:avLst/>
              </a:prstGeom>
              <a:blipFill>
                <a:blip r:embed="rId2"/>
                <a:stretch>
                  <a:fillRect l="-1919" t="-1938" r="-13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D05DB3-C970-D1A6-1AE7-6910833E8DA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1443048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8CAAF-8AC0-1F66-6FDD-CF4A0601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CFE13DA3-D080-7D60-EE6C-6566E6968653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1781592-AD6A-FC20-E465-50DCAC4D1939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7519B35-4563-80FB-0B61-1A3B42A9069F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35873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marL="457200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 err="1">
                    <a:latin typeface="Consolas" panose="020B0609020204030204" pitchFamily="49" charset="0"/>
                  </a:rPr>
                  <a:t>std_dev</a:t>
                </a:r>
                <a:r>
                  <a:rPr lang="it-IT" sz="2800" dirty="0">
                    <a:latin typeface="Consolas" panose="020B0609020204030204" pitchFamily="49" charset="0"/>
                  </a:rPr>
                  <a:t> = </a:t>
                </a:r>
                <a:r>
                  <a:rPr lang="it-IT" sz="2800" dirty="0" err="1">
                    <a:latin typeface="Consolas" panose="020B0609020204030204" pitchFamily="49" charset="0"/>
                  </a:rPr>
                  <a:t>k_medio_atteso</a:t>
                </a:r>
                <a:r>
                  <a:rPr lang="it-IT" sz="2800" dirty="0">
                    <a:latin typeface="Consolas" panose="020B0609020204030204" pitchFamily="49" charset="0"/>
                  </a:rPr>
                  <a:t> * </a:t>
                </a:r>
                <a:r>
                  <a:rPr lang="it-IT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0.14</a:t>
                </a:r>
                <a:endParaRPr lang="it-IT" sz="3200" b="1" dirty="0">
                  <a:solidFill>
                    <a:srgbClr val="FF0000"/>
                  </a:solidFill>
                  <a:latin typeface="Consolas" panose="020B0609020204030204" pitchFamily="49" charset="0"/>
                </a:endParaRP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H </a:t>
                </a:r>
                <a14:m>
                  <m:oMath xmlns:m="http://schemas.openxmlformats.org/officeDocument/2006/math">
                    <m:r>
                      <a:rPr lang="it-IT" sz="2800" dirty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nor/>
                          </m:rPr>
                          <a:rPr lang="it-IT" sz="2800" dirty="0"/>
                          <m:t> + 3 </m:t>
                        </m:r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m:rPr>
                            <m:nor/>
                          </m:rPr>
                          <a:rPr lang="it-IT" sz="2800" dirty="0"/>
                          <m:t> </m:t>
                        </m:r>
                      </m:num>
                      <m:den>
                        <m:r>
                          <a:rPr lang="it-IT" sz="2800" i="1" dirty="0">
                            <a:latin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r>
                  <a:rPr lang="it-IT" sz="2800" dirty="0"/>
                  <a:t> = 1.4</a:t>
                </a:r>
              </a:p>
              <a:p>
                <a:pPr marL="914400" lvl="1" indent="-457200" algn="just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it-IT" sz="2800" dirty="0"/>
                  <a:t>Si ottiene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800" dirty="0"/>
                  <a:t> = 0.1333 </a:t>
                </a:r>
                <a14:m>
                  <m:oMath xmlns:m="http://schemas.openxmlformats.org/officeDocument/2006/math">
                    <m:r>
                      <a:rPr lang="it-IT" sz="280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it-IT" sz="2800" dirty="0"/>
                  <a:t> 0.14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77519B35-4563-80FB-0B61-1A3B42A90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3587392"/>
              </a:xfrm>
              <a:prstGeom prst="rect">
                <a:avLst/>
              </a:prstGeom>
              <a:blipFill>
                <a:blip r:embed="rId2"/>
                <a:stretch>
                  <a:fillRect l="-1919" t="-3056" r="-1371" b="-390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B93A321C-4C89-1EE5-C483-DCA41D2EA5E7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32047288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6480-952B-64F4-A6F1-2A3C6F4A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55701AC-B281-177B-E34B-2D05E1DFD5C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F5DA2ED-1184-EC35-4B8F-852A10EDD915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A346F00-067E-6B6F-D477-6B170BC95B03}"/>
              </a:ext>
            </a:extLst>
          </p:cNvPr>
          <p:cNvSpPr txBox="1"/>
          <p:nvPr/>
        </p:nvSpPr>
        <p:spPr>
          <a:xfrm>
            <a:off x="533399" y="728069"/>
            <a:ext cx="11116884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non pesato – Istruzioni che vale la pena commentare: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dirty="0"/>
              <a:t>H è il rapporto tra grado massimo e grado medio, ci si assicura che sia effettivamente nel range desiderato prima di restituire il grafo, altrimenti si ritenta.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82D39D7-BAD0-50EA-E118-D87D27BBF023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55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83BE23E-BF05-CA6D-375F-E427BDA761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356" b="5339"/>
          <a:stretch>
            <a:fillRect/>
          </a:stretch>
        </p:blipFill>
        <p:spPr>
          <a:xfrm>
            <a:off x="533399" y="2445773"/>
            <a:ext cx="8708924" cy="178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97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CFB16-CD44-8F68-68CD-C5E1B269C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0A8AE32-0780-7822-6118-D31FEAD5BB75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D9FC11-2826-F6C8-6EA5-657B39AF2FC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DB7FBF-CD28-FD5C-D5FA-07B80298E5EF}"/>
                  </a:ext>
                </a:extLst>
              </p:cNvPr>
              <p:cNvSpPr txBox="1"/>
              <p:nvPr/>
            </p:nvSpPr>
            <p:spPr>
              <a:xfrm>
                <a:off x="533399" y="728069"/>
                <a:ext cx="11116884" cy="51398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600"/>
                  </a:spcAft>
                </a:pPr>
                <a:r>
                  <a:rPr lang="it-IT" sz="4000" b="1" dirty="0">
                    <a:solidFill>
                      <a:srgbClr val="990000"/>
                    </a:solidFill>
                  </a:rPr>
                  <a:t>GENERAZIONE DELLE ISTANZE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it-IT" sz="3200" b="1" dirty="0"/>
                  <a:t>Vertex cover non pesato – Istruzioni che vale la pena commentare:</a:t>
                </a:r>
              </a:p>
              <a:p>
                <a:pPr algn="just">
                  <a:spcAft>
                    <a:spcPts val="600"/>
                  </a:spcAft>
                </a:pP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endParaRPr lang="it-IT" sz="3200" b="1" dirty="0"/>
              </a:p>
              <a:p>
                <a:pPr algn="just">
                  <a:spcAft>
                    <a:spcPts val="600"/>
                  </a:spcAft>
                </a:pPr>
                <a:r>
                  <a:rPr lang="it-IT" sz="2800" dirty="0"/>
                  <a:t>Si usa una </a:t>
                </a:r>
                <a:r>
                  <a:rPr lang="it-IT" sz="2800" dirty="0" err="1"/>
                  <a:t>lognormale</a:t>
                </a:r>
                <a:r>
                  <a:rPr lang="it-IT" sz="2800" dirty="0"/>
                  <a:t> perché ha una heavy </a:t>
                </a:r>
                <a:r>
                  <a:rPr lang="it-IT" sz="2800" dirty="0" err="1"/>
                  <a:t>tail</a:t>
                </a:r>
                <a:r>
                  <a:rPr lang="it-IT" sz="2800" dirty="0"/>
                  <a:t> e permette di «sbilanciare» il grafo (alternando vertici di grado molto alto a vertici di grado molto basso). </a:t>
                </a:r>
                <a14:m>
                  <m:oMath xmlns:m="http://schemas.openxmlformats.org/officeDocument/2006/math">
                    <m:r>
                      <a:rPr lang="it-IT" sz="28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800" dirty="0"/>
                  <a:t> = 1 è stato ritenuto un valore coerente per evitare la formazione di pochissimi nodi con altissimo grado ma senza generare valori troppo simili a quelli di una normale.</a:t>
                </a:r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83DB7FBF-CD28-FD5C-D5FA-07B80298E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728069"/>
                <a:ext cx="11116884" cy="5139869"/>
              </a:xfrm>
              <a:prstGeom prst="rect">
                <a:avLst/>
              </a:prstGeom>
              <a:blipFill>
                <a:blip r:embed="rId2"/>
                <a:stretch>
                  <a:fillRect l="-1919" t="-2133" r="-1371" b="-2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379393B7-D253-A9F9-8D4E-08595C2D48F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56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14A99AA-BDB9-0BEF-31E4-180CBE2590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609" b="21897"/>
          <a:stretch>
            <a:fillRect/>
          </a:stretch>
        </p:blipFill>
        <p:spPr>
          <a:xfrm>
            <a:off x="533399" y="2462740"/>
            <a:ext cx="10793496" cy="96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3501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DD297-4470-38E5-2AB5-46E50A8A5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BE7810D1-FD17-8745-1333-FB2E63E1402D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6B6016E-1A12-F162-DB81-0A7989F5AE5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D517088-8C50-9170-EE17-60CA7032B409}"/>
              </a:ext>
            </a:extLst>
          </p:cNvPr>
          <p:cNvSpPr txBox="1"/>
          <p:nvPr/>
        </p:nvSpPr>
        <p:spPr>
          <a:xfrm>
            <a:off x="533399" y="728069"/>
            <a:ext cx="1111688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pesato</a:t>
            </a:r>
            <a:r>
              <a:rPr lang="it-IT" sz="3200" b="1" dirty="0">
                <a:solidFill>
                  <a:srgbClr val="990000"/>
                </a:solidFill>
              </a:rPr>
              <a:t> </a:t>
            </a:r>
            <a:endParaRPr lang="it-IT" sz="3200" b="1" dirty="0"/>
          </a:p>
          <a:p>
            <a:pPr algn="just">
              <a:spcAft>
                <a:spcPts val="600"/>
              </a:spcAft>
            </a:pPr>
            <a:endParaRPr lang="it-IT" sz="4000" b="1" dirty="0">
              <a:solidFill>
                <a:srgbClr val="99000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38AC24C-30E3-D110-5D00-A726F93EFEE8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57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5ED1FB0-DF7D-A100-B675-CF9D15B1B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9" y="2089879"/>
            <a:ext cx="10065843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255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6B634-8209-CA46-78B9-2EF8E66CF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F3191355-EE95-7DC9-8606-E0398443B33F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E226EC6-94C2-2211-5A8F-0DC7EE7EC4F8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9A9EFCB-3909-4B0F-9FBA-62628197E7F7}"/>
              </a:ext>
            </a:extLst>
          </p:cNvPr>
          <p:cNvSpPr txBox="1"/>
          <p:nvPr/>
        </p:nvSpPr>
        <p:spPr>
          <a:xfrm>
            <a:off x="533399" y="728069"/>
            <a:ext cx="11116884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GENERAZIONE DELLE ISTANZE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Vertex cover pesato – Istruzioni che vale la pena commentare: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nx.erdos_renyi_graph</a:t>
            </a:r>
            <a:r>
              <a:rPr lang="it-IT" sz="2800" dirty="0">
                <a:latin typeface="Consolas" panose="020B0609020204030204" pitchFamily="49" charset="0"/>
              </a:rPr>
              <a:t>(n, p=</a:t>
            </a:r>
            <a:r>
              <a:rPr lang="it-IT" sz="2800" dirty="0" err="1">
                <a:latin typeface="Consolas" panose="020B0609020204030204" pitchFamily="49" charset="0"/>
              </a:rPr>
              <a:t>densita_target</a:t>
            </a:r>
            <a:r>
              <a:rPr lang="it-IT" sz="2800" dirty="0">
                <a:latin typeface="Consolas" panose="020B0609020204030204" pitchFamily="49" charset="0"/>
              </a:rPr>
              <a:t>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Genera un grafo dato il numero di nodi e la densità; usa la densità come probabilità per generare gli archi.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 err="1">
                <a:latin typeface="Consolas" panose="020B0609020204030204" pitchFamily="49" charset="0"/>
              </a:rPr>
              <a:t>np.random.randint</a:t>
            </a:r>
            <a:r>
              <a:rPr lang="it-IT" sz="2800" dirty="0">
                <a:latin typeface="Consolas" panose="020B0609020204030204" pitchFamily="49" charset="0"/>
              </a:rPr>
              <a:t>(1, </a:t>
            </a:r>
            <a:r>
              <a:rPr lang="it-IT" sz="2800" dirty="0" err="1">
                <a:latin typeface="Consolas" panose="020B0609020204030204" pitchFamily="49" charset="0"/>
              </a:rPr>
              <a:t>variabilita_peso</a:t>
            </a:r>
            <a:r>
              <a:rPr lang="it-IT" sz="2800" dirty="0">
                <a:latin typeface="Consolas" panose="020B0609020204030204" pitchFamily="49" charset="0"/>
              </a:rPr>
              <a:t> + 1, size=n)</a:t>
            </a:r>
          </a:p>
          <a:p>
            <a:pPr marL="914400" lvl="1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2800" dirty="0"/>
              <a:t>Estrae valori da una variabile aleatoria uniforme; è stato necessario aumentare di 1 il valore del secondo parametro perché la funzione genera nativamente valori nell’intervallo [</a:t>
            </a:r>
            <a:r>
              <a:rPr lang="it-IT" sz="2800" dirty="0" err="1"/>
              <a:t>primo_parametro</a:t>
            </a:r>
            <a:r>
              <a:rPr lang="it-IT" sz="2800" dirty="0"/>
              <a:t>, </a:t>
            </a:r>
            <a:r>
              <a:rPr lang="it-IT" sz="2800" dirty="0" err="1"/>
              <a:t>secondo_parametro</a:t>
            </a:r>
            <a:r>
              <a:rPr lang="it-IT" sz="2800" dirty="0"/>
              <a:t>).</a:t>
            </a:r>
            <a:r>
              <a:rPr lang="it-IT" sz="2800" b="1" dirty="0">
                <a:solidFill>
                  <a:srgbClr val="990000"/>
                </a:solidFill>
              </a:rPr>
              <a:t> 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5434FF3-51BA-3ED6-F46B-5DACAE28896C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2845642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AFE9A-BCC8-70C1-496F-54B85336A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820DDA9-78A9-0ABF-27D4-33F55C4EE0C0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ECC10BB-DD57-0ABC-E3E8-FF4533EBF85B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DA3B9C9-BFB8-5291-FB1C-266AC197D900}"/>
              </a:ext>
            </a:extLst>
          </p:cNvPr>
          <p:cNvSpPr txBox="1"/>
          <p:nvPr/>
        </p:nvSpPr>
        <p:spPr>
          <a:xfrm>
            <a:off x="533399" y="728069"/>
            <a:ext cx="11116884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ESECUZIONE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Classi di istanze da testare: </a:t>
            </a:r>
            <a:r>
              <a:rPr lang="it-IT" sz="3200" dirty="0"/>
              <a:t>incrociando i criteri di partizionamento precedentemente definiti (densità, eterogeneità del grado, ecc.), si ottengono per combinazione tutte le classi di test oggetto del progetto.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Numero di </a:t>
            </a:r>
            <a:r>
              <a:rPr lang="it-IT" sz="3200" b="1" dirty="0" err="1"/>
              <a:t>run</a:t>
            </a:r>
            <a:r>
              <a:rPr lang="it-IT" sz="3200" b="1" dirty="0"/>
              <a:t>: </a:t>
            </a:r>
            <a:r>
              <a:rPr lang="it-IT" sz="3200" dirty="0"/>
              <a:t>per ogni classe sono stati generate 15 istanze.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Solver scelto: </a:t>
            </a:r>
            <a:r>
              <a:rPr lang="it-IT" sz="3200" dirty="0" err="1"/>
              <a:t>Gurobi</a:t>
            </a:r>
            <a:r>
              <a:rPr lang="it-IT" sz="3200" dirty="0"/>
              <a:t> con licenza accademica (ritenuto il migliore per problemi relativi ai grafi).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Tempo di </a:t>
            </a:r>
            <a:r>
              <a:rPr lang="it-IT" sz="3200" b="1" dirty="0" err="1"/>
              <a:t>timeout</a:t>
            </a:r>
            <a:r>
              <a:rPr lang="it-IT" sz="3200" b="1" dirty="0"/>
              <a:t>: </a:t>
            </a:r>
            <a:r>
              <a:rPr lang="it-IT" sz="3200" dirty="0"/>
              <a:t>300 secondi.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2010BFE-F1F0-B80A-85F5-0DD977A3E3E2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10598407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3D5EB-EF7B-B42C-69A7-AED0A5595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E45B9468-C1AC-3F27-EB52-EB26565F6EFE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6DFD405-25E8-BFFF-24BB-DD64D4D83813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9C5482D-671B-017A-9987-1A9C9FF6E3DF}"/>
              </a:ext>
            </a:extLst>
          </p:cNvPr>
          <p:cNvSpPr txBox="1"/>
          <p:nvPr/>
        </p:nvSpPr>
        <p:spPr>
          <a:xfrm>
            <a:off x="533399" y="728069"/>
            <a:ext cx="11116884" cy="4385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ASSUNZIONI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Risultati effettivamente riportati: </a:t>
            </a:r>
            <a:r>
              <a:rPr lang="it-IT" sz="3200" dirty="0"/>
              <a:t>di seguito solo i risultati più interessanti osservati su 30 classi.</a:t>
            </a:r>
          </a:p>
          <a:p>
            <a:pPr algn="just">
              <a:spcAft>
                <a:spcPts val="600"/>
              </a:spcAft>
            </a:pPr>
            <a:endParaRPr lang="it-IT" sz="3200" b="1" dirty="0"/>
          </a:p>
          <a:p>
            <a:pPr algn="just">
              <a:spcAft>
                <a:spcPts val="600"/>
              </a:spcAft>
            </a:pPr>
            <a:r>
              <a:rPr lang="it-IT" sz="3200" b="1" dirty="0"/>
              <a:t>Risoluzione del </a:t>
            </a:r>
            <a:r>
              <a:rPr lang="it-IT" sz="3200" b="1" dirty="0" err="1"/>
              <a:t>timeout</a:t>
            </a:r>
            <a:r>
              <a:rPr lang="it-IT" sz="3200" b="1" dirty="0"/>
              <a:t>: </a:t>
            </a:r>
            <a:r>
              <a:rPr lang="it-IT" sz="3200" dirty="0"/>
              <a:t>se il solver va in </a:t>
            </a:r>
            <a:r>
              <a:rPr lang="it-IT" sz="3200" dirty="0" err="1"/>
              <a:t>timeout</a:t>
            </a:r>
            <a:r>
              <a:rPr lang="it-IT" sz="3200" dirty="0"/>
              <a:t> prima di trovare l’ottimo, si seleziona il miglior </a:t>
            </a:r>
            <a:r>
              <a:rPr lang="it-IT" sz="3200" dirty="0" err="1"/>
              <a:t>lower</a:t>
            </a:r>
            <a:r>
              <a:rPr lang="it-IT" sz="3200" dirty="0"/>
              <a:t> </a:t>
            </a:r>
            <a:r>
              <a:rPr lang="it-IT" sz="3200" dirty="0" err="1"/>
              <a:t>bound</a:t>
            </a:r>
            <a:r>
              <a:rPr lang="it-IT" sz="3200" dirty="0"/>
              <a:t> trovato fino a quel momento e si usa per calcolare il rapporto di approssimazione.</a:t>
            </a:r>
            <a:endParaRPr lang="it-IT" sz="32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5E4C33C-FB28-CF64-1D70-D12796DBEE6E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2591765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C47B-CCFF-01DA-5C5A-E248B1AB4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1E7219C2-AA34-CE2E-7A4A-463F259EEEE6}"/>
              </a:ext>
            </a:extLst>
          </p:cNvPr>
          <p:cNvSpPr/>
          <p:nvPr/>
        </p:nvSpPr>
        <p:spPr>
          <a:xfrm rot="16200000">
            <a:off x="5612871" y="326546"/>
            <a:ext cx="966258" cy="12192000"/>
          </a:xfrm>
          <a:prstGeom prst="rect">
            <a:avLst/>
          </a:prstGeom>
          <a:solidFill>
            <a:srgbClr val="990000"/>
          </a:solidFill>
          <a:ln>
            <a:solidFill>
              <a:srgbClr val="99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022BB71-A4BC-3330-247F-08F0656A9CFA}"/>
              </a:ext>
            </a:extLst>
          </p:cNvPr>
          <p:cNvSpPr txBox="1"/>
          <p:nvPr/>
        </p:nvSpPr>
        <p:spPr>
          <a:xfrm>
            <a:off x="5086139" y="6222490"/>
            <a:ext cx="20197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Gianpaolo Pestilli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671853E-6C02-060C-F120-65BB96E60B4C}"/>
              </a:ext>
            </a:extLst>
          </p:cNvPr>
          <p:cNvSpPr txBox="1"/>
          <p:nvPr/>
        </p:nvSpPr>
        <p:spPr>
          <a:xfrm>
            <a:off x="533399" y="728069"/>
            <a:ext cx="11116884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it-IT" sz="4000" b="1" dirty="0">
                <a:solidFill>
                  <a:srgbClr val="990000"/>
                </a:solidFill>
              </a:rPr>
              <a:t>PERFORMANCE</a:t>
            </a:r>
          </a:p>
          <a:p>
            <a:pPr algn="just">
              <a:spcAft>
                <a:spcPts val="600"/>
              </a:spcAft>
            </a:pPr>
            <a:r>
              <a:rPr lang="it-IT" sz="3200" b="1" dirty="0"/>
              <a:t>Algoritmi valutati in base a: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Rapporto di approssimazione medio</a:t>
            </a:r>
          </a:p>
          <a:p>
            <a:pPr marL="457200" indent="-45720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it-IT" sz="3200" dirty="0"/>
              <a:t>Tempo di esecuzione medio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3B6912E-24BE-0E8F-AB0E-6B086C8666FF}"/>
              </a:ext>
            </a:extLst>
          </p:cNvPr>
          <p:cNvSpPr txBox="1"/>
          <p:nvPr/>
        </p:nvSpPr>
        <p:spPr>
          <a:xfrm>
            <a:off x="11434917" y="6222490"/>
            <a:ext cx="491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000" b="1" dirty="0">
                <a:solidFill>
                  <a:schemeClr val="bg1"/>
                </a:solidFill>
              </a:rPr>
              <a:t>61</a:t>
            </a:r>
          </a:p>
        </p:txBody>
      </p:sp>
    </p:spTree>
    <p:extLst>
      <p:ext uri="{BB962C8B-B14F-4D97-AF65-F5344CB8AC3E}">
        <p14:creationId xmlns:p14="http://schemas.microsoft.com/office/powerpoint/2010/main" val="33515156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1177</TotalTime>
  <Words>2221</Words>
  <Application>Microsoft Office PowerPoint</Application>
  <PresentationFormat>Widescreen</PresentationFormat>
  <Paragraphs>400</Paragraphs>
  <Slides>63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63</vt:i4>
      </vt:variant>
    </vt:vector>
  </HeadingPairs>
  <TitlesOfParts>
    <vt:vector size="68" baseType="lpstr">
      <vt:lpstr>Arial</vt:lpstr>
      <vt:lpstr>Calibri</vt:lpstr>
      <vt:lpstr>Cambria Math</vt:lpstr>
      <vt:lpstr>Consolas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Gianpaolo Pestilli</dc:creator>
  <cp:lastModifiedBy>Gianpaolo Pestilli</cp:lastModifiedBy>
  <cp:revision>30</cp:revision>
  <dcterms:created xsi:type="dcterms:W3CDTF">2026-06-12T20:11:00Z</dcterms:created>
  <dcterms:modified xsi:type="dcterms:W3CDTF">2026-06-25T20:08:25Z</dcterms:modified>
</cp:coreProperties>
</file>