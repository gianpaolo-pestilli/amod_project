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C88626-8297-4000-AA78-E4F17AAF9259}" type="datetimeFigureOut">
              <a:rPr lang="it-IT" smtClean="0"/>
              <a:t>24/06/2026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D32BE9-5CDD-4B08-B335-3127A5390EC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20518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BD9585E-86E7-C51C-DBC6-323DFE3296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D4A09B2E-DACF-F53A-9ED4-EA6214CCD8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ED0594E-272B-258A-6E66-903CB7D18B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3E97-3DDD-4186-A208-B850F35723DB}" type="datetime1">
              <a:rPr lang="it-IT" smtClean="0"/>
              <a:t>24/06/2026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C970AA6-09FF-A32D-53E0-255613B8A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1D7CDC2-436A-F090-2527-3DCF10D70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8320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34B7833-C7FE-C1EB-F5A4-733381895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F561FFD-4945-CB7B-175E-E22C106C06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D72E431-7732-BDDA-EF08-259BEB8F2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9C9B6-BFF0-438D-B09E-8432B8734EE5}" type="datetime1">
              <a:rPr lang="it-IT" smtClean="0"/>
              <a:t>24/06/2026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8886248-1C0E-CD31-A043-C9AF6ABD6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FE2C7A0-7804-1D82-F1D8-8704D7FE0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644384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D275AD8-13A0-7BCA-0BFC-44889835A7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42F52C2-7F0B-951A-BE57-866D655A11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3B3025A-BED1-B69C-F8C5-F7C26DA61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C7979-BD5D-4D0F-9310-241562FF9E94}" type="datetime1">
              <a:rPr lang="it-IT" smtClean="0"/>
              <a:t>24/06/2026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BCF15A6-7D3A-1EE3-8C93-BEDB5827D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983C0F8-2110-103E-F53F-5B5B27761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85120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BC04EA3-E933-FD6C-2636-76CB3C5CA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141C80B-567D-F5B4-012F-6DF76DD234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2A6BC71-5BE3-8ED9-A3D0-67030591FC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2C47705-E9F5-242F-89A9-35EFA764E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C8F376-66C7-47F4-9CDC-69997AFD8804}" type="datetime1">
              <a:rPr lang="it-IT" smtClean="0"/>
              <a:t>24/06/2026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39E27AFF-3855-4D84-3EBB-1B4534BE8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5046636D-508A-F918-428F-2D2E85B7D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65501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F9870B8-8B4A-0B2E-BC66-16813AC78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D21403D-1617-68BE-3DA1-FC420E8E0C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D7D558C-4F53-B3CA-FDD9-51E7901BCA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F2248B6A-9F26-ED59-9793-58B21F426E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D1100B6A-8982-DD20-607C-FB8F28DD73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D05599F6-63D7-507E-CB4F-A90619A7EE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3CE95E-26FA-4B50-AEEC-A0C3476A6D97}" type="datetime1">
              <a:rPr lang="it-IT" smtClean="0"/>
              <a:t>24/06/2026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5AB9D1C-0DB6-A962-CC59-66E65F9EC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18E73910-2453-BDEA-5CB4-A90CC2FB3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812124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9BD6F99-B675-6972-968E-88A0DB583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1DBEBE7B-CD5E-4D0B-4254-ABA5BB55B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6C9EBA-B4EE-4B7C-8D99-E4EE9B4515D3}" type="datetime1">
              <a:rPr lang="it-IT" smtClean="0"/>
              <a:t>24/06/2026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AC1E58DF-617B-75B4-0DC9-38AD3244D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343AAAE4-B107-6694-572A-8F977E707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72321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33A98471-C700-ED9F-AA69-BEB7F01F0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4029C-F4FA-44C2-8417-402E4F9F070D}" type="datetime1">
              <a:rPr lang="it-IT" smtClean="0"/>
              <a:t>24/06/2026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1E4ACC49-989F-AD6A-8E71-09FA00494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1616A85-9891-F44A-82CC-28490001D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33928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8AD5BC-4845-5B99-FA83-1928E2DDE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44AA091-9D2B-EF94-6123-1FD3BF53A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457014E7-2FAB-AFCB-393B-1FB3906F4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4AC79B6-B2C6-4876-11E0-E581067BC9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525BE-1E49-4B4B-B3DA-784C3A60B941}" type="datetime1">
              <a:rPr lang="it-IT" smtClean="0"/>
              <a:t>24/06/2026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71D644F9-20F8-3257-C31A-E0FBC1764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3F4CD04-B1A7-782E-9EF1-2CF93DDFD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06856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F280370-37DC-6CC1-70FE-AE4B2E5B8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F8A652FF-2568-DF84-D98D-DA30D75FBA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B827820-ABE3-837C-A38A-E63C64150D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26271C9-0E2F-A958-FB55-7A515C1E0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C9992-29B7-4892-A984-BAD5A3D1DFD6}" type="datetime1">
              <a:rPr lang="it-IT" smtClean="0"/>
              <a:t>24/06/2026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2F22AA1-30BA-F52C-8758-B41AED602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682121F-4297-F62C-83E9-BC5015BF0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520728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A80029D-8D34-C2E8-7338-0E7A340DA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898D646-4D39-8D8A-AD0D-F714C726B9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358925E-1BE4-BEF5-E531-9E0B6C04E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2FBA6-F7A9-4C74-B465-9FF20E4A7E98}" type="datetime1">
              <a:rPr lang="it-IT" smtClean="0"/>
              <a:t>24/06/2026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FBFC074-4E2F-A17E-B86B-4EE665854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12D9A63-F119-1320-0B6A-3829333E4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155482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99F29494-2A49-8AA3-8BD4-C2E0D6B444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E8BD18CE-90CF-79B8-A3DD-6BF72BEA31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561BBFC-D7C8-B3DA-E98B-6E83E3C96C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289735-B0FA-42EC-B352-C4875869C0BC}" type="datetime1">
              <a:rPr lang="it-IT" smtClean="0"/>
              <a:t>24/06/2026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E7FBF0-2723-C95F-13E7-BCFC961D7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6F7AC2A-F052-E1B7-153F-92794CD9B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32423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F81474D5-93F1-C6BF-4FC2-01FD92F262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73D5310-8276-3FF7-784A-BE9885103E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60FB978-1F5C-98BC-6FCB-E9F695F3C2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5A07EC-953A-454F-8426-34AAF06A63B6}" type="datetime1">
              <a:rPr lang="it-IT" smtClean="0"/>
              <a:t>24/06/2026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76155F4-765E-8C1B-2783-3716C2DD20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D5E4149-5748-8CE2-5B3A-FC8A3B273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20711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 descr="grafos">
            <a:extLst>
              <a:ext uri="{FF2B5EF4-FFF2-40B4-BE49-F238E27FC236}">
                <a16:creationId xmlns:a16="http://schemas.microsoft.com/office/drawing/2014/main" id="{7F45E4BA-9922-4894-47D3-0308BEEE42B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12192001" cy="4762919"/>
          </a:xfrm>
          <a:prstGeom prst="rect">
            <a:avLst/>
          </a:prstGeom>
        </p:spPr>
      </p:pic>
      <p:sp>
        <p:nvSpPr>
          <p:cNvPr id="5" name="Rettangolo 4">
            <a:extLst>
              <a:ext uri="{FF2B5EF4-FFF2-40B4-BE49-F238E27FC236}">
                <a16:creationId xmlns:a16="http://schemas.microsoft.com/office/drawing/2014/main" id="{83A6944F-C6A5-D8BA-82B2-D03F96F1C80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F923F726-1D35-BA39-C8D2-F4EF10F57513}"/>
              </a:ext>
            </a:extLst>
          </p:cNvPr>
          <p:cNvSpPr txBox="1"/>
          <p:nvPr/>
        </p:nvSpPr>
        <p:spPr>
          <a:xfrm>
            <a:off x="1396179" y="3654923"/>
            <a:ext cx="939964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6600" b="1" dirty="0">
                <a:solidFill>
                  <a:srgbClr val="990000"/>
                </a:solidFill>
              </a:rPr>
              <a:t>MINIMUM VERTEX COVER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CBEEED13-D24E-CECE-E6F5-2C5FAD148501}"/>
              </a:ext>
            </a:extLst>
          </p:cNvPr>
          <p:cNvSpPr txBox="1"/>
          <p:nvPr/>
        </p:nvSpPr>
        <p:spPr>
          <a:xfrm>
            <a:off x="8802356" y="6222490"/>
            <a:ext cx="3285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 (0386492) 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74679B7-D32B-7777-B8F0-7F40911C8AE9}"/>
              </a:ext>
            </a:extLst>
          </p:cNvPr>
          <p:cNvSpPr txBox="1"/>
          <p:nvPr/>
        </p:nvSpPr>
        <p:spPr>
          <a:xfrm>
            <a:off x="103832" y="6222490"/>
            <a:ext cx="21269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AMOD 2025-2026</a:t>
            </a:r>
          </a:p>
        </p:txBody>
      </p:sp>
    </p:spTree>
    <p:extLst>
      <p:ext uri="{BB962C8B-B14F-4D97-AF65-F5344CB8AC3E}">
        <p14:creationId xmlns:p14="http://schemas.microsoft.com/office/powerpoint/2010/main" val="31397501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76725-92B5-3B1E-6F34-784FA2A2F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23A58A5-7B62-B7C8-AB5A-3384C06A23B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46BBC47-0C05-6043-053E-9C532B262023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08438DD-8FFC-A83F-4FDC-F7E451F078FA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4862638-C662-D171-BA24-7BE83738BF0F}"/>
              </a:ext>
            </a:extLst>
          </p:cNvPr>
          <p:cNvSpPr txBox="1"/>
          <p:nvPr/>
        </p:nvSpPr>
        <p:spPr>
          <a:xfrm>
            <a:off x="533399" y="728069"/>
            <a:ext cx="6304281" cy="4324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000" b="1" dirty="0">
                <a:solidFill>
                  <a:srgbClr val="990000"/>
                </a:solidFill>
              </a:rPr>
              <a:t>ROADMAP: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/>
              <a:t>IDEA DEL PROGETTO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/>
              <a:t>ALGORITMI CONFRONTATI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/>
              <a:t>METODOLOGIA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/>
              <a:t>RISULTATI PIÙ SIGNIFICATIVI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/>
              <a:t>CONCLUSIONI</a:t>
            </a:r>
          </a:p>
        </p:txBody>
      </p:sp>
    </p:spTree>
    <p:extLst>
      <p:ext uri="{BB962C8B-B14F-4D97-AF65-F5344CB8AC3E}">
        <p14:creationId xmlns:p14="http://schemas.microsoft.com/office/powerpoint/2010/main" val="23312608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41291-74B8-7E05-0F50-FFEEA4622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09CEE577-B151-FB0C-F1B2-4E68BBD26850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A90F200-4F12-E9F5-F6CC-9F77401E41E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8E97F6DF-BC58-7414-0FC5-90B555528674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7192AA6-47F9-1040-6EF7-F1EE767A7D5B}"/>
              </a:ext>
            </a:extLst>
          </p:cNvPr>
          <p:cNvSpPr txBox="1"/>
          <p:nvPr/>
        </p:nvSpPr>
        <p:spPr>
          <a:xfrm>
            <a:off x="533399" y="728069"/>
            <a:ext cx="6304281" cy="4324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000" b="1" dirty="0">
                <a:solidFill>
                  <a:srgbClr val="990000"/>
                </a:solidFill>
              </a:rPr>
              <a:t>ROADMAP: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b="1" dirty="0"/>
              <a:t>IDEA DEL PROGETTO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ALGORITMI CONFRONTATI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METODOLOGIA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RISULTATI PIÙ SIGNIFICATIVI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CONCLUSIONI</a:t>
            </a:r>
          </a:p>
        </p:txBody>
      </p:sp>
    </p:spTree>
    <p:extLst>
      <p:ext uri="{BB962C8B-B14F-4D97-AF65-F5344CB8AC3E}">
        <p14:creationId xmlns:p14="http://schemas.microsoft.com/office/powerpoint/2010/main" val="3015291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FF0FC-BD09-BF0F-AD7B-5F31CE0AC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3CB05E6-11E7-2515-0DB5-AEB005B33A52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9A7C265-2507-930E-62A1-73A525945943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98081FC8-AEE9-F1BB-2240-0076E5727DCD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8B15BBA-CB7D-CFC3-8A68-1B568777BC59}"/>
              </a:ext>
            </a:extLst>
          </p:cNvPr>
          <p:cNvSpPr txBox="1"/>
          <p:nvPr/>
        </p:nvSpPr>
        <p:spPr>
          <a:xfrm>
            <a:off x="533399" y="728069"/>
            <a:ext cx="11116884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4000" b="1" dirty="0">
                <a:solidFill>
                  <a:srgbClr val="990000"/>
                </a:solidFill>
              </a:rPr>
              <a:t>IDEA</a:t>
            </a:r>
            <a:endParaRPr lang="it-IT" sz="3200" dirty="0"/>
          </a:p>
          <a:p>
            <a:pPr algn="just"/>
            <a:endParaRPr lang="it-IT" sz="3200" dirty="0"/>
          </a:p>
          <a:p>
            <a:pPr algn="just"/>
            <a:r>
              <a:rPr lang="it-IT" sz="3200" dirty="0"/>
              <a:t>Il progetto si pone l’obiettivo di analizzare e confrontare le performance di vari algoritmi per il problema del </a:t>
            </a:r>
            <a:r>
              <a:rPr lang="it-IT" sz="3200" b="1" dirty="0"/>
              <a:t>minimum vertex cover </a:t>
            </a:r>
            <a:r>
              <a:rPr lang="it-IT" sz="3200" dirty="0"/>
              <a:t>su grafo non orientato.</a:t>
            </a:r>
          </a:p>
          <a:p>
            <a:pPr algn="just"/>
            <a:endParaRPr lang="it-IT" sz="3200" dirty="0"/>
          </a:p>
          <a:p>
            <a:pPr algn="just"/>
            <a:r>
              <a:rPr lang="it-IT" sz="3200" dirty="0"/>
              <a:t>Vengono presi in esame sia la variante originale del problema che il </a:t>
            </a:r>
            <a:r>
              <a:rPr lang="it-IT" sz="3200" b="1" dirty="0"/>
              <a:t>minimum </a:t>
            </a:r>
            <a:r>
              <a:rPr lang="it-IT" sz="3200" b="1" dirty="0" err="1"/>
              <a:t>weighted</a:t>
            </a:r>
            <a:r>
              <a:rPr lang="it-IT" sz="3200" b="1" dirty="0"/>
              <a:t> vertex cover</a:t>
            </a:r>
            <a:r>
              <a:rPr lang="it-IT" sz="3200" dirty="0"/>
              <a:t>.</a:t>
            </a:r>
          </a:p>
          <a:p>
            <a:endParaRPr lang="it-IT" sz="4000" b="1" dirty="0">
              <a:solidFill>
                <a:srgbClr val="99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03211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9C0AC-FA4D-E6C8-1228-983A03BAB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6EB3C69-F5B7-DDCC-E656-FA278C44211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BBD3796-118F-480D-76CF-4CFD0DFA1D9A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791901B9-69F8-627F-4415-BF73A605FE9C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95C98985-4886-6DA9-9D3E-AC25AAE49838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46474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it-IT" sz="4000" b="1" dirty="0">
                    <a:solidFill>
                      <a:srgbClr val="990000"/>
                    </a:solidFill>
                  </a:rPr>
                  <a:t>CONCETTO DI COVER</a:t>
                </a:r>
                <a:endParaRPr lang="it-IT" sz="3200" dirty="0"/>
              </a:p>
              <a:p>
                <a:pPr algn="just"/>
                <a:endParaRPr lang="it-IT" sz="3200" dirty="0"/>
              </a:p>
              <a:p>
                <a:pPr algn="just"/>
                <a:r>
                  <a:rPr lang="it-IT" sz="3200" dirty="0"/>
                  <a:t>Dato un grafo, una </a:t>
                </a:r>
                <a:r>
                  <a:rPr lang="it-IT" sz="3200" b="1" dirty="0"/>
                  <a:t>cover</a:t>
                </a:r>
                <a:r>
                  <a:rPr lang="it-IT" sz="3200" dirty="0"/>
                  <a:t> è un </a:t>
                </a:r>
                <a:r>
                  <a:rPr lang="it-IT" sz="3200" b="1" dirty="0"/>
                  <a:t>sottoinsieme S dei vertici </a:t>
                </a:r>
                <a:r>
                  <a:rPr lang="it-IT" sz="3200" dirty="0"/>
                  <a:t>tale che, per ogni arco del grafo, </a:t>
                </a:r>
                <a:r>
                  <a:rPr lang="it-IT" sz="3200" b="1" dirty="0"/>
                  <a:t>almeno uno dei suoi vertici </a:t>
                </a:r>
                <a:r>
                  <a:rPr lang="it-IT" sz="3200" dirty="0"/>
                  <a:t>appartiene ad S.</a:t>
                </a:r>
              </a:p>
              <a:p>
                <a:pPr algn="just"/>
                <a:endParaRPr lang="it-IT" sz="3200" dirty="0"/>
              </a:p>
              <a:p>
                <a:pPr algn="just"/>
                <a:r>
                  <a:rPr lang="it-IT" sz="3200" dirty="0"/>
                  <a:t>G = (V,E)</a:t>
                </a:r>
              </a:p>
              <a:p>
                <a:pPr algn="just"/>
                <a:r>
                  <a:rPr lang="it-IT" sz="3200" b="1" dirty="0"/>
                  <a:t>S </a:t>
                </a:r>
                <a14:m>
                  <m:oMath xmlns:m="http://schemas.openxmlformats.org/officeDocument/2006/math">
                    <m:r>
                      <a:rPr lang="it-IT" sz="3200" b="1" i="0"/>
                      <m:t>⊆</m:t>
                    </m:r>
                  </m:oMath>
                </a14:m>
                <a:r>
                  <a:rPr lang="it-IT" sz="3200" b="1" dirty="0"/>
                  <a:t> V : </a:t>
                </a:r>
                <a14:m>
                  <m:oMath xmlns:m="http://schemas.openxmlformats.org/officeDocument/2006/math">
                    <m:r>
                      <a:rPr lang="it-IT" sz="3200" b="1" i="1">
                        <a:latin typeface="Cambria Math" panose="02040503050406030204" pitchFamily="18" charset="0"/>
                      </a:rPr>
                      <m:t>∀</m:t>
                    </m:r>
                  </m:oMath>
                </a14:m>
                <a:r>
                  <a:rPr lang="it-IT" sz="3200" b="1" dirty="0"/>
                  <a:t> e = {</a:t>
                </a:r>
                <a:r>
                  <a:rPr lang="it-IT" sz="3200" b="1" dirty="0" err="1"/>
                  <a:t>u,v</a:t>
                </a:r>
                <a:r>
                  <a:rPr lang="it-IT" sz="3200" b="1" dirty="0"/>
                  <a:t>} </a:t>
                </a:r>
                <a14:m>
                  <m:oMath xmlns:m="http://schemas.openxmlformats.org/officeDocument/2006/math">
                    <m:r>
                      <a:rPr lang="it-IT" sz="3200" b="1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it-IT" sz="3200" b="1" dirty="0"/>
                  <a:t> E </a:t>
                </a:r>
                <a14:m>
                  <m:oMath xmlns:m="http://schemas.openxmlformats.org/officeDocument/2006/math">
                    <m:r>
                      <a:rPr lang="it-IT" sz="3200" b="1" dirty="0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it-IT" sz="3200" b="1" dirty="0"/>
                  <a:t> (u </a:t>
                </a:r>
                <a14:m>
                  <m:oMath xmlns:m="http://schemas.openxmlformats.org/officeDocument/2006/math">
                    <m:r>
                      <a:rPr lang="it-IT" sz="3200" b="1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it-IT" sz="3200" b="1" dirty="0"/>
                  <a:t> S) v (v </a:t>
                </a:r>
                <a14:m>
                  <m:oMath xmlns:m="http://schemas.openxmlformats.org/officeDocument/2006/math">
                    <m:r>
                      <a:rPr lang="it-IT" sz="3200" b="1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it-IT" sz="3200" b="1" dirty="0"/>
                  <a:t> S)</a:t>
                </a:r>
              </a:p>
              <a:p>
                <a:pPr algn="just"/>
                <a:endParaRPr lang="it-IT" sz="3200" dirty="0"/>
              </a:p>
            </p:txBody>
          </p:sp>
        </mc:Choice>
        <mc:Fallback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95C98985-4886-6DA9-9D3E-AC25AAE49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4647426"/>
              </a:xfrm>
              <a:prstGeom prst="rect">
                <a:avLst/>
              </a:prstGeom>
              <a:blipFill>
                <a:blip r:embed="rId2"/>
                <a:stretch>
                  <a:fillRect l="-1919" t="-2359" r="-13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94816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3839F-864E-14C9-4A97-722F96667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A7A7000-CE1C-3198-9679-EB84A67CB0ED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6518A9F-9EE6-4DA3-6D70-A197ACBCFC27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A4E29D4F-5562-539C-9B36-7515B0F5EE6A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F03DD3B-EFDA-D9F9-B8C9-CC3ECD8F3E01}"/>
              </a:ext>
            </a:extLst>
          </p:cNvPr>
          <p:cNvSpPr txBox="1"/>
          <p:nvPr/>
        </p:nvSpPr>
        <p:spPr>
          <a:xfrm>
            <a:off x="533399" y="728069"/>
            <a:ext cx="11116884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4000" b="1" dirty="0">
                <a:solidFill>
                  <a:srgbClr val="990000"/>
                </a:solidFill>
              </a:rPr>
              <a:t>COVER MINIMA</a:t>
            </a:r>
          </a:p>
          <a:p>
            <a:pPr algn="just"/>
            <a:endParaRPr lang="it-IT" sz="4000" b="1" dirty="0">
              <a:solidFill>
                <a:srgbClr val="990000"/>
              </a:solidFill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3200" b="1" dirty="0"/>
              <a:t>Sottoinsieme S di cardinalità minima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3200" b="1" dirty="0"/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3200" b="1" dirty="0"/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3200" b="1" dirty="0"/>
              <a:t>Sottoinsieme S di peso totale minore</a:t>
            </a:r>
          </a:p>
          <a:p>
            <a:pPr marL="914400" lvl="1" indent="-457200" algn="just">
              <a:buFont typeface="Arial" panose="020B0604020202020204" pitchFamily="34" charset="0"/>
              <a:buChar char="•"/>
            </a:pPr>
            <a:r>
              <a:rPr lang="it-IT" sz="3200" dirty="0"/>
              <a:t>Peso totale = somma dei pesi di tutti i vertici presenti nella cover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3200" dirty="0"/>
          </a:p>
          <a:p>
            <a:pPr algn="just"/>
            <a:endParaRPr lang="it-IT" sz="3200" b="1" dirty="0"/>
          </a:p>
          <a:p>
            <a:pPr algn="just"/>
            <a:endParaRPr lang="it-IT" sz="3200" dirty="0"/>
          </a:p>
        </p:txBody>
      </p:sp>
    </p:spTree>
    <p:extLst>
      <p:ext uri="{BB962C8B-B14F-4D97-AF65-F5344CB8AC3E}">
        <p14:creationId xmlns:p14="http://schemas.microsoft.com/office/powerpoint/2010/main" val="15526961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3D11F-D29B-4911-9725-49539C093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FD7E69A-FBCD-B7E2-31CA-4366C7E18B38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13F7D9B-8386-6CDA-EF67-A39F516B5056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161EC2B6-336C-1F38-2575-BDD5C5488E8C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A8F6C2F-DF59-78F3-10AF-6F012DBF3E48}"/>
              </a:ext>
            </a:extLst>
          </p:cNvPr>
          <p:cNvSpPr txBox="1"/>
          <p:nvPr/>
        </p:nvSpPr>
        <p:spPr>
          <a:xfrm>
            <a:off x="533399" y="728069"/>
            <a:ext cx="6304281" cy="4324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000" b="1" dirty="0">
                <a:solidFill>
                  <a:srgbClr val="990000"/>
                </a:solidFill>
              </a:rPr>
              <a:t>ROADMAP: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IDEA DEL PROGETTO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b="1" dirty="0"/>
              <a:t>ALGORITMI CONFRONTATI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METODOLOGIA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RISULTATI PIÙ SIGNIFICATIVI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CONCLUSIONI</a:t>
            </a:r>
          </a:p>
        </p:txBody>
      </p:sp>
    </p:spTree>
    <p:extLst>
      <p:ext uri="{BB962C8B-B14F-4D97-AF65-F5344CB8AC3E}">
        <p14:creationId xmlns:p14="http://schemas.microsoft.com/office/powerpoint/2010/main" val="12440290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7C550-5246-62F8-642A-7062A379B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2AC18B2-2919-5EE3-CEC1-A1233CE1FD6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5247A63D-EB98-4FCC-C824-9F5D2D67C62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0A12123A-9F44-697E-1F75-975F82D7BAA6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C2E51A3-9F65-61AF-3FC4-BDFA9CD623F2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1 (si parte da un vertice qualsiasi)</a:t>
            </a:r>
            <a:endParaRPr lang="it-IT" sz="3200" dirty="0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355780FD-742B-FB21-690A-18D37ECBB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118466"/>
            <a:ext cx="4086373" cy="3707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06807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1F40-733A-62AF-6B74-81746B8D4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EBCF60E4-17F4-1A54-8512-7511AF8F6B4F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1145040-E22A-C851-EE32-409E28464A5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85185F7-104C-35DD-ED4D-0D9B0AA5017E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A72BB08-D902-CAAF-19F1-8448A26EE065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2 (si ordinano i vertici per grado decrescente)</a:t>
            </a:r>
            <a:endParaRPr lang="it-IT" sz="320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A50EEEDA-C7CD-E7E5-F6D6-70B4BF2B4B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288416"/>
            <a:ext cx="8560586" cy="1815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2523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18003-55A9-082D-CD9A-AFFBCF162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B538783-DE3A-3257-3ABD-C216CEA1422F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BAEE5A3-78E6-3070-DBD3-ACD39023064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E931D45D-1B95-84D2-0CF2-69AFBFE43ED1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81F8678-4068-1A9F-94C2-9FFE09D94A98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3 (basato sul matching massimale)</a:t>
            </a:r>
            <a:endParaRPr lang="it-IT" sz="3200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AC71F03F-0223-D9DE-6028-1D25CF1E13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6493"/>
          <a:stretch>
            <a:fillRect/>
          </a:stretch>
        </p:blipFill>
        <p:spPr>
          <a:xfrm>
            <a:off x="533399" y="2314007"/>
            <a:ext cx="4274575" cy="3316744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CC9B6F7E-3AD4-3CEE-DCD9-10BE279F49E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1380"/>
          <a:stretch>
            <a:fillRect/>
          </a:stretch>
        </p:blipFill>
        <p:spPr>
          <a:xfrm>
            <a:off x="6091841" y="2314007"/>
            <a:ext cx="4138438" cy="1952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9411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A2EAD-DFAF-31AF-5EAF-56B269B9C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A0219B91-BA4B-B5DD-25A5-C91EB616EE19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2C8A72E-054B-6A8F-E2BF-03F3E0A11CD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FAFC70D3-AB8C-0F39-FE80-2CE0E9280E96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CC36DE6-25D1-7331-99BC-060F84C277DF}"/>
              </a:ext>
            </a:extLst>
          </p:cNvPr>
          <p:cNvSpPr txBox="1"/>
          <p:nvPr/>
        </p:nvSpPr>
        <p:spPr>
          <a:xfrm>
            <a:off x="533399" y="728069"/>
            <a:ext cx="1111688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dirty="0" err="1"/>
              <a:t>Doubling</a:t>
            </a:r>
            <a:r>
              <a:rPr lang="it-IT" sz="3200" dirty="0"/>
              <a:t> and </a:t>
            </a:r>
            <a:r>
              <a:rPr lang="it-IT" sz="3200" dirty="0" err="1"/>
              <a:t>rounding</a:t>
            </a:r>
            <a:r>
              <a:rPr lang="it-IT" sz="3200" dirty="0"/>
              <a:t> down effettuato dopo aver risolto: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Rilassamento lineare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Rilassamento lineare con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odd</a:t>
            </a: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cycle</a:t>
            </a: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inequalities</a:t>
            </a: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7372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4F1F9-8FEB-6A8F-10A8-10D1C1276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75C3883C-7764-0835-5410-F87964F83C2F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EEB942E-014D-1165-FD44-C9DBF2386F8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18252BC9-85D1-8131-8374-946EC819469B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831D7CC-6BA4-CDEF-10CE-9FDE3E5258BE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A980851D-AA83-0B2B-1DE7-25AA154B8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276782"/>
            <a:ext cx="3546988" cy="1726514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430162F0-99C4-B5E3-E14A-F143DFA70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9534" y="2276782"/>
            <a:ext cx="5479505" cy="3391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38069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F22A7-A0C2-A43F-E9CA-238C15F88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6CA91E07-E52E-D621-867A-E481958FC752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2C09B9C-8FA5-2E5F-2A04-C8D571A34BA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ED67676B-1BED-4C49-33C4-CF6AFF211F4C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380F41E-C28D-0125-496B-C5A8D378BD79}"/>
              </a:ext>
            </a:extLst>
          </p:cNvPr>
          <p:cNvSpPr txBox="1"/>
          <p:nvPr/>
        </p:nvSpPr>
        <p:spPr>
          <a:xfrm>
            <a:off x="533399" y="728069"/>
            <a:ext cx="1111688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dirty="0" err="1"/>
              <a:t>Doubling</a:t>
            </a:r>
            <a:r>
              <a:rPr lang="it-IT" sz="3200" dirty="0"/>
              <a:t> and </a:t>
            </a:r>
            <a:r>
              <a:rPr lang="it-IT" sz="3200" dirty="0" err="1"/>
              <a:t>rounding</a:t>
            </a:r>
            <a:r>
              <a:rPr lang="it-IT" sz="3200" dirty="0"/>
              <a:t> down effettuato dopo aver risolto: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Rilassamento lineare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Rilassamento lineare con </a:t>
            </a:r>
            <a:r>
              <a:rPr lang="it-IT" sz="3200" b="1" dirty="0" err="1"/>
              <a:t>odd</a:t>
            </a:r>
            <a:r>
              <a:rPr lang="it-IT" sz="3200" b="1" dirty="0"/>
              <a:t> </a:t>
            </a:r>
            <a:r>
              <a:rPr lang="it-IT" sz="3200" b="1" dirty="0" err="1"/>
              <a:t>cycle</a:t>
            </a:r>
            <a:r>
              <a:rPr lang="it-IT" sz="3200" b="1" dirty="0"/>
              <a:t> </a:t>
            </a:r>
            <a:r>
              <a:rPr lang="it-IT" sz="3200" b="1" dirty="0" err="1"/>
              <a:t>inequalities</a:t>
            </a:r>
            <a:endParaRPr lang="it-IT" sz="3200" b="1" dirty="0"/>
          </a:p>
        </p:txBody>
      </p:sp>
    </p:spTree>
    <p:extLst>
      <p:ext uri="{BB962C8B-B14F-4D97-AF65-F5344CB8AC3E}">
        <p14:creationId xmlns:p14="http://schemas.microsoft.com/office/powerpoint/2010/main" val="42938372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BF3E4-0529-3DE3-A8D0-B3530A429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C0AC4A8-8E28-7AC7-447D-8AA369C568B4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01469AE-EACD-7505-1BDB-BE9B8236DD8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6FFC7E8C-F660-9258-FD25-C732E8FF18F3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13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B1662036-A3D7-8F4E-F7A2-9B59F4519D19}"/>
              </a:ext>
            </a:extLst>
          </p:cNvPr>
          <p:cNvSpPr txBox="1"/>
          <p:nvPr/>
        </p:nvSpPr>
        <p:spPr>
          <a:xfrm>
            <a:off x="533399" y="728069"/>
            <a:ext cx="11116884" cy="45397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ODD CYCLE INEQUALITIES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Concetto: </a:t>
            </a:r>
            <a:r>
              <a:rPr lang="it-IT" sz="3200" dirty="0"/>
              <a:t>a partire da un ciclo di lunghezza dispari (2k+1) non è possibile scegliere più di k vertici senza che ci sia almeno una coppia di vertici adiacenti tra quelli selezionati.</a:t>
            </a:r>
            <a:endParaRPr lang="it-IT" sz="3200" b="1" dirty="0"/>
          </a:p>
          <a:p>
            <a:pPr algn="just">
              <a:spcAft>
                <a:spcPts val="1200"/>
              </a:spcAft>
            </a:pP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b="1" dirty="0"/>
              <a:t>Considerazione: </a:t>
            </a:r>
            <a:r>
              <a:rPr lang="it-IT" sz="3200" dirty="0"/>
              <a:t>nel modello di PLI la x[i] relativa al vertice i vale 1 se quel vertice è stato inserito nella cover. Nel modello rilassato la x[i] può assumere valori frazionari.</a:t>
            </a:r>
            <a:endParaRPr lang="it-IT" sz="3200" b="1" dirty="0"/>
          </a:p>
        </p:txBody>
      </p:sp>
    </p:spTree>
    <p:extLst>
      <p:ext uri="{BB962C8B-B14F-4D97-AF65-F5344CB8AC3E}">
        <p14:creationId xmlns:p14="http://schemas.microsoft.com/office/powerpoint/2010/main" val="16114304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DB9C7-C12C-FB9E-BD5B-E6E1F6E72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80DE0A1C-D9FA-6552-EB65-8DB2236EF18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69437A2-D929-025B-6C2E-6E6BFA10D4EC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B278B73-0778-D492-1F6C-87666990069B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14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A50821A6-60A4-D071-9460-0357233E6C11}"/>
              </a:ext>
            </a:extLst>
          </p:cNvPr>
          <p:cNvSpPr txBox="1"/>
          <p:nvPr/>
        </p:nvSpPr>
        <p:spPr>
          <a:xfrm>
            <a:off x="533399" y="728069"/>
            <a:ext cx="11116884" cy="46935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ODD CYCLE INEQUALITIES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Conseguenza: </a:t>
            </a:r>
            <a:r>
              <a:rPr lang="it-IT" sz="3200" dirty="0"/>
              <a:t>somme di x[i] a valore frazionario potrebbero violare le </a:t>
            </a:r>
            <a:r>
              <a:rPr lang="it-IT" sz="3200" dirty="0" err="1"/>
              <a:t>odd</a:t>
            </a:r>
            <a:r>
              <a:rPr lang="it-IT" sz="3200" dirty="0"/>
              <a:t> </a:t>
            </a:r>
            <a:r>
              <a:rPr lang="it-IT" sz="3200" dirty="0" err="1"/>
              <a:t>cycle</a:t>
            </a:r>
            <a:r>
              <a:rPr lang="it-IT" sz="3200" dirty="0"/>
              <a:t> </a:t>
            </a:r>
            <a:r>
              <a:rPr lang="it-IT" sz="3200" dirty="0" err="1"/>
              <a:t>inqualities</a:t>
            </a:r>
            <a:r>
              <a:rPr lang="it-IT" sz="3200" dirty="0"/>
              <a:t>.</a:t>
            </a:r>
          </a:p>
          <a:p>
            <a:pPr algn="just">
              <a:spcAft>
                <a:spcPts val="1200"/>
              </a:spcAft>
            </a:pP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b="1" dirty="0"/>
              <a:t>Applicazione: </a:t>
            </a:r>
            <a:r>
              <a:rPr lang="it-IT" sz="3200" dirty="0"/>
              <a:t>si potrebbe aggiungere un vincolo in più al modello di PL per ogni </a:t>
            </a:r>
            <a:r>
              <a:rPr lang="it-IT" sz="3200" dirty="0" err="1"/>
              <a:t>odd</a:t>
            </a:r>
            <a:r>
              <a:rPr lang="it-IT" sz="3200" dirty="0"/>
              <a:t> </a:t>
            </a:r>
            <a:r>
              <a:rPr lang="it-IT" sz="3200" dirty="0" err="1"/>
              <a:t>cycle</a:t>
            </a:r>
            <a:r>
              <a:rPr lang="it-IT" sz="3200" dirty="0"/>
              <a:t> </a:t>
            </a:r>
            <a:r>
              <a:rPr lang="it-IT" sz="3200" dirty="0" err="1"/>
              <a:t>inequality</a:t>
            </a:r>
            <a:r>
              <a:rPr lang="it-IT" sz="3200" dirty="0"/>
              <a:t> che deriva da un ciclo di lunghezza dispari.</a:t>
            </a:r>
            <a:endParaRPr lang="it-IT" sz="3200" b="1" dirty="0"/>
          </a:p>
          <a:p>
            <a:pPr algn="just">
              <a:spcAft>
                <a:spcPts val="1200"/>
              </a:spcAft>
            </a:pPr>
            <a:endParaRPr lang="it-IT" sz="3200" dirty="0"/>
          </a:p>
        </p:txBody>
      </p:sp>
    </p:spTree>
    <p:extLst>
      <p:ext uri="{BB962C8B-B14F-4D97-AF65-F5344CB8AC3E}">
        <p14:creationId xmlns:p14="http://schemas.microsoft.com/office/powerpoint/2010/main" val="12295771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30790-CA9E-46C8-B79E-2C880476D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51A564E7-D61A-3689-0E67-C7CE0AADE608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305053A-FB04-3D98-B7E3-A6725328FDDB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CFA4171D-448C-DEF1-81DC-A8E37FFA7899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15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0316673-81A7-D354-1165-75AC074028F5}"/>
              </a:ext>
            </a:extLst>
          </p:cNvPr>
          <p:cNvSpPr txBox="1"/>
          <p:nvPr/>
        </p:nvSpPr>
        <p:spPr>
          <a:xfrm>
            <a:off x="533399" y="728069"/>
            <a:ext cx="11116884" cy="40472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ODD CYCLE INEQUALITIES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Implementazione nel progetto: </a:t>
            </a:r>
            <a:r>
              <a:rPr lang="it-IT" sz="3200" dirty="0"/>
              <a:t>ci si è concentrati solo sui cicli dispari di lunghezza minore possibile (triangoli).</a:t>
            </a:r>
          </a:p>
          <a:p>
            <a:pPr algn="just">
              <a:spcAft>
                <a:spcPts val="1200"/>
              </a:spcAft>
            </a:pP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b="1" dirty="0"/>
              <a:t>Utilizzo: </a:t>
            </a:r>
            <a:r>
              <a:rPr lang="it-IT" sz="3200" dirty="0"/>
              <a:t>dato che il numero di vertici del grafo non è noto a priori, si preferisce inserire gruppi di </a:t>
            </a:r>
            <a:r>
              <a:rPr lang="it-IT" sz="3200" dirty="0" err="1"/>
              <a:t>odd</a:t>
            </a:r>
            <a:r>
              <a:rPr lang="it-IT" sz="3200" dirty="0"/>
              <a:t> </a:t>
            </a:r>
            <a:r>
              <a:rPr lang="it-IT" sz="3200" dirty="0" err="1"/>
              <a:t>cycle</a:t>
            </a:r>
            <a:r>
              <a:rPr lang="it-IT" sz="3200" dirty="0"/>
              <a:t> </a:t>
            </a:r>
            <a:r>
              <a:rPr lang="it-IT" sz="3200" dirty="0" err="1"/>
              <a:t>inequalities</a:t>
            </a:r>
            <a:r>
              <a:rPr lang="it-IT" sz="3200" dirty="0"/>
              <a:t> applicando uno schema simile al cutting </a:t>
            </a:r>
            <a:r>
              <a:rPr lang="it-IT" sz="3200" dirty="0" err="1"/>
              <a:t>plane</a:t>
            </a:r>
            <a:r>
              <a:rPr lang="it-IT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326379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E9BDE-A0B6-3742-345C-8ED85F34D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562A1DD-93D0-1283-5099-CEDCAE30C001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5BB24AD-AA98-DED7-6C5C-EBCCDB55CDB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A9F8CEEF-F5F0-9F75-81AC-63D515AEF5E0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16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E1839A1B-9027-C69F-0555-D9716897EC96}"/>
              </a:ext>
            </a:extLst>
          </p:cNvPr>
          <p:cNvSpPr txBox="1"/>
          <p:nvPr/>
        </p:nvSpPr>
        <p:spPr>
          <a:xfrm>
            <a:off x="533399" y="728069"/>
            <a:ext cx="11116884" cy="24160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 con </a:t>
            </a:r>
            <a:r>
              <a:rPr lang="it-IT" sz="3200" b="1" dirty="0" err="1"/>
              <a:t>odd</a:t>
            </a:r>
            <a:r>
              <a:rPr lang="it-IT" sz="3200" b="1" dirty="0"/>
              <a:t> </a:t>
            </a:r>
            <a:r>
              <a:rPr lang="it-IT" sz="3200" b="1" dirty="0" err="1"/>
              <a:t>cycle</a:t>
            </a:r>
            <a:r>
              <a:rPr lang="it-IT" sz="3200" b="1" dirty="0"/>
              <a:t> </a:t>
            </a:r>
            <a:r>
              <a:rPr lang="it-IT" sz="3200" b="1" dirty="0" err="1"/>
              <a:t>inequalities</a:t>
            </a:r>
            <a:r>
              <a:rPr lang="it-IT" sz="3200" b="1" dirty="0"/>
              <a:t>)</a:t>
            </a:r>
          </a:p>
          <a:p>
            <a:pPr algn="just">
              <a:spcAft>
                <a:spcPts val="1200"/>
              </a:spcAft>
            </a:pPr>
            <a:endParaRPr lang="it-IT" sz="320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65AE0B3B-0EB5-2442-F012-75EBE81DB2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9151"/>
          <a:stretch>
            <a:fillRect/>
          </a:stretch>
        </p:blipFill>
        <p:spPr>
          <a:xfrm>
            <a:off x="533399" y="2672964"/>
            <a:ext cx="4680000" cy="317562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1859CCF3-79AE-EDF7-5912-5022FE83547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9970"/>
          <a:stretch>
            <a:fillRect/>
          </a:stretch>
        </p:blipFill>
        <p:spPr>
          <a:xfrm>
            <a:off x="6091841" y="2672964"/>
            <a:ext cx="4680000" cy="3124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6243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0DBB2-FA59-3862-822E-8F22BB25A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7434486F-E157-CE4B-8B76-606DE4779D14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D5ADA02-9D55-FE98-8218-A0A75A81E7C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5D07FC8-87DB-9EC9-C10E-896E8722AEDF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5 (basato sul duale del rilassamento lineare)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3133AFF-CC31-2531-68B4-4AF1B4FDC8F4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17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660095E0-8889-C11E-725E-B986A93466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841" y="2488704"/>
            <a:ext cx="4268117" cy="3132000"/>
          </a:xfrm>
          <a:prstGeom prst="rect">
            <a:avLst/>
          </a:prstGeom>
        </p:spPr>
      </p:pic>
      <p:pic>
        <p:nvPicPr>
          <p:cNvPr id="16" name="Immagine 15">
            <a:extLst>
              <a:ext uri="{FF2B5EF4-FFF2-40B4-BE49-F238E27FC236}">
                <a16:creationId xmlns:a16="http://schemas.microsoft.com/office/drawing/2014/main" id="{04C1D0E1-F2EE-4355-A35B-F27CE384F1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399" y="2406379"/>
            <a:ext cx="4474286" cy="313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15575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4DC3E-B905-A214-A6A7-C5438E643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0E96AE6-E07F-6876-69A4-EFCB475313E9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706235A-D864-01E9-5926-7D9B39940F67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515F7E1-DD4F-96D7-9081-17AFB8A8B2B9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5 (basato sul duale del rilassamento lineare)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2C8788C-EAF8-7049-F6C6-D4BD6A1471F7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18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1C00CDCF-54A7-249A-7039-FEAD102A0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406379"/>
            <a:ext cx="6036676" cy="3132000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FE2E4DD0-FD5A-A8CC-1501-388171D38F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5859" y="2406379"/>
            <a:ext cx="2960383" cy="313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96938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917E2-0E3E-CABB-EC49-58ABA6B49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30FD3871-534A-8E95-ACAF-56D3AD97998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4A89934-52C4-4247-B668-047FA8F5ABF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FB5714A1-BAAE-C1E4-5192-8105E7641735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1 (si ordinano i vertici per peso crescente)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3D5DB99-C127-942B-151C-6B5EEADEA745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19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200539F8-7AB2-1A90-F9A4-4F1C9890AA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288416"/>
            <a:ext cx="6272014" cy="3615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4604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2EA7B-DC77-71F4-A489-EB7970040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4B287D7-EAFC-DCFC-0C1F-D5B2DBCF2A81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6BF57AC-FEA7-92B9-CF09-3C1EF6FD885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72CD3A2-892B-E2D1-DE23-984C2628EF77}"/>
              </a:ext>
            </a:extLst>
          </p:cNvPr>
          <p:cNvSpPr txBox="1"/>
          <p:nvPr/>
        </p:nvSpPr>
        <p:spPr>
          <a:xfrm>
            <a:off x="533399" y="728069"/>
            <a:ext cx="11116884" cy="17697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2 (si ordinano i vertici per rapporto peso/grado crescente)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31F72936-B423-792D-6842-AEA081856A92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20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A5C7F1FD-810F-89A9-47DC-C2318D1746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497784"/>
            <a:ext cx="3771652" cy="3441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98896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B65F2-BF6C-D3ED-14C7-FDBB3C373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74CECEE7-5915-6A91-9ECA-771A3BEC21BB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787D36D-2875-48C9-1784-0C64D157A074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950AA2C-363F-16BD-AA56-3CEF0315EDFB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3 (si ordinano gli archi per costo)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DFEFDB8-79BF-FCDD-5542-69986AA237B9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21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D5D73F98-DD41-D930-6857-00C6A5295F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080659"/>
            <a:ext cx="8504628" cy="277200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356D9A61-982F-6D0D-5155-A15ABB6347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8027" y="2080659"/>
            <a:ext cx="2932573" cy="27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14986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85D05-94E8-544E-86AD-DE03E7A1F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3892DE5-1DDB-59F0-B6B9-5E21842CBCC9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ACAD12B-3C9B-FC5E-E6B7-E4D5CB24BACF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B5D37131-EA1B-6341-0D15-06A5596D905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22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C49666B-5587-CE81-68CA-76A0BABC4B42}"/>
              </a:ext>
            </a:extLst>
          </p:cNvPr>
          <p:cNvSpPr txBox="1"/>
          <p:nvPr/>
        </p:nvSpPr>
        <p:spPr>
          <a:xfrm>
            <a:off x="533399" y="728069"/>
            <a:ext cx="1111688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dirty="0" err="1"/>
              <a:t>Doubling</a:t>
            </a:r>
            <a:r>
              <a:rPr lang="it-IT" sz="3200" dirty="0"/>
              <a:t> and </a:t>
            </a:r>
            <a:r>
              <a:rPr lang="it-IT" sz="3200" dirty="0" err="1"/>
              <a:t>rounding</a:t>
            </a:r>
            <a:r>
              <a:rPr lang="it-IT" sz="3200" dirty="0"/>
              <a:t> down effettuato dopo aver risolto: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Rilassamento lineare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Rilassamento lineare con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odd</a:t>
            </a: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cycle</a:t>
            </a: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inequalities</a:t>
            </a: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95050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E61DF-9781-8898-73DD-1666AFCEE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853DEB75-A96E-59FF-3FB3-D247D4CB4597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1B8DC77-076E-FEF9-0D5B-0B5B8C00D89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BEC9EDE-ACF9-2E4B-F74E-F2C2CF913D02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23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A615C6A-89AE-4ABE-5FA9-ABAF76C546F2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0DC28201-4F7B-BF55-CF75-F14240234E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534" y="2276782"/>
            <a:ext cx="5479505" cy="3391194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DF3DA32B-B0B8-0D8F-ACA6-4F1556447F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399" y="2276782"/>
            <a:ext cx="3958154" cy="1960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6176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7F655E-E848-A4C0-562A-268D00091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506995B-2D0A-2DDD-BB1A-2DA88C2A0CCC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4056FEB-76F0-3B13-C9B8-8AF6B4E4868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39A8D05-F370-195A-12F5-3D4F7879D819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24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FC4495C9-0AE1-8EF1-7BF8-47CF205DD6C9}"/>
              </a:ext>
            </a:extLst>
          </p:cNvPr>
          <p:cNvSpPr txBox="1"/>
          <p:nvPr/>
        </p:nvSpPr>
        <p:spPr>
          <a:xfrm>
            <a:off x="533399" y="728069"/>
            <a:ext cx="1111688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dirty="0" err="1"/>
              <a:t>Doubling</a:t>
            </a:r>
            <a:r>
              <a:rPr lang="it-IT" sz="3200" dirty="0"/>
              <a:t> and </a:t>
            </a:r>
            <a:r>
              <a:rPr lang="it-IT" sz="3200" dirty="0" err="1"/>
              <a:t>rounding</a:t>
            </a:r>
            <a:r>
              <a:rPr lang="it-IT" sz="3200" dirty="0"/>
              <a:t> down effettuato dopo aver risolto: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Rilassamento lineare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Rilassamento lineare con </a:t>
            </a:r>
            <a:r>
              <a:rPr lang="it-IT" sz="3200" b="1" dirty="0" err="1"/>
              <a:t>odd</a:t>
            </a:r>
            <a:r>
              <a:rPr lang="it-IT" sz="3200" b="1" dirty="0"/>
              <a:t> </a:t>
            </a:r>
            <a:r>
              <a:rPr lang="it-IT" sz="3200" b="1" dirty="0" err="1"/>
              <a:t>cycle</a:t>
            </a:r>
            <a:r>
              <a:rPr lang="it-IT" sz="3200" b="1" dirty="0"/>
              <a:t> </a:t>
            </a:r>
            <a:r>
              <a:rPr lang="it-IT" sz="3200" b="1" dirty="0" err="1"/>
              <a:t>inequalities</a:t>
            </a:r>
            <a:endParaRPr lang="it-IT" sz="3200" b="1" dirty="0"/>
          </a:p>
        </p:txBody>
      </p:sp>
    </p:spTree>
    <p:extLst>
      <p:ext uri="{BB962C8B-B14F-4D97-AF65-F5344CB8AC3E}">
        <p14:creationId xmlns:p14="http://schemas.microsoft.com/office/powerpoint/2010/main" val="4072766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120F6-BA5B-C31F-C302-0C8C50BCF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EEB7DA05-E429-4CC0-A0DD-02DE67481998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7D2CBFC-BB8B-6C25-374C-47ABB2C71AB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D32EFA0-15C5-74BE-D99C-F9F1D907B1C6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25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3DB798B-684B-B331-9678-CAF9CB170740}"/>
              </a:ext>
            </a:extLst>
          </p:cNvPr>
          <p:cNvSpPr txBox="1"/>
          <p:nvPr/>
        </p:nvSpPr>
        <p:spPr>
          <a:xfrm>
            <a:off x="533399" y="728069"/>
            <a:ext cx="11116884" cy="24160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 con </a:t>
            </a:r>
            <a:r>
              <a:rPr lang="it-IT" sz="3200" b="1" dirty="0" err="1"/>
              <a:t>odd</a:t>
            </a:r>
            <a:r>
              <a:rPr lang="it-IT" sz="3200" b="1" dirty="0"/>
              <a:t> </a:t>
            </a:r>
            <a:r>
              <a:rPr lang="it-IT" sz="3200" b="1" dirty="0" err="1"/>
              <a:t>cycle</a:t>
            </a:r>
            <a:r>
              <a:rPr lang="it-IT" sz="3200" b="1" dirty="0"/>
              <a:t> </a:t>
            </a:r>
            <a:r>
              <a:rPr lang="it-IT" sz="3200" b="1" dirty="0" err="1"/>
              <a:t>inequalities</a:t>
            </a:r>
            <a:r>
              <a:rPr lang="it-IT" sz="3200" b="1" dirty="0"/>
              <a:t>)</a:t>
            </a:r>
          </a:p>
          <a:p>
            <a:pPr algn="just">
              <a:spcAft>
                <a:spcPts val="1200"/>
              </a:spcAft>
            </a:pPr>
            <a:endParaRPr lang="it-IT" sz="320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9D5ABF5B-A1A5-11F2-5794-7EBB1E7E805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9151"/>
          <a:stretch>
            <a:fillRect/>
          </a:stretch>
        </p:blipFill>
        <p:spPr>
          <a:xfrm>
            <a:off x="533399" y="2672964"/>
            <a:ext cx="4680000" cy="317562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D8F62357-C7EB-F48D-200F-2653108745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9970"/>
          <a:stretch>
            <a:fillRect/>
          </a:stretch>
        </p:blipFill>
        <p:spPr>
          <a:xfrm>
            <a:off x="6091841" y="2672964"/>
            <a:ext cx="4680000" cy="3124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6222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C9B5B-0D95-EBB0-95BA-A82BA4A1A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445A0D36-379D-1F02-8C3D-FBE995A5CD40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4F1BEB0-EC82-1584-9EBC-96894BAA4B96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D346DA7-3FE8-47E9-1A4F-8D34543E9046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5 (basato sul duale del rilassamento lineare)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90BB1ACC-6158-6845-0028-176E0DCAD8F5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26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C0A85566-7F2D-28B6-F154-91C8B93F87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005342"/>
            <a:ext cx="4851814" cy="3569548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1272809F-97B0-E473-8B28-AB00369E5A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8188" y="2004516"/>
            <a:ext cx="5379120" cy="357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9827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04597-F93E-821B-58E7-7AAFA50DC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045F5D7D-01D8-65B4-C04A-CF0DB742243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7AC21F6-602E-DF0B-5461-E52E88D16059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C2B4472-83AF-5CE5-2C37-37C816DC337D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5 (basato sul duale del rilassamento lineare)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3E76F09A-D9DB-50A7-E2CB-F58F1109F216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27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D766EBF9-DE25-D9D2-704E-92FFE5D628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186779"/>
            <a:ext cx="3251093" cy="357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39469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C0F47-A07E-AD5D-8C78-66A34A857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3BD5D540-9466-62B5-C501-26F6DFB5F09A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D4A2B94-EA1F-EDC7-476E-0FB7EB6749B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9BD82AE-AF79-0B74-63F1-59BB1B09301F}"/>
              </a:ext>
            </a:extLst>
          </p:cNvPr>
          <p:cNvSpPr txBox="1"/>
          <p:nvPr/>
        </p:nvSpPr>
        <p:spPr>
          <a:xfrm>
            <a:off x="533399" y="728069"/>
            <a:ext cx="6304281" cy="4324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000" b="1" dirty="0">
                <a:solidFill>
                  <a:srgbClr val="990000"/>
                </a:solidFill>
              </a:rPr>
              <a:t>ROADMAP: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IDEA DEL PROGETTO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ALGORITMI CONFRONTATI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b="1" dirty="0"/>
              <a:t>METODOLOGIA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RISULTATI PIÙ SIGNIFICATIVI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CONCLUSIONI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FF0CC2D-250E-43D1-8C8E-CFA9E7DF5D4D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5732298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07 - 2010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420</TotalTime>
  <Words>766</Words>
  <Application>Microsoft Office PowerPoint</Application>
  <PresentationFormat>Widescreen</PresentationFormat>
  <Paragraphs>162</Paragraphs>
  <Slides>29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29</vt:i4>
      </vt:variant>
    </vt:vector>
  </HeadingPairs>
  <TitlesOfParts>
    <vt:vector size="33" baseType="lpstr">
      <vt:lpstr>Arial</vt:lpstr>
      <vt:lpstr>Calibri</vt:lpstr>
      <vt:lpstr>Cambria Math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Gianpaolo Pestilli</dc:creator>
  <cp:lastModifiedBy>Gianpaolo Pestilli</cp:lastModifiedBy>
  <cp:revision>12</cp:revision>
  <dcterms:created xsi:type="dcterms:W3CDTF">2026-06-12T20:11:00Z</dcterms:created>
  <dcterms:modified xsi:type="dcterms:W3CDTF">2026-06-24T19:55:39Z</dcterms:modified>
</cp:coreProperties>
</file>