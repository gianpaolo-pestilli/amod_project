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9" r:id="rId43"/>
    <p:sldId id="300" r:id="rId44"/>
    <p:sldId id="301" r:id="rId45"/>
    <p:sldId id="305" r:id="rId46"/>
    <p:sldId id="302" r:id="rId47"/>
    <p:sldId id="308" r:id="rId48"/>
    <p:sldId id="309" r:id="rId49"/>
    <p:sldId id="310" r:id="rId50"/>
    <p:sldId id="306" r:id="rId51"/>
    <p:sldId id="307" r:id="rId52"/>
    <p:sldId id="311" r:id="rId53"/>
    <p:sldId id="312" r:id="rId54"/>
    <p:sldId id="315" r:id="rId55"/>
    <p:sldId id="316" r:id="rId56"/>
    <p:sldId id="313" r:id="rId57"/>
    <p:sldId id="314" r:id="rId58"/>
    <p:sldId id="317" r:id="rId59"/>
    <p:sldId id="303" r:id="rId60"/>
    <p:sldId id="304" r:id="rId6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C88626-8297-4000-AA78-E4F17AAF9259}" type="datetimeFigureOut">
              <a:rPr lang="it-IT" smtClean="0"/>
              <a:t>25/06/2026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D32BE9-5CDD-4B08-B335-3127A5390E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0518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D9585E-86E7-C51C-DBC6-323DFE3296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4A09B2E-DACF-F53A-9ED4-EA6214CCD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D0594E-272B-258A-6E66-903CB7D1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3E97-3DDD-4186-A208-B850F35723DB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C970AA6-09FF-A32D-53E0-255613B8A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D7CDC2-436A-F090-2527-3DCF10D7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8320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4B7833-C7FE-C1EB-F5A4-73338189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561FFD-4945-CB7B-175E-E22C106C0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D72E431-7732-BDDA-EF08-259BEB8F2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9C9B6-BFF0-438D-B09E-8432B8734EE5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8886248-1C0E-CD31-A043-C9AF6ABD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FE2C7A0-7804-1D82-F1D8-8704D7FE0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4438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275AD8-13A0-7BCA-0BFC-44889835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42F52C2-7F0B-951A-BE57-866D655A1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3B3025A-BED1-B69C-F8C5-F7C26DA61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C7979-BD5D-4D0F-9310-241562FF9E94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CF15A6-7D3A-1EE3-8C93-BEDB5827D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983C0F8-2110-103E-F53F-5B5B27761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512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C04EA3-E933-FD6C-2636-76CB3C5CA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41C80B-567D-F5B4-012F-6DF76DD23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A6BC71-5BE3-8ED9-A3D0-67030591F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2C47705-E9F5-242F-89A9-35EFA764E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8F376-66C7-47F4-9CDC-69997AFD8804}" type="datetime1">
              <a:rPr lang="it-IT" smtClean="0"/>
              <a:t>25/06/2026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9E27AFF-3855-4D84-3EBB-1B4534BE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046636D-508A-F918-428F-2D2E85B7D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550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9870B8-8B4A-0B2E-BC66-16813AC7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D21403D-1617-68BE-3DA1-FC420E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7D558C-4F53-B3CA-FDD9-51E7901BC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F2248B6A-9F26-ED59-9793-58B21F426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1100B6A-8982-DD20-607C-FB8F28DD73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05599F6-63D7-507E-CB4F-A90619A7E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CE95E-26FA-4B50-AEEC-A0C3476A6D97}" type="datetime1">
              <a:rPr lang="it-IT" smtClean="0"/>
              <a:t>25/06/2026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5AB9D1C-0DB6-A962-CC59-66E65F9EC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8E73910-2453-BDEA-5CB4-A90CC2FB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121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BD6F99-B675-6972-968E-88A0DB58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BEBE7B-CD5E-4D0B-4254-ABA5BB55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C9EBA-B4EE-4B7C-8D99-E4EE9B4515D3}" type="datetime1">
              <a:rPr lang="it-IT" smtClean="0"/>
              <a:t>25/06/2026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C1E58DF-617B-75B4-0DC9-38AD3244D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43AAAE4-B107-6694-572A-8F977E70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232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3A98471-C700-ED9F-AA69-BEB7F01F0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4029C-F4FA-44C2-8417-402E4F9F070D}" type="datetime1">
              <a:rPr lang="it-IT" smtClean="0"/>
              <a:t>25/06/2026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E4ACC49-989F-AD6A-8E71-09FA0049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16A85-9891-F44A-82CC-28490001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392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8AD5BC-4845-5B99-FA83-1928E2DDE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AA091-9D2B-EF94-6123-1FD3BF53A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57014E7-2FAB-AFCB-393B-1FB3906F4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4AC79B6-B2C6-4876-11E0-E581067BC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25BE-1E49-4B4B-B3DA-784C3A60B941}" type="datetime1">
              <a:rPr lang="it-IT" smtClean="0"/>
              <a:t>25/06/2026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1D644F9-20F8-3257-C31A-E0FBC1764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3F4CD04-B1A7-782E-9EF1-2CF93DDFD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6856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280370-37DC-6CC1-70FE-AE4B2E5B8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A652FF-2568-DF84-D98D-DA30D75FB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B827820-ABE3-837C-A38A-E63C64150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6271C9-0E2F-A958-FB55-7A515C1E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C9992-29B7-4892-A984-BAD5A3D1DFD6}" type="datetime1">
              <a:rPr lang="it-IT" smtClean="0"/>
              <a:t>25/06/2026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2F22AA1-30BA-F52C-8758-B41AED60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82121F-4297-F62C-83E9-BC5015BF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207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80029D-8D34-C2E8-7338-0E7A340DA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898D646-4D39-8D8A-AD0D-F714C726B9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8925E-1BE4-BEF5-E531-9E0B6C04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2FBA6-F7A9-4C74-B465-9FF20E4A7E98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BFC074-4E2F-A17E-B86B-4EE665854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2D9A63-F119-1320-0B6A-3829333E4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554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9F29494-2A49-8AA3-8BD4-C2E0D6B44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8BD18CE-90CF-79B8-A3DD-6BF72BEA31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561BBFC-D7C8-B3DA-E98B-6E83E3C96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89735-B0FA-42EC-B352-C4875869C0BC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7FBF0-2723-C95F-13E7-BCFC961D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F7AC2A-F052-E1B7-153F-92794CD9B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42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81474D5-93F1-C6BF-4FC2-01FD92F26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73D5310-8276-3FF7-784A-BE9885103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0FB978-1F5C-98BC-6FCB-E9F695F3C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5A07EC-953A-454F-8426-34AAF06A63B6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6155F4-765E-8C1B-2783-3716C2DD2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D5E4149-5748-8CE2-5B3A-FC8A3B273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0711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grafos">
            <a:extLst>
              <a:ext uri="{FF2B5EF4-FFF2-40B4-BE49-F238E27FC236}">
                <a16:creationId xmlns:a16="http://schemas.microsoft.com/office/drawing/2014/main" id="{7F45E4BA-9922-4894-47D3-0308BEEE42B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1" cy="4762919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83A6944F-C6A5-D8BA-82B2-D03F96F1C8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923F726-1D35-BA39-C8D2-F4EF10F57513}"/>
              </a:ext>
            </a:extLst>
          </p:cNvPr>
          <p:cNvSpPr txBox="1"/>
          <p:nvPr/>
        </p:nvSpPr>
        <p:spPr>
          <a:xfrm>
            <a:off x="1396179" y="3654923"/>
            <a:ext cx="93996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600" b="1" dirty="0">
                <a:solidFill>
                  <a:srgbClr val="990000"/>
                </a:solidFill>
              </a:rPr>
              <a:t>MINIMUM VERTEX COVER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EEED13-D24E-CECE-E6F5-2C5FAD148501}"/>
              </a:ext>
            </a:extLst>
          </p:cNvPr>
          <p:cNvSpPr txBox="1"/>
          <p:nvPr/>
        </p:nvSpPr>
        <p:spPr>
          <a:xfrm>
            <a:off x="8802356" y="6222490"/>
            <a:ext cx="3285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 (0386492)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4679B7-D32B-7777-B8F0-7F40911C8AE9}"/>
              </a:ext>
            </a:extLst>
          </p:cNvPr>
          <p:cNvSpPr txBox="1"/>
          <p:nvPr/>
        </p:nvSpPr>
        <p:spPr>
          <a:xfrm>
            <a:off x="103832" y="6222490"/>
            <a:ext cx="2126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AMOD 2025-2026</a:t>
            </a:r>
          </a:p>
        </p:txBody>
      </p:sp>
    </p:spTree>
    <p:extLst>
      <p:ext uri="{BB962C8B-B14F-4D97-AF65-F5344CB8AC3E}">
        <p14:creationId xmlns:p14="http://schemas.microsoft.com/office/powerpoint/2010/main" val="3139750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6725-92B5-3B1E-6F34-784FA2A2F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3A58A5-7B62-B7C8-AB5A-3384C06A23B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46BBC47-0C05-6043-053E-9C532B26202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8438DD-8FFC-A83F-4FDC-F7E451F078F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4862638-C662-D171-BA24-7BE83738BF0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331260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41291-74B8-7E05-0F50-FFEEA4622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9CEE577-B151-FB0C-F1B2-4E68BBD268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A90F200-4F12-E9F5-F6CC-9F77401E41E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E97F6DF-BC58-7414-0FC5-90B555528674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7192AA6-47F9-1040-6EF7-F1EE767A7D5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301529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F0FC-BD09-BF0F-AD7B-5F31CE0AC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CB05E6-11E7-2515-0DB5-AEB005B33A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A7C265-2507-930E-62A1-73A52594594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8081FC8-AEE9-F1BB-2240-0076E5727DCD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B15BBA-CB7D-CFC3-8A68-1B568777BC59}"/>
              </a:ext>
            </a:extLst>
          </p:cNvPr>
          <p:cNvSpPr txBox="1"/>
          <p:nvPr/>
        </p:nvSpPr>
        <p:spPr>
          <a:xfrm>
            <a:off x="533399" y="728069"/>
            <a:ext cx="111168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IDEA</a:t>
            </a:r>
            <a:endParaRPr lang="it-IT" sz="3200" dirty="0"/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Il progetto si pone l’obiettivo di analizzare e confrontare le performance di vari algoritmi per il problema del </a:t>
            </a:r>
            <a:r>
              <a:rPr lang="it-IT" sz="3200" b="1" dirty="0"/>
              <a:t>minimum vertex cover </a:t>
            </a:r>
            <a:r>
              <a:rPr lang="it-IT" sz="3200" dirty="0"/>
              <a:t>su grafo non orientato.</a:t>
            </a:r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Vengono presi in esame sia la variante originale del problema che il </a:t>
            </a: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  <a:r>
              <a:rPr lang="it-IT" sz="3200" dirty="0"/>
              <a:t>.</a:t>
            </a:r>
          </a:p>
          <a:p>
            <a:endParaRPr lang="it-IT" sz="4000" b="1" dirty="0">
              <a:solidFill>
                <a:srgbClr val="99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321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9C0AC-FA4D-E6C8-1228-983A03BAB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6EB3C69-F5B7-DDCC-E656-FA278C44211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BD3796-118F-480D-76CF-4CFD0DFA1D9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1901B9-69F8-627F-4415-BF73A605FE9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it-IT" sz="4000" b="1" dirty="0">
                    <a:solidFill>
                      <a:srgbClr val="990000"/>
                    </a:solidFill>
                  </a:rPr>
                  <a:t>CONCETTO DI COVER</a:t>
                </a:r>
                <a:endParaRPr lang="it-IT" sz="3200" dirty="0"/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Dato un grafo, una </a:t>
                </a:r>
                <a:r>
                  <a:rPr lang="it-IT" sz="3200" b="1" dirty="0"/>
                  <a:t>cover</a:t>
                </a:r>
                <a:r>
                  <a:rPr lang="it-IT" sz="3200" dirty="0"/>
                  <a:t> è un </a:t>
                </a:r>
                <a:r>
                  <a:rPr lang="it-IT" sz="3200" b="1" dirty="0"/>
                  <a:t>sottoinsieme S dei vertici </a:t>
                </a:r>
                <a:r>
                  <a:rPr lang="it-IT" sz="3200" dirty="0"/>
                  <a:t>tale che, per ogni arco del grafo, </a:t>
                </a:r>
                <a:r>
                  <a:rPr lang="it-IT" sz="3200" b="1" dirty="0"/>
                  <a:t>almeno uno dei suoi vertici </a:t>
                </a:r>
                <a:r>
                  <a:rPr lang="it-IT" sz="3200" dirty="0"/>
                  <a:t>appartiene ad S.</a:t>
                </a:r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G = (V,E)</a:t>
                </a:r>
              </a:p>
              <a:p>
                <a:pPr algn="just"/>
                <a:r>
                  <a:rPr lang="it-IT" sz="3200" b="1" dirty="0"/>
                  <a:t>S </a:t>
                </a:r>
                <a14:m>
                  <m:oMath xmlns:m="http://schemas.openxmlformats.org/officeDocument/2006/math">
                    <m:r>
                      <a:rPr lang="it-IT" sz="3200" b="1" i="0">
                        <a:latin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it-IT" sz="3200" b="1" dirty="0"/>
                  <a:t> V : </a:t>
                </a:r>
                <a14:m>
                  <m:oMath xmlns:m="http://schemas.openxmlformats.org/officeDocument/2006/math">
                    <m:r>
                      <a:rPr lang="it-IT" sz="3200" b="1" i="1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it-IT" sz="3200" b="1" dirty="0"/>
                  <a:t> e = {</a:t>
                </a:r>
                <a:r>
                  <a:rPr lang="it-IT" sz="3200" b="1" dirty="0" err="1"/>
                  <a:t>u,v</a:t>
                </a:r>
                <a:r>
                  <a:rPr lang="it-IT" sz="3200" b="1" dirty="0"/>
                  <a:t>}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E </a:t>
                </a:r>
                <a14:m>
                  <m:oMath xmlns:m="http://schemas.openxmlformats.org/officeDocument/2006/math">
                    <m:r>
                      <a:rPr lang="it-IT" sz="3200" b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it-IT" sz="3200" b="1" dirty="0"/>
                  <a:t> (u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 v (v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</a:t>
                </a:r>
              </a:p>
              <a:p>
                <a:pPr algn="just"/>
                <a:endParaRPr lang="it-IT" sz="32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blipFill>
                <a:blip r:embed="rId2"/>
                <a:stretch>
                  <a:fillRect l="-1919" t="-2359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948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3839F-864E-14C9-4A97-722F96667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A7A7000-CE1C-3198-9679-EB84A67CB0E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518A9F-9EE6-4DA3-6D70-A197ACBCFC2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4E29D4F-5562-539C-9B36-7515B0F5EE6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03DD3B-EFDA-D9F9-B8C9-CC3ECD8F3E01}"/>
              </a:ext>
            </a:extLst>
          </p:cNvPr>
          <p:cNvSpPr txBox="1"/>
          <p:nvPr/>
        </p:nvSpPr>
        <p:spPr>
          <a:xfrm>
            <a:off x="533399" y="728069"/>
            <a:ext cx="11116884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COVER MINIMA</a:t>
            </a:r>
          </a:p>
          <a:p>
            <a:pPr algn="just"/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cardinalità minima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peso totale minore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it-IT" sz="3200" dirty="0"/>
              <a:t>Peso totale = somma dei pesi di tutti i vertici presenti nella cover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dirty="0"/>
          </a:p>
          <a:p>
            <a:pPr algn="just"/>
            <a:endParaRPr lang="it-IT" sz="3200" b="1" dirty="0"/>
          </a:p>
          <a:p>
            <a:pPr algn="just"/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552696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3D11F-D29B-4911-9725-49539C09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D7E69A-FBCD-B7E2-31CA-4366C7E18B3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13F7D9B-8386-6CDA-EF67-A39F516B505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1EC2B6-336C-1F38-2575-BDD5C5488E8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8F6C2F-DF59-78F3-10AF-6F012DBF3E48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1244029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C550-5246-62F8-642A-7062A379B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AC18B2-2919-5EE3-CEC1-A1233CE1FD6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47A63D-EB98-4FCC-C824-9F5D2D67C62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A12123A-9F44-697E-1F75-975F82D7BAA6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2E51A3-9F65-61AF-3FC4-BDFA9CD623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parte da un vertice qualsiasi)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355780FD-742B-FB21-690A-18D37ECBB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18466"/>
            <a:ext cx="4086373" cy="370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80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1F40-733A-62AF-6B74-81746B8D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BCF60E4-17F4-1A54-8512-7511AF8F6B4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1145040-E22A-C851-EE32-409E28464A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85185F7-104C-35DD-ED4D-0D9B0AA5017E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A72BB08-D902-CAAF-19F1-8448A26EE06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grado decrescente)</a:t>
            </a: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0EEEDA-C7CD-E7E5-F6D6-70B4BF2B4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8560586" cy="181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25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18003-55A9-082D-CD9A-AFFBCF16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538783-DE3A-3257-3ABD-C216CEA142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BAEE5A3-78E6-3070-DBD3-ACD3902306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31D45D-1B95-84D2-0CF2-69AFBFE43ED1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1F8678-4068-1A9F-94C2-9FFE09D94A98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(basato sul matching massimale)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C71F03F-0223-D9DE-6028-1D25CF1E13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93"/>
          <a:stretch>
            <a:fillRect/>
          </a:stretch>
        </p:blipFill>
        <p:spPr>
          <a:xfrm>
            <a:off x="533399" y="2314007"/>
            <a:ext cx="4274575" cy="33167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C9B6F7E-3AD4-3CEE-DCD9-10BE279F49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380"/>
          <a:stretch>
            <a:fillRect/>
          </a:stretch>
        </p:blipFill>
        <p:spPr>
          <a:xfrm>
            <a:off x="6091841" y="2314007"/>
            <a:ext cx="4138438" cy="195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941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A2EAD-DFAF-31AF-5EAF-56B269B9C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219B91-BA4B-B5DD-25A5-C91EB616EE1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C8A72E-054B-6A8F-E2BF-03F3E0A11CD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AFC70D3-AB8C-0F39-FE80-2CE0E9280E9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CC36DE6-25D1-7331-99BC-060F84C277DF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37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F1F9-8FEB-6A8F-10A8-10D1C127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5C3883C-7764-0835-5410-F87964F83C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EB942E-014D-1165-FD44-C9DBF2386F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8252BC9-85D1-8131-8374-946EC8194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831D7CC-6BA4-CDEF-10CE-9FDE3E5258B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980851D-AA83-0B2B-1DE7-25AA154B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76782"/>
            <a:ext cx="3546988" cy="172651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30162F0-99C4-B5E3-E14A-F143DFA70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06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F22A7-A0C2-A43F-E9CA-238C15F8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CA91E07-E52E-D621-867A-E481958FC7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2C09B9C-8FA5-2E5F-2A04-C8D571A34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D67676B-1BED-4C49-33C4-CF6AFF211F4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80F41E-C28D-0125-496B-C5A8D378BD7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293837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BF3E4-0529-3DE3-A8D0-B3530A4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C0AC4A8-8E28-7AC7-447D-8AA369C568B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01469AE-EACD-7505-1BDB-BE9B8236DD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FFC7E8C-F660-9258-FD25-C732E8FF18F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662036-A3D7-8F4E-F7A2-9B59F4519D19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Concetto: </a:t>
            </a:r>
            <a:r>
              <a:rPr lang="it-IT" sz="3200" dirty="0"/>
              <a:t>a partire da un ciclo di lunghezza dispari (2k+1) non è possibile scegliere più di k vertici senza che ci sia almeno una coppia di vertici adiacenti tra quelli selezionati.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Considerazione: </a:t>
            </a:r>
            <a:r>
              <a:rPr lang="it-IT" sz="3200" dirty="0"/>
              <a:t>nel modello di PLI la x[i] relativa al vertice i vale 1 se quel vertice è stato inserito nella cover. Nel modello rilassato la x[i] può assumere valori frazionari.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1611430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DB9C7-C12C-FB9E-BD5B-E6E1F6E7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0DE0A1C-D9FA-6552-EB65-8DB2236EF18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69437A2-D929-025B-6C2E-6E6BFA10D4E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B278B73-0778-D492-1F6C-876669900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50821A6-60A4-D071-9460-0357233E6C11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Conseguenza: </a:t>
            </a:r>
            <a:r>
              <a:rPr lang="it-IT" sz="3200" dirty="0"/>
              <a:t>somme di x[i] a valore frazionario potrebbero violare 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inqualities</a:t>
            </a:r>
            <a:r>
              <a:rPr lang="it-IT" sz="3200" dirty="0"/>
              <a:t>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Applicazione: </a:t>
            </a:r>
            <a:r>
              <a:rPr lang="it-IT" sz="3200" dirty="0"/>
              <a:t>si potrebbe aggiungere un vincolo in più al modello di PL per ogni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inequality</a:t>
            </a:r>
            <a:r>
              <a:rPr lang="it-IT" sz="3200" dirty="0"/>
              <a:t> che deriva da un ciclo di lunghezza dispari.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229577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30790-CA9E-46C8-B79E-2C880476D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1A564E7-D61A-3689-0E67-C7CE0AADE6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05053A-FB04-3D98-B7E3-A6725328FDD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FA4171D-448C-DEF1-81DC-A8E37FFA789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0316673-81A7-D354-1165-75AC074028F5}"/>
              </a:ext>
            </a:extLst>
          </p:cNvPr>
          <p:cNvSpPr txBox="1"/>
          <p:nvPr/>
        </p:nvSpPr>
        <p:spPr>
          <a:xfrm>
            <a:off x="533399" y="728069"/>
            <a:ext cx="11116884" cy="404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Implementazione nel progetto: </a:t>
            </a:r>
            <a:r>
              <a:rPr lang="it-IT" sz="3200" dirty="0"/>
              <a:t>ci si è concentrati solo sui cicli dispari di lunghezza minore possibile (triangoli).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Utilizzo: </a:t>
            </a:r>
            <a:r>
              <a:rPr lang="it-IT" sz="3200" dirty="0"/>
              <a:t>dato che il numero di vertici del grafo non è noto a priori, si preferisce inserire gruppi di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r>
              <a:rPr lang="it-IT" sz="3200" dirty="0"/>
              <a:t> applicando uno schema simile al cutting </a:t>
            </a:r>
            <a:r>
              <a:rPr lang="it-IT" sz="3200" dirty="0" err="1"/>
              <a:t>plane</a:t>
            </a:r>
            <a:r>
              <a:rPr lang="it-IT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2637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E9BDE-A0B6-3742-345C-8ED85F34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562A1DD-93D0-1283-5099-CEDCAE30C00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BB24AD-AA98-DED7-6C5C-EBCCDB55CDB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9F8CEEF-F5F0-9F75-81AC-63D515AEF5E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1839A1B-9027-C69F-0555-D9716897EC96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5AE0B3B-0EB5-2442-F012-75EBE81D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1859CCF3-79AE-EDF7-5912-5022FE8354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624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DBB2-FA59-3862-822E-8F22BB25A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34486F-E157-CE4B-8B76-606DE4779D1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5ADA02-9D55-FE98-8218-A0A75A81E7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5D07FC8-87DB-9EC9-C10E-896E8722AEDF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3133AFF-CC31-2531-68B4-4AF1B4FDC8F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60095E0-8889-C11E-725E-B986A9346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841" y="2488704"/>
            <a:ext cx="4268117" cy="31320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04C1D0E1-F2EE-4355-A35B-F27CE384F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406379"/>
            <a:ext cx="4474286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557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4DC3E-B905-A214-A6A7-C5438E64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0E96AE6-E07F-6876-69A4-EFCB475313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06235A-D864-01E9-5926-7D9B39940F6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515F7E1-DD4F-96D7-9081-17AFB8A8B2B9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C8788C-EAF8-7049-F6C6-D4BD6A1471F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C00CDCF-54A7-249A-7039-FEAD102A0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06379"/>
            <a:ext cx="6036676" cy="31320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FE2E4DD0-FD5A-A8CC-1501-388171D3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859" y="2406379"/>
            <a:ext cx="2960383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93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17E2-0E3E-CABB-EC49-58ABA6B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0FD3871-534A-8E95-ACAF-56D3AD97998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A89934-52C4-4247-B668-047FA8F5AB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B5714A1-BAAE-C1E4-5192-8105E764173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ordinano i vertici per peso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5DB99-C127-942B-151C-6B5EEADEA74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19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00539F8-7AB2-1A90-F9A4-4F1C9890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6272014" cy="3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60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2EA7B-DC77-71F4-A489-EB797004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4B287D7-EAFC-DCFC-0C1F-D5B2DBCF2A8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6BF57AC-FEA7-92B9-CF09-3C1EF6FD88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72CD3A2-892B-E2D1-DE23-984C2628EF77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rapporto peso/grado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F72936-B423-792D-6842-AEA081856A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5C7F1FD-810F-89A9-47DC-C2318D174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97784"/>
            <a:ext cx="3771652" cy="344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889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65F2-BF6C-D3ED-14C7-FDBB3C373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CECEE7-5915-6A91-9ECA-771A3BEC21B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787D36D-2875-48C9-1784-0C64D157A07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950AA2C-363F-16BD-AA56-3CEF0315ED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(si ordinano gli archi per costo)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DFEFDB8-79BF-FCDD-5542-69986AA237B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5D73F98-DD41-D930-6857-00C6A5295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0659"/>
            <a:ext cx="8504628" cy="27720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356D9A61-982F-6D0D-5155-A15ABB634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027" y="2080659"/>
            <a:ext cx="2932573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498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5D05-94E8-544E-86AD-DE03E7A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892DE5-1DDB-59F0-B6B9-5E21842CBCC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AD12B-3C9B-FC5E-E6B7-E4D5CB24BAC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5D37131-EA1B-6341-0D15-06A5596D905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49666B-5587-CE81-68CA-76A0BABC4B42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9505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E61DF-9781-8898-73DD-1666AFCE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53DEB75-A96E-59FF-3FB3-D247D4CB45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B8DC77-076E-FEF9-0D5B-0B5B8C00D89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EC9EDE-ACF9-2E4B-F74E-F2C2CF913D0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A615C6A-89AE-4ABE-5FA9-ABAF76C546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0DC28201-4F7B-BF55-CF75-F14240234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DF3DA32B-B0B8-0D8F-ACA6-4F1556447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276782"/>
            <a:ext cx="3958154" cy="196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617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F655E-E848-A4C0-562A-268D0009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506995B-2D0A-2DDD-BB1A-2DA88C2A0CC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056FEB-76F0-3B13-C9B8-8AF6B4E486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39A8D05-F370-195A-12F5-3D4F7879D81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C4495C9-0AE1-8EF1-7BF8-47CF205DD6C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07276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120F6-BA5B-C31F-C302-0C8C50BCF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EB7DA05-E429-4CC0-A0DD-02DE6748199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7D2CBFC-BB8B-6C25-374C-47ABB2C71A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32EFA0-15C5-74BE-D99C-F9F1D907B1C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3DB798B-684B-B331-9678-CAF9CB170740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D5ABF5B-A1A5-11F2-5794-7EBB1E7E8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8F62357-C7EB-F48D-200F-265310874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6222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C9B5B-0D95-EBB0-95BA-A82BA4A1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5A0D36-379D-1F02-8C3D-FBE995A5CD4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F1BEB0-EC82-1584-9EBC-96894BAA4B9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D346DA7-3FE8-47E9-1A4F-8D34543E904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BB1ACC-6158-6845-0028-176E0DCAD8F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A85566-7F2D-28B6-F154-91C8B93F8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851814" cy="356954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272809F-97B0-E473-8B28-AB00369E5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188" y="2004516"/>
            <a:ext cx="5379120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9827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04597-F93E-821B-58E7-7AAFA50D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45F5D7D-01D8-65B4-C04A-CF0DB742243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AC21F6-602E-DF0B-5461-E52E88D1605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B4472-83AF-5CE5-2C37-37C816DC33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E76F09A-D9DB-50A7-E2CB-F58F1109F21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766EBF9-DE25-D9D2-704E-92FFE5D62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86779"/>
            <a:ext cx="3251093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46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C0F47-A07E-AD5D-8C78-66A34A85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D5D540-9466-62B5-C501-26F6DFB5F09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D4A2B94-EA1F-EDC7-476E-0FB7EB6749B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BD82AE-AF79-0B74-63F1-59BB1B09301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F0CC2D-250E-43D1-8C8E-CFA9E7DF5D4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573229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7DAAD-41E2-528F-B305-818EBE4D7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FEF686-F581-C756-0D99-D9B5E980F8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D89110-0EEC-B552-F323-35D2C3A2462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A56459E-123A-EBEC-F87C-4B78AD68C7B0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</a:t>
            </a:r>
            <a:r>
              <a:rPr lang="it-IT" sz="3200" dirty="0" err="1"/>
              <a:t>weighted</a:t>
            </a:r>
            <a:r>
              <a:rPr lang="it-IT" sz="3200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17CBAE4-9B6A-55E6-A7FF-75AC63DDE62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86633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04F10-42A0-1A54-BA62-028E95FCC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9184005-635C-4C43-F1AF-8BE05B398E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73570F4-0674-7179-B545-DBFA3E71007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29DFCBA-9891-67E0-E2D9-831CC81BEDB9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E9414D-7F76-C200-E47F-F22DA413C08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72096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B37B5-6C90-6417-2B9E-D230DFC8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10C53F6-893E-BAF7-3BE0-7636E75FCCB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577CEF-69E3-D875-6777-EB324580E16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D31ECF8-836C-E9D2-5CA5-238EB89E076D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  <a:endParaRPr lang="it-IT" sz="3200" b="1" dirty="0">
              <a:solidFill>
                <a:schemeClr val="bg2">
                  <a:lumMod val="75000"/>
                </a:schemeClr>
              </a:solidFill>
            </a:endParaRP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Grado massimo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AE1F7-3F7D-519E-449C-384EB533D13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960412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9854-7937-FF94-411E-E32EBE8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8F25EE0-3FF0-C238-9B07-C1C9A9AE7E8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52798EE-F0D9-C040-1A2B-199BF850817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NUMERO DI VERTICI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Assunzione: </a:t>
                </a:r>
                <a:r>
                  <a:rPr lang="it-IT" sz="3200" dirty="0"/>
                  <a:t>anziché suddividere l’intervallo {1,…,</a:t>
                </a:r>
                <a:r>
                  <a:rPr lang="it-IT" sz="3200" dirty="0" err="1"/>
                  <a:t>N_max</a:t>
                </a:r>
                <a:r>
                  <a:rPr lang="it-IT" sz="3200" dirty="0"/>
                  <a:t>} in sotto-intervalli, si è preferito fissare dei valori «ragionevolmente distanti tra loro» che potessero fungere da rappresentanti per tali sotto-intervalli.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#vertici della classe 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50 *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3200" i="1" smtClean="0"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3200" b="0" i="1" smtClean="0"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it-IT" sz="3200" b="0" i="1" smtClean="0"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it-IT" sz="32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blipFill>
                <a:blip r:embed="rId2"/>
                <a:stretch>
                  <a:fillRect l="-1919" t="-2452" r="-1371" b="-35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AEEA1D-E930-78E7-46F4-40F6E7EF61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9680086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92F2-A39F-6B56-B16D-C73C2E83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9555159-8CB2-7B07-4EF3-4D02D5A6C5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E1AB727-875C-F086-D167-9F65A25F5E3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67846B3-13FF-5E25-4BF7-D3F271550C03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NUMERO DI VERTICI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200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400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800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CE62D7A-5EE6-46FB-D5D7-6B389F0191E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3392813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E79C4-F9D0-F34C-4BF4-10C1169D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A3947AA-5588-D116-34D4-B606C693F69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4FB8C8-2E70-7BDE-29C5-E4E2EFBF6EA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DENSITÀ DEL GRAFO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Concetto: </a:t>
                </a:r>
                <a:r>
                  <a:rPr lang="it-IT" sz="3200" dirty="0"/>
                  <a:t>è il rapporto tra il numero di archi presenti nel grafo e il numero di archi possibili.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d(G)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smtClean="0"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 smtClean="0"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 smtClean="0"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ctrlPr>
                              <a:rPr lang="it-IT" sz="3200" smtClean="0"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it-IT" sz="3200" smtClean="0"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it-IT" sz="3200" smtClean="0"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3200" b="0" i="0" smtClean="0">
                                          <a:ea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it-IT" sz="3200" b="0" i="0" smtClean="0"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32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32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>
                    <a:ea typeface="Cambria Math" panose="02040503050406030204" pitchFamily="18" charset="0"/>
                  </a:rPr>
                  <a:t>Classi: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0.2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0.5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0.8</a:t>
                </a:r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blipFill>
                <a:blip r:embed="rId2"/>
                <a:stretch>
                  <a:fillRect l="-1919" t="-2138" r="-1371" b="-29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DDEE3579-E63A-A55B-5CA2-C65634EFE29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568336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120BA-4D15-E745-27EC-7E15D7674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171EBE3-E0AB-5704-0CEB-1B5F20742E6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2010490-F577-7C08-8C62-B7E8CD52560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DCF863F-BE38-6E66-B6C0-EC10A5A4494A}"/>
              </a:ext>
            </a:extLst>
          </p:cNvPr>
          <p:cNvSpPr txBox="1"/>
          <p:nvPr/>
        </p:nvSpPr>
        <p:spPr>
          <a:xfrm>
            <a:off x="533399" y="728069"/>
            <a:ext cx="111168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Assunzione: </a:t>
            </a:r>
            <a:r>
              <a:rPr lang="it-IT" sz="3200" dirty="0"/>
              <a:t>anziché utilizzare il grado massimo di un vertice (che è un valore fisso), si è cercato un modo per parametrizzarlo in funzione del numero dei vertici e degli archi del grafo.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Osservazione: </a:t>
            </a:r>
            <a:r>
              <a:rPr lang="it-IT" sz="3200" dirty="0"/>
              <a:t>non è tanto di interesse il valore in sé del grado massimo di un vertice, quanto lo «sbilanciamento» del grafo e la disposizione dei vertici di grado maggiore rispetto a quelli di grado inferiore.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08BBA79-C3AE-6B56-797D-C981F8A73B4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3560043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071F-9272-DC55-0D89-40F436C13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E00DA1-3FBC-1B04-F0CE-51546FE2D10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A3F5A4F-7683-98DA-28C3-B11AC35D2D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FF7A392-E0C5-4E09-093D-0EED36C8000B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Rapporto grado massimo-medio: </a:t>
            </a:r>
            <a:r>
              <a:rPr lang="it-IT" sz="3200" dirty="0"/>
              <a:t>è il rapporto tra il grado massimo tra tutti i vertici e la media del grado di tutti i vertici del grafo.</a:t>
            </a:r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(omogeneità assoluta)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Tra 1.2 e 1.6 (leggero sbilanciamento)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Maggiore di 2 (sbilanciamento evidente)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822831-E080-58BF-31FF-7C3844F29D9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79209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28139-54FB-548A-ADFB-6D5FC6D14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8764A11-C028-62AD-AE63-DD92896A3EA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E43F34A-DFC6-98D9-EE2C-AF5AED71E51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831E679-5002-C657-B24C-F017B4D6E3AF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1E9E7E4-2FAE-427A-DE93-11FB7474358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830983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30F36-403E-F851-35DD-259A9460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5A149BE-D7C6-A01A-61E7-F93E8BC0111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BEFB73-EDE7-ACC1-7369-9D1608F5BCD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1268-8C66-59FE-E44B-2D2F0E107DA6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Variabilità dei pesi dei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Correlazione tra grado e peso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FF0F6C9-DCAB-85F0-DB48-88DE914574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8697630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209B-7043-304F-E41E-E514A658B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E3A7A6-ED4B-A9F8-7D7E-C2E55661E50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54A412D-0290-5106-F40C-3CBCC80E16D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/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VARIABILITÀ DEI PESI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Variabile aleatoria: </a:t>
                </a:r>
                <a:r>
                  <a:rPr lang="it-IT" sz="3200" dirty="0"/>
                  <a:t>si è impiegata una variabile aleatoria uniforme nell’intervallo [</a:t>
                </a:r>
                <a:r>
                  <a:rPr lang="it-IT" sz="3200" dirty="0" err="1"/>
                  <a:t>a,b</a:t>
                </a:r>
                <a:r>
                  <a:rPr lang="it-IT" sz="3200" dirty="0"/>
                  <a:t>] con a = 1.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Varianza: </a:t>
                </a:r>
                <a:r>
                  <a:rPr lang="it-IT" sz="3200" dirty="0"/>
                  <a:t>per aumentare la varianza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smtClean="0"/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it-IT" sz="3200" b="0" i="0" smtClean="0"/>
                          <m:t>(</m:t>
                        </m:r>
                        <m:sSup>
                          <m:sSupPr>
                            <m:ctrlPr>
                              <a:rPr lang="it-IT" sz="3200" smtClean="0"/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/>
                              <m:t>b</m:t>
                            </m:r>
                            <m:r>
                              <a:rPr lang="it-IT" sz="3200" b="0" i="0" smtClean="0"/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it-IT" sz="3200" b="0" i="0" smtClean="0"/>
                              <m:t>a</m:t>
                            </m:r>
                            <m:r>
                              <a:rPr lang="it-IT" sz="3200" b="0" i="0" smtClean="0"/>
                              <m:t>)</m:t>
                            </m:r>
                          </m:e>
                          <m:sup>
                            <m:r>
                              <a:rPr lang="it-IT" sz="3200" b="0" i="0" smtClean="0"/>
                              <m:t>2</m:t>
                            </m:r>
                          </m:sup>
                        </m:sSup>
                      </m:num>
                      <m:den>
                        <m:r>
                          <a:rPr lang="it-IT" sz="3200" b="0" i="0" smtClean="0"/>
                          <m:t>12</m:t>
                        </m:r>
                      </m:den>
                    </m:f>
                  </m:oMath>
                </a14:m>
                <a:r>
                  <a:rPr lang="it-IT" sz="3200" dirty="0"/>
                  <a:t>) si modifica il secondo estremo dell’intervallo.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Classi (valori di b):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10000</a:t>
                </a:r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blipFill>
                <a:blip r:embed="rId2"/>
                <a:stretch>
                  <a:fillRect l="-1919" t="-2034" r="-1371" b="-29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9D3603-D75C-F8F9-FA09-186A36798B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4114985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0A46D-60D4-0C90-1EB7-BB6C6C6FC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5B179D8-ADFF-0FBC-E90C-9782DDCCEFB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5970EF1-9EF5-2FFD-872E-3AD067D41F9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6518C64-F227-6624-FF88-8BDC7F1E65E4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CORRELAZIONE TRA GRADO E PESO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(in base al coefficiente di Spearman):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-1 (correlazione monotona decrescente)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0 (nessuna correlazione)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(correlazione monotona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3C6B9F5-92A2-38DF-FE62-F5B89AA7B9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71671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1C33-3F58-18BF-B814-4E5791EF0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47A4476-A3F8-72D1-876D-9CA3DD348E8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CB6BF83-BD73-51C5-4516-841A8B23DC0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940374B-69D3-4663-1003-A16A937FDBF9}"/>
              </a:ext>
            </a:extLst>
          </p:cNvPr>
          <p:cNvSpPr txBox="1"/>
          <p:nvPr/>
        </p:nvSpPr>
        <p:spPr>
          <a:xfrm>
            <a:off x="533399" y="728069"/>
            <a:ext cx="11116884" cy="275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Il codice implementato </a:t>
            </a:r>
            <a:r>
              <a:rPr lang="it-IT" sz="3200" b="1" dirty="0"/>
              <a:t>non mappa perfettamente </a:t>
            </a:r>
            <a:r>
              <a:rPr lang="it-IT" sz="3200" dirty="0"/>
              <a:t>lo pseudocodice fornito, in quanto sono state fatte alcune considerazioni in termini di ottimizzazione per diminuire il tempo di calcolo e impiegare meno memoria.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4A2D03D-67EF-74FD-C74B-5789DE3188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4365309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7C6D1-EAB5-F8B8-B2D0-03594144E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267A1DB-4101-5BFC-3BB2-3912239CE92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FFFFF16-B0FA-B89A-727A-3E0E4E59624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34FD40F-09DF-5E8F-59CE-6AE882A8705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220094-D0D1-0F26-6B3C-2AD03949E72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FE5EF27-5A59-1247-CA4F-C23A2A151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29FFF527-D3E3-48A9-BEAF-25218801D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42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C469-DC9B-9954-70C8-E26C87F0A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6A9E0C1-CBCF-AB54-A98D-90DF6B1441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F16B493-2C88-A65A-8A2C-0F86B1F75C0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F14F000F-5740-52AC-C7C3-9E2D3A75446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A986DCE-F49A-1A9E-4D79-212E15DA73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57F950F-C7CF-F523-9492-F98AEF8260EA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19D31D-B86D-A671-A9FD-B58A29151B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05C4942-8E67-39E3-0B14-08ABE296E39C}"/>
              </a:ext>
            </a:extLst>
          </p:cNvPr>
          <p:cNvSpPr/>
          <p:nvPr/>
        </p:nvSpPr>
        <p:spPr>
          <a:xfrm>
            <a:off x="533399" y="2836700"/>
            <a:ext cx="10161229" cy="20451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dirty="0"/>
              <a:t>Sebbene l’idea sia la stessa, rimuovere dall’insieme degli archi la stella uscente da un vertice ogni volta che questo viene inserito nella cover è subottimale rispetto a decrementare semplicemente il contatore degli archi.</a:t>
            </a:r>
          </a:p>
        </p:txBody>
      </p:sp>
    </p:spTree>
    <p:extLst>
      <p:ext uri="{BB962C8B-B14F-4D97-AF65-F5344CB8AC3E}">
        <p14:creationId xmlns:p14="http://schemas.microsoft.com/office/powerpoint/2010/main" val="2158829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BA0B6-56B2-ED72-FE07-96912603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E28C53A-CE24-0C52-8B35-936207B8EA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691086-7FB8-C41B-CF61-19EC0FF1D18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AAD23F-8931-BDC5-F213-74BA6BF7A06E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Nella generazione delle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Sebbene matematicamente andrebbe inserito il &lt; 2, si è osservato che la tolleranza di </a:t>
            </a:r>
            <a:r>
              <a:rPr lang="it-IT" sz="3200" dirty="0" err="1"/>
              <a:t>Gurobi</a:t>
            </a:r>
            <a:r>
              <a:rPr lang="it-IT" sz="3200" dirty="0"/>
              <a:t> è di 6 cifre decimali, per evitare loop dovuti a quantità trascurabili si è deciso di considerarne solo 3.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E4ED579-F613-05A2-8948-3E925E1A2E5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43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742655C-F841-B06C-B25D-B332E1EB7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612" y="2992378"/>
            <a:ext cx="8131191" cy="87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0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9A20-E43A-1F21-F073-B9D10212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923138-EA1C-CF47-4D3D-FA3AC08BC8F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74C6CF-998E-A198-8C28-F87E9FA0A84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8C0C367-5681-6726-7023-4E3E2B71F786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B6B7461-15DE-E844-8522-129FFD123F1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44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F3EFA6-900E-C300-954D-8C209DBD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97879"/>
            <a:ext cx="859684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97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3DC49-E87D-7159-1108-EEE96727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EE10947-101A-9954-5F52-530C0691924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0597A4-2145-11C4-FD8B-59CCB92148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E24D50B-B149-D6B4-3DA7-56CBC7ABD6AE}"/>
              </a:ext>
            </a:extLst>
          </p:cNvPr>
          <p:cNvSpPr txBox="1"/>
          <p:nvPr/>
        </p:nvSpPr>
        <p:spPr>
          <a:xfrm>
            <a:off x="533399" y="728069"/>
            <a:ext cx="11116884" cy="423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np.round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gradi_float</a:t>
            </a:r>
            <a:r>
              <a:rPr lang="it-IT" sz="2800" dirty="0">
                <a:latin typeface="Consolas" panose="020B0609020204030204" pitchFamily="49" charset="0"/>
              </a:rPr>
              <a:t>).</a:t>
            </a:r>
            <a:r>
              <a:rPr lang="it-IT" sz="2800" dirty="0" err="1">
                <a:latin typeface="Consolas" panose="020B0609020204030204" pitchFamily="49" charset="0"/>
              </a:rPr>
              <a:t>astype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int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Arrotonda gli eventuali gradi decimali.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np.clip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gradi_int</a:t>
            </a:r>
            <a:r>
              <a:rPr lang="it-IT" sz="2800" dirty="0">
                <a:latin typeface="Consolas" panose="020B0609020204030204" pitchFamily="49" charset="0"/>
              </a:rPr>
              <a:t>, 0, n - 1)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Forza il grado di ogni nodo ad assumere un valore compreso tra 0 e |V|- 1.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6605BC1-0C80-8FDB-BE3C-2BF0DB2EF7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992482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F77FF-6A6E-B053-68F9-33D6A2635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9307781-5909-5C06-9E77-BB842D1F2FE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A2BF1B-6C74-0E58-96C3-211D9647308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6CBDE75-193D-27BA-0D5B-A4D963F627A7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 si sono generati dei gradi incompatibili con l’</a:t>
            </a:r>
            <a:r>
              <a:rPr lang="it-IT" sz="3200" dirty="0" err="1"/>
              <a:t>handshaking</a:t>
            </a:r>
            <a:r>
              <a:rPr lang="it-IT" sz="3200" dirty="0"/>
              <a:t> lemma si prende un vertice qualsiasi e, se non ha già grado massimo, si aumenta il suo grado di 1.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1C58B9-94E0-9144-0FAE-70F14FEA01C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A92D987-9E64-491B-BF0C-C11065775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706849"/>
            <a:ext cx="10636681" cy="1444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194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7F99D-A595-5AB1-5CF8-A49CDC337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7DBA301-ABF0-401A-692D-F8501E7B725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4363F1-FF69-78DF-20A6-434E372595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36B604C-2121-753C-FD74-CD61E84AC794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costruisce il </a:t>
            </a:r>
            <a:r>
              <a:rPr lang="it-IT" sz="3200" dirty="0" err="1"/>
              <a:t>multigrafo</a:t>
            </a:r>
            <a:r>
              <a:rPr lang="it-IT" sz="3200" dirty="0"/>
              <a:t> in base ai gradi generati, si rimuovono gli archi duplicati e i self loop.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D0A8CDE-8214-9E22-360A-045AFF5BF3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CDC0678-81E1-63DE-BCC0-6BEABFAC5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532708"/>
            <a:ext cx="8410736" cy="142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10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FF01-38AB-BF5A-9E88-BAAD0364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6A96D0-CAF4-C273-C765-4A46E9D2C9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66FE574-6776-F4BD-CD56-5DCABEB010C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C2C3A32-E256-E9B3-BC30-0186A1010A0A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53D62D5-FE43-A6F4-2EBA-0FD584BE014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44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3ABDD6E-A179-B13F-D76E-9DAC10CB63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40"/>
          <a:stretch>
            <a:fillRect/>
          </a:stretch>
        </p:blipFill>
        <p:spPr>
          <a:xfrm>
            <a:off x="533399" y="1974106"/>
            <a:ext cx="9397182" cy="382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08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D8080-B743-2B78-AC09-5BA7DD72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0626E60-66BA-F808-C30F-92A951636DD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06D154A-DABC-05E1-8835-62E9671A85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7A410F-54BA-AD42-9426-5EF5B3E5EB9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4DBC72A-860D-A0AC-B162-252165AD586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44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ECF66FD-530E-E959-DA32-EDBB5A48A0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169"/>
          <a:stretch>
            <a:fillRect/>
          </a:stretch>
        </p:blipFill>
        <p:spPr>
          <a:xfrm>
            <a:off x="533399" y="2078682"/>
            <a:ext cx="10793496" cy="331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90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6A4D-DE3D-A16A-9AF9-7374B86DB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CD9D98-CFBB-70FF-140F-E428D4D2BE9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088094-58BF-08BC-A232-ADB0B7BE2F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densita_target</a:t>
                </a:r>
                <a:r>
                  <a:rPr lang="it-IT" sz="2800" dirty="0">
                    <a:latin typeface="Consolas" panose="020B0609020204030204" pitchFamily="49" charset="0"/>
                  </a:rPr>
                  <a:t> * (n - 1)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Se la densità 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2800" dirty="0">
                    <a:ea typeface="Cambria Math" panose="02040503050406030204" pitchFamily="18" charset="0"/>
                  </a:rPr>
                  <a:t> 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La moltiplicazione per |V|-1 restituisce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</m:den>
                    </m:f>
                  </m:oMath>
                </a14:m>
                <a:endParaRPr lang="it-IT" sz="2800" dirty="0">
                  <a:ea typeface="Cambria Math" panose="02040503050406030204" pitchFamily="18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Per l’</a:t>
                </a:r>
                <a:r>
                  <a:rPr lang="it-IT" sz="2800" dirty="0" err="1">
                    <a:ea typeface="Cambria Math" panose="02040503050406030204" pitchFamily="18" charset="0"/>
                  </a:rPr>
                  <a:t>Handshaking</a:t>
                </a:r>
                <a:r>
                  <a:rPr lang="it-IT" sz="2800" dirty="0">
                    <a:ea typeface="Cambria Math" panose="02040503050406030204" pitchFamily="18" charset="0"/>
                  </a:rPr>
                  <a:t> Lemma la somma dei gradi di tutti i vertici è esattamente 2|E|, pertanto il rapporto ottenuto è il grado medio.</a:t>
                </a:r>
                <a:endParaRPr lang="it-IT" sz="3200" b="1" dirty="0"/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blipFill>
                <a:blip r:embed="rId2"/>
                <a:stretch>
                  <a:fillRect l="-1919" t="-2320" r="-1371" b="-25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A6BAE02-12A7-DB65-A526-F078DBFE15E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3538459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A09D4-D117-28D9-6253-B4DA12CE8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F8ADEB-9A3A-CD51-F4BC-E122302BF66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D0880C7-8535-68E7-8EA0-476753782CC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63504A-B561-395B-8F3E-2414883E45B5}"/>
              </a:ext>
            </a:extLst>
          </p:cNvPr>
          <p:cNvSpPr txBox="1"/>
          <p:nvPr/>
        </p:nvSpPr>
        <p:spPr>
          <a:xfrm>
            <a:off x="533399" y="728069"/>
            <a:ext cx="11116884" cy="527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2800" dirty="0"/>
              <a:t>Se è si sta considerando un rapporto grado massimo/grado medio di 1 (classe 0) allora si usa la primitiva che genera un grafo di n nodi, tutti con stesso grado, pari al valore medio trovato. Da notare l’arrotondamento e la modifica del grado se si viola l’</a:t>
            </a:r>
            <a:r>
              <a:rPr lang="it-IT" sz="2800" dirty="0" err="1"/>
              <a:t>Handshaking</a:t>
            </a:r>
            <a:r>
              <a:rPr lang="it-IT" sz="2800" dirty="0"/>
              <a:t> Lemma.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111EB55-7D1F-1CCA-AFCF-E1275C20BAB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D4A719A-1DFB-9E51-2B0F-E6AFCF2D07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66" b="70581"/>
          <a:stretch>
            <a:fillRect/>
          </a:stretch>
        </p:blipFill>
        <p:spPr>
          <a:xfrm>
            <a:off x="533399" y="2529465"/>
            <a:ext cx="10127598" cy="1462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74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19B3B-FB8E-C5A6-9BDE-D35B5983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CB98510-44D4-2C4B-8DD1-C758BCCE573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4CDE8D-B5A2-F3F2-7BD8-9B307A68CA1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smtClean="0"/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800" b="0" i="0" smtClean="0"/>
                          <m:t>deg</m:t>
                        </m:r>
                        <m:r>
                          <a:rPr lang="it-IT" sz="2800" b="0" i="0" smtClean="0"/>
                          <m:t>_</m:t>
                        </m:r>
                        <m:r>
                          <m:rPr>
                            <m:sty m:val="p"/>
                          </m:rPr>
                          <a:rPr lang="it-IT" sz="2800" b="0" i="0" smtClean="0"/>
                          <m:t>max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it-IT" sz="2800" b="0" i="0" smtClean="0"/>
                          <m:t>deg</m:t>
                        </m:r>
                        <m:r>
                          <a:rPr lang="it-IT" sz="2800" b="0" i="0" smtClean="0"/>
                          <m:t>⁡_</m:t>
                        </m:r>
                        <m:r>
                          <m:rPr>
                            <m:sty m:val="p"/>
                          </m:rPr>
                          <a:rPr lang="it-IT" sz="2800" b="0" i="0" smtClean="0"/>
                          <m:t>medio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Per una normale: </a:t>
                </a:r>
                <a:r>
                  <a:rPr lang="it-IT" sz="2800" dirty="0" err="1"/>
                  <a:t>val_max</a:t>
                </a:r>
                <a14:m>
                  <m:oMath xmlns:m="http://schemas.openxmlformats.org/officeDocument/2006/math">
                    <m:r>
                      <a:rPr lang="it-IT" sz="2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r>
                      <a:rPr lang="it-IT" sz="2800" i="1" dirty="0" smtClean="0"/>
                      <m:t>𝜇</m:t>
                    </m:r>
                  </m:oMath>
                </a14:m>
                <a:r>
                  <a:rPr lang="it-IT" sz="2800" dirty="0"/>
                  <a:t> + 3 </a:t>
                </a:r>
                <a14:m>
                  <m:oMath xmlns:m="http://schemas.openxmlformats.org/officeDocument/2006/math">
                    <m:r>
                      <a:rPr lang="it-IT" sz="2800" i="1" dirty="0"/>
                      <m:t>𝜎</m:t>
                    </m:r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Quindi H </a:t>
                </a:r>
                <a14:m>
                  <m:oMath xmlns:m="http://schemas.openxmlformats.org/officeDocument/2006/math">
                    <m:r>
                      <a:rPr lang="it-IT" sz="2800" dirty="0"/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/>
                        </m:ctrlPr>
                      </m:fPr>
                      <m:num>
                        <m:r>
                          <a:rPr lang="it-IT" sz="2800" i="1" dirty="0"/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/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/>
                          <m:t>𝜇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è imposto H </a:t>
                </a:r>
                <a14:m>
                  <m:oMath xmlns:m="http://schemas.openxmlformats.org/officeDocument/2006/math">
                    <m:r>
                      <a:rPr lang="it-IT" sz="28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800" dirty="0"/>
                  <a:t> [1.2, 1.6], si considera H </a:t>
                </a:r>
                <a14:m>
                  <m:oMath xmlns:m="http://schemas.openxmlformats.org/officeDocument/2006/math">
                    <m:r>
                      <a:rPr lang="it-IT" sz="2800" dirty="0"/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/>
                        </m:ctrlPr>
                      </m:fPr>
                      <m:num>
                        <m:r>
                          <a:rPr lang="it-IT" sz="2800" b="0" i="1" dirty="0" smtClean="0"/>
                          <m:t>1.2+1.6</m:t>
                        </m:r>
                      </m:num>
                      <m:den>
                        <m:r>
                          <a:rPr lang="it-IT" sz="2800" b="0" i="1" dirty="0" smtClean="0"/>
                          <m:t>2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it-IT" sz="2800" dirty="0"/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blipFill>
                <a:blip r:embed="rId2"/>
                <a:stretch>
                  <a:fillRect l="-1919" t="-1938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D05DB3-C970-D1A6-1AE7-6910833E8DA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443048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CAAF-8AC0-1F66-6FDD-CF4A0601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FE13DA3-D080-7D60-EE6C-6566E69686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1781592-AD6A-FC20-E465-50DCAC4D193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</a:t>
                </a:r>
                <a14:m>
                  <m:oMath xmlns:m="http://schemas.openxmlformats.org/officeDocument/2006/math">
                    <m:r>
                      <a:rPr lang="it-IT" sz="2800" dirty="0"/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/>
                        </m:ctrlPr>
                      </m:fPr>
                      <m:num>
                        <m:r>
                          <a:rPr lang="it-IT" sz="2800" i="1" dirty="0"/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/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/>
                          <m:t>𝜇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ottiene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0.1333 </a:t>
                </a:r>
                <a14:m>
                  <m:oMath xmlns:m="http://schemas.openxmlformats.org/officeDocument/2006/math"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0.14</a:t>
                </a:r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blipFill>
                <a:blip r:embed="rId2"/>
                <a:stretch>
                  <a:fillRect l="-1919" t="-3056" r="-1371" b="-390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B93A321C-4C89-1EE5-C483-DCA41D2EA5E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3204728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03C0D-6076-EDDA-DA62-3FFD560D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0DA4FF2-7B5D-EDBE-99E5-1CC39E1E32F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A63AD9D-B169-C12A-2A0C-144AF23F63F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28465C-1A6E-7D80-5C6C-3E04F17A1A6B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utilizza una normale perché è una variabile aleatoria la cui varianza non si ottiene in modo matematico a partire dalla media (si può modificare a piacimento mantenendo la media fissa).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B63DFD3-C9E3-9EFF-F47F-CFF1391A68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1D6FA59-3C57-891A-8CE1-008016D91F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189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6480-952B-64F4-A6F1-2A3C6F4A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55701AC-B281-177B-E34B-2D05E1DFD5C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F5DA2ED-1184-EC35-4B8F-852A10EDD91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6F00-067E-6B6F-D477-6B170BC95B03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H è il rapporto tra grado massimo e grado medio, ci si assicura che sia effettivamente nel range desiderato prima di restituire il grafo, altrimenti si ritenta.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82D39D7-BAD0-50EA-E118-D87D27BBF02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C112F92-E2B2-5244-04DB-953F9DAD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532" b="42032"/>
          <a:stretch>
            <a:fillRect/>
          </a:stretch>
        </p:blipFill>
        <p:spPr>
          <a:xfrm>
            <a:off x="533399" y="2400026"/>
            <a:ext cx="8958013" cy="182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CFB16-CD44-8F68-68CD-C5E1B269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0A8AE32-0780-7822-6118-D31FEAD5BB7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D9FC11-2826-F6C8-6EA5-657B39AF2FC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3DB7FBF-CD28-FD5C-D5FA-07B80298E5EF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79393B7-D253-A9F9-8D4E-08595C2D48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44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14A99AA-BDB9-0BEF-31E4-180CBE2590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169" b="9599"/>
          <a:stretch>
            <a:fillRect/>
          </a:stretch>
        </p:blipFill>
        <p:spPr>
          <a:xfrm>
            <a:off x="533399" y="2562423"/>
            <a:ext cx="10793496" cy="2570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350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D297-4470-38E5-2AB5-46E50A8A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E7810D1-FD17-8745-1333-FB2E63E1402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6B6016E-1A12-F162-DB81-0A7989F5AE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D517088-8C50-9170-EE17-60CA7032B409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38AC24C-30E3-D110-5D00-A726F93EFEE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ED1FB0-DF7D-A100-B675-CF9D15B1B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9879"/>
            <a:ext cx="10065843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255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B634-8209-CA46-78B9-2EF8E66C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191355-EE95-7DC9-8606-E0398443B33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E226EC6-94C2-2211-5A8F-0DC7EE7EC4F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9A9EFCB-3909-4B0F-9FBA-62628197E7F7}"/>
              </a:ext>
            </a:extLst>
          </p:cNvPr>
          <p:cNvSpPr txBox="1"/>
          <p:nvPr/>
        </p:nvSpPr>
        <p:spPr>
          <a:xfrm>
            <a:off x="533399" y="728069"/>
            <a:ext cx="11116884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nx.erdos_renyi_graph</a:t>
            </a:r>
            <a:r>
              <a:rPr lang="it-IT" sz="2800" dirty="0">
                <a:latin typeface="Consolas" panose="020B0609020204030204" pitchFamily="49" charset="0"/>
              </a:rPr>
              <a:t>(n, p=</a:t>
            </a:r>
            <a:r>
              <a:rPr lang="it-IT" sz="2800" dirty="0" err="1">
                <a:latin typeface="Consolas" panose="020B0609020204030204" pitchFamily="49" charset="0"/>
              </a:rPr>
              <a:t>densita_target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Genera un grafo dato il numero di nodi e la densità; usa la densità come probabilità per generare gli archi.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np.random.randint</a:t>
            </a:r>
            <a:r>
              <a:rPr lang="it-IT" sz="2800" dirty="0">
                <a:latin typeface="Consolas" panose="020B0609020204030204" pitchFamily="49" charset="0"/>
              </a:rPr>
              <a:t>(1, </a:t>
            </a:r>
            <a:r>
              <a:rPr lang="it-IT" sz="2800" dirty="0" err="1">
                <a:latin typeface="Consolas" panose="020B0609020204030204" pitchFamily="49" charset="0"/>
              </a:rPr>
              <a:t>variabilita_peso</a:t>
            </a:r>
            <a:r>
              <a:rPr lang="it-IT" sz="2800" dirty="0">
                <a:latin typeface="Consolas" panose="020B0609020204030204" pitchFamily="49" charset="0"/>
              </a:rPr>
              <a:t> + 1, size=n)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Estrae valori da una variabile aleatoria uniforme; è stato necessario aumentare di 1 il valore del secondo parametro perché la funzione genera nativamente valori nell’intervallo [</a:t>
            </a:r>
            <a:r>
              <a:rPr lang="it-IT" sz="2800" dirty="0" err="1"/>
              <a:t>primo_parametro</a:t>
            </a:r>
            <a:r>
              <a:rPr lang="it-IT" sz="2800" dirty="0"/>
              <a:t>, </a:t>
            </a:r>
            <a:r>
              <a:rPr lang="it-IT" sz="2800" dirty="0" err="1"/>
              <a:t>secondo_parametro</a:t>
            </a:r>
            <a:r>
              <a:rPr lang="it-IT" sz="2800" dirty="0"/>
              <a:t>).</a:t>
            </a:r>
            <a:r>
              <a:rPr lang="it-IT" sz="2800" b="1" dirty="0">
                <a:solidFill>
                  <a:srgbClr val="990000"/>
                </a:solidFill>
              </a:rPr>
              <a:t> 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434FF3-51BA-3ED6-F46B-5DACAE28896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2845642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</TotalTime>
  <Words>2009</Words>
  <Application>Microsoft Office PowerPoint</Application>
  <PresentationFormat>Widescreen</PresentationFormat>
  <Paragraphs>378</Paragraphs>
  <Slides>60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60</vt:i4>
      </vt:variant>
    </vt:vector>
  </HeadingPairs>
  <TitlesOfParts>
    <vt:vector size="65" baseType="lpstr">
      <vt:lpstr>Arial</vt:lpstr>
      <vt:lpstr>Calibri</vt:lpstr>
      <vt:lpstr>Cambria Math</vt:lpstr>
      <vt:lpstr>Consolas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Gianpaolo Pestilli</dc:creator>
  <cp:lastModifiedBy>Gianpaolo Pestilli</cp:lastModifiedBy>
  <cp:revision>26</cp:revision>
  <dcterms:created xsi:type="dcterms:W3CDTF">2026-06-12T20:11:00Z</dcterms:created>
  <dcterms:modified xsi:type="dcterms:W3CDTF">2026-06-25T19:22:47Z</dcterms:modified>
</cp:coreProperties>
</file>