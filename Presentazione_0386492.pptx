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5" r:id="rId46"/>
    <p:sldId id="302" r:id="rId47"/>
    <p:sldId id="308" r:id="rId48"/>
    <p:sldId id="309" r:id="rId49"/>
    <p:sldId id="310" r:id="rId50"/>
    <p:sldId id="306" r:id="rId51"/>
    <p:sldId id="307" r:id="rId52"/>
    <p:sldId id="311" r:id="rId53"/>
    <p:sldId id="312" r:id="rId54"/>
    <p:sldId id="313" r:id="rId55"/>
    <p:sldId id="315" r:id="rId56"/>
    <p:sldId id="316" r:id="rId57"/>
    <p:sldId id="314" r:id="rId58"/>
    <p:sldId id="317" r:id="rId59"/>
    <p:sldId id="303" r:id="rId60"/>
    <p:sldId id="304" r:id="rId61"/>
    <p:sldId id="318" r:id="rId62"/>
    <p:sldId id="319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45" r:id="rId73"/>
    <p:sldId id="320" r:id="rId74"/>
    <p:sldId id="330" r:id="rId75"/>
    <p:sldId id="331" r:id="rId76"/>
    <p:sldId id="332" r:id="rId77"/>
    <p:sldId id="333" r:id="rId78"/>
    <p:sldId id="334" r:id="rId79"/>
    <p:sldId id="337" r:id="rId80"/>
    <p:sldId id="338" r:id="rId81"/>
    <p:sldId id="339" r:id="rId82"/>
    <p:sldId id="340" r:id="rId83"/>
    <p:sldId id="341" r:id="rId84"/>
    <p:sldId id="342" r:id="rId85"/>
    <p:sldId id="343" r:id="rId86"/>
    <p:sldId id="344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29/06/2026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29/06/2026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29/06/2026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29/06/2026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anpaolo-pestilli/amod_project.git" TargetMode="Externa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a partire da un ciclo di lunghezza dispari (2k+1) non è possibile scegliere più di k vertici 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Considerazione: </a:t>
            </a:r>
            <a:r>
              <a:rPr lang="it-IT" sz="3200" dirty="0"/>
              <a:t>nel modello di PLI la x[i] relativa al vertice i vale 1 se quel vertice è stato inserito nella cover. Nel modello rilassato la x[i] può assumere valori frazionari.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50821A6-60A4-D071-9460-0357233E6C11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Conseguenza: </a:t>
            </a:r>
            <a:r>
              <a:rPr lang="it-IT" sz="3200" dirty="0"/>
              <a:t>somme di x[i] a valore frazionario potrebbero violare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inqualities</a:t>
            </a:r>
            <a:r>
              <a:rPr lang="it-IT" sz="3200" dirty="0"/>
              <a:t>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Applicazione: </a:t>
            </a:r>
            <a:r>
              <a:rPr lang="it-IT" sz="3200" dirty="0"/>
              <a:t>si potrebbe aggiungere un vincolo in più al modello di PL per ogni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inequality</a:t>
            </a:r>
            <a:r>
              <a:rPr lang="it-IT" sz="3200" dirty="0"/>
              <a:t> che deriva da un ciclo di lunghezza dispari.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30790-CA9E-46C8-B79E-2C880476D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1A564E7-D61A-3689-0E67-C7CE0AADE6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05053A-FB04-3D98-B7E3-A6725328FDD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A4171D-448C-DEF1-81DC-A8E37FFA789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16673-81A7-D354-1165-75AC074028F5}"/>
              </a:ext>
            </a:extLst>
          </p:cNvPr>
          <p:cNvSpPr txBox="1"/>
          <p:nvPr/>
        </p:nvSpPr>
        <p:spPr>
          <a:xfrm>
            <a:off x="533399" y="728069"/>
            <a:ext cx="11116884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Implementazione nel progetto: </a:t>
            </a:r>
            <a:r>
              <a:rPr lang="it-IT" sz="3200" dirty="0"/>
              <a:t>ci si è concentrati solo sui cicli dispari di lunghezza minore possibile (triangoli).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Utilizzo: </a:t>
            </a:r>
            <a:r>
              <a:rPr lang="it-IT" sz="3200" dirty="0"/>
              <a:t>dato che il numero di vertici del grafo non è noto a priori, si preferisce inserire gruppi di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applicando uno schema simile al cutting </a:t>
            </a:r>
            <a:r>
              <a:rPr lang="it-IT" sz="3200" dirty="0" err="1"/>
              <a:t>plane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637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7DAAD-41E2-528F-B305-818EBE4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FEF686-F581-C756-0D99-D9B5E980F8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D89110-0EEC-B552-F323-35D2C3A2462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56459E-123A-EBEC-F87C-4B78AD68C7B0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</a:t>
            </a:r>
            <a:r>
              <a:rPr lang="it-IT" sz="3200" dirty="0" err="1"/>
              <a:t>weighted</a:t>
            </a:r>
            <a:r>
              <a:rPr lang="it-IT" sz="3200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17CBAE4-9B6A-55E6-A7FF-75AC63DDE6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6633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04F10-42A0-1A54-BA62-028E95FC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9184005-635C-4C43-F1AF-8BE05B398E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3570F4-0674-7179-B545-DBFA3E71007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29DFCBA-9891-67E0-E2D9-831CC81BEDB9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E9414D-7F76-C200-E47F-F22DA413C08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72096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37B5-6C90-6417-2B9E-D230DFC8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10C53F6-893E-BAF7-3BE0-7636E75FCCB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577CEF-69E3-D875-6777-EB324580E16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31ECF8-836C-E9D2-5CA5-238EB89E076D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  <a:endParaRPr lang="it-IT" sz="3200" b="1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Grado massimo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AE1F7-3F7D-519E-449C-384EB533D13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60412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9854-7937-FF94-411E-E32EBE8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8F25EE0-3FF0-C238-9B07-C1C9A9AE7E8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52798EE-F0D9-C040-1A2B-199BF850817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NUMERO DI VERTICI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Assunzione: </a:t>
                </a:r>
                <a:r>
                  <a:rPr lang="it-IT" sz="3200" dirty="0"/>
                  <a:t>anziché suddividere l’intervallo {1,…,</a:t>
                </a:r>
                <a:r>
                  <a:rPr lang="it-IT" sz="3200" dirty="0" err="1"/>
                  <a:t>N_max</a:t>
                </a:r>
                <a:r>
                  <a:rPr lang="it-IT" sz="3200" dirty="0"/>
                  <a:t>} in sotto-intervalli, si è preferito fissare dei valori «ragionevolmente distanti tra loro» che potessero fungere da rappresentanti per tali sotto-intervalli.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#vertici della classe 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50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it-IT" sz="32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blipFill>
                <a:blip r:embed="rId2"/>
                <a:stretch>
                  <a:fillRect l="-1919" t="-2452" r="-1371" b="-35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AEEA1D-E930-78E7-46F4-40F6E7EF61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96800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F2-A39F-6B56-B16D-C73C2E83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555159-8CB2-7B07-4EF3-4D02D5A6C5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1AB727-875C-F086-D167-9F65A25F5E3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46B3-13FF-5E25-4BF7-D3F271550C03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NUMERO DI VERTICI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200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400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CE62D7A-5EE6-46FB-D5D7-6B389F0191E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39281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E79C4-F9D0-F34C-4BF4-10C1169D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A3947AA-5588-D116-34D4-B606C693F69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4FB8C8-2E70-7BDE-29C5-E4E2EFBF6EA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DENSITÀ DEL GRAFO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Concetto: </a:t>
                </a:r>
                <a:r>
                  <a:rPr lang="it-IT" sz="3200" dirty="0"/>
                  <a:t>è il rapporto tra il numero di archi presenti nel grafo e il numero di archi possibili.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d(G)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it-IT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it-IT" sz="3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3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it-IT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>
                    <a:ea typeface="Cambria Math" panose="02040503050406030204" pitchFamily="18" charset="0"/>
                  </a:rPr>
                  <a:t>Classi: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0.2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0.5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0.8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blipFill>
                <a:blip r:embed="rId2"/>
                <a:stretch>
                  <a:fillRect l="-1919" t="-2138" r="-1371" b="-2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DDEE3579-E63A-A55B-5CA2-C65634EFE29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6833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20BA-4D15-E745-27EC-7E15D7674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71EBE3-E0AB-5704-0CEB-1B5F20742E6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2010490-F577-7C08-8C62-B7E8CD52560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DCF863F-BE38-6E66-B6C0-EC10A5A4494A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Assunzione: </a:t>
            </a:r>
            <a:r>
              <a:rPr lang="it-IT" sz="3200" dirty="0"/>
              <a:t>anziché utilizzare il grado massimo di un vertice (che è un valore fisso), si è cercato un modo per parametrizzarlo in funzione del numero dei vertici e degli archi del grafo.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non è tanto di interesse il valore in sé del grado massimo di un vertice, quanto lo «sbilanciamento» del grafo e la disposizione dei vertici di grado maggiore rispetto a quelli di grado inferiore.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08BBA79-C3AE-6B56-797D-C981F8A73B4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356004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71F-9272-DC55-0D89-40F436C13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E00DA1-3FBC-1B04-F0CE-51546FE2D10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3F5A4F-7683-98DA-28C3-B11AC35D2D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F7A392-E0C5-4E09-093D-0EED36C8000B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Rapporto grado massimo-medio: </a:t>
            </a:r>
            <a:r>
              <a:rPr lang="it-IT" sz="3200" dirty="0"/>
              <a:t>è il rapporto tra il grado massimo tra tutti i vertici e la media del grado di tutti i vertici del grafo.</a:t>
            </a:r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(omogeneità assoluta)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Tra 1.2 e 1.6 (leggero sbilanciamento)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Maggiore di 2 (sbilanciamento evidente)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22831-E080-58BF-31FF-7C3844F29D9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79209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8139-54FB-548A-ADFB-6D5FC6D14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8764A11-C028-62AD-AE63-DD92896A3E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E43F34A-DFC6-98D9-EE2C-AF5AED71E51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31E679-5002-C657-B24C-F017B4D6E3AF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E9E7E4-2FAE-427A-DE93-11FB747435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830983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0F36-403E-F851-35DD-259A946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5A149BE-D7C6-A01A-61E7-F93E8BC011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BEFB73-EDE7-ACC1-7369-9D1608F5BCD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1268-8C66-59FE-E44B-2D2F0E107DA6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Variabilità dei pesi dei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Correlazione tra grado e peso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FF0F6C9-DCAB-85F0-DB48-88DE914574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869763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209B-7043-304F-E41E-E514A658B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E3A7A6-ED4B-A9F8-7D7E-C2E55661E50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4A412D-0290-5106-F40C-3CBCC80E16D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/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VARIABILITÀ DEI PESI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Variabile aleatoria: </a:t>
                </a:r>
                <a:r>
                  <a:rPr lang="it-IT" sz="3200" dirty="0"/>
                  <a:t>si è impiegata una variabile aleatoria uniforme nell’intervallo [</a:t>
                </a:r>
                <a:r>
                  <a:rPr lang="it-IT" sz="3200" dirty="0" err="1"/>
                  <a:t>a,b</a:t>
                </a:r>
                <a:r>
                  <a:rPr lang="it-IT" sz="3200" dirty="0"/>
                  <a:t>] con a = 1.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Varianza: </a:t>
                </a:r>
                <a:r>
                  <a:rPr lang="it-IT" sz="3200" dirty="0"/>
                  <a:t>per aumentare la varianza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 (</m:t>
                        </m:r>
                        <m:sSup>
                          <m:sSupPr>
                            <m:ctrlPr>
                              <a:rPr lang="it-IT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lang="it-IT" sz="3200" dirty="0"/>
                  <a:t>) si modifica il secondo estremo dell’intervallo.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Classi (valori di b):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10000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blipFill>
                <a:blip r:embed="rId2"/>
                <a:stretch>
                  <a:fillRect l="-1919" t="-2034" r="-1371" b="-29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9D3603-D75C-F8F9-FA09-186A36798B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114985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A46D-60D4-0C90-1EB7-BB6C6C6F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5B179D8-ADFF-0FBC-E90C-9782DDCCEFB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970EF1-9EF5-2FFD-872E-3AD067D41F9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518C64-F227-6624-FF88-8BDC7F1E65E4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CORRELAZIONE TRA GRADO E PESO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(in base al coefficiente di Spearman):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-1 (correlazione monotona decrescente)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0 (nessuna correlazione)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(correlazione monotona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3C6B9F5-92A2-38DF-FE62-F5B89AA7B9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71671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1C33-3F58-18BF-B814-4E5791EF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7A4476-A3F8-72D1-876D-9CA3DD348E8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CB6BF83-BD73-51C5-4516-841A8B23DC0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940374B-69D3-4663-1003-A16A937FDBF9}"/>
              </a:ext>
            </a:extLst>
          </p:cNvPr>
          <p:cNvSpPr txBox="1"/>
          <p:nvPr/>
        </p:nvSpPr>
        <p:spPr>
          <a:xfrm>
            <a:off x="533399" y="728069"/>
            <a:ext cx="11116884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Il codice implementato </a:t>
            </a:r>
            <a:r>
              <a:rPr lang="it-IT" sz="3200" b="1" dirty="0"/>
              <a:t>non mappa perfettamente </a:t>
            </a:r>
            <a:r>
              <a:rPr lang="it-IT" sz="3200" dirty="0"/>
              <a:t>lo pseudocodice fornito, in quanto sono state fatte alcune considerazioni in termini di ottimizzazione per diminuire il tempo di calcolo e impiegare meno memoria.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A2D03D-67EF-74FD-C74B-5789DE3188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4365309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C6D1-EAB5-F8B8-B2D0-03594144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267A1DB-4101-5BFC-3BB2-3912239CE92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FFFFF16-B0FA-B89A-727A-3E0E4E59624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34FD40F-09DF-5E8F-59CE-6AE882A8705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220094-D0D1-0F26-6B3C-2AD03949E7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E5EF27-5A59-1247-CA4F-C23A2A15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29FFF527-D3E3-48A9-BEAF-25218801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C469-DC9B-9954-70C8-E26C87F0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A9E0C1-CBCF-AB54-A98D-90DF6B144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F16B493-2C88-A65A-8A2C-0F86B1F75C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F14F000F-5740-52AC-C7C3-9E2D3A75446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986DCE-F49A-1A9E-4D79-212E15DA73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7F950F-C7CF-F523-9492-F98AEF8260E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19D31D-B86D-A671-A9FD-B58A29151B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05C4942-8E67-39E3-0B14-08ABE296E39C}"/>
              </a:ext>
            </a:extLst>
          </p:cNvPr>
          <p:cNvSpPr/>
          <p:nvPr/>
        </p:nvSpPr>
        <p:spPr>
          <a:xfrm>
            <a:off x="533399" y="2836700"/>
            <a:ext cx="10161229" cy="20451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dirty="0"/>
              <a:t>Sebbene l’idea sia la stessa, rimuovere dall’insieme degli archi la stella uscente da un vertice ogni volta che questo viene inserito nella cover è subottimale rispetto a decrementare semplicemente il contatore degli archi.</a:t>
            </a:r>
          </a:p>
        </p:txBody>
      </p:sp>
    </p:spTree>
    <p:extLst>
      <p:ext uri="{BB962C8B-B14F-4D97-AF65-F5344CB8AC3E}">
        <p14:creationId xmlns:p14="http://schemas.microsoft.com/office/powerpoint/2010/main" val="215882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A0B6-56B2-ED72-FE07-96912603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E28C53A-CE24-0C52-8B35-936207B8EA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691086-7FB8-C41B-CF61-19EC0FF1D18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AAD23F-8931-BDC5-F213-74BA6BF7A06E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Nella generazione delle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Sebbene matematicamente andrebbe inserito il &lt; 2, si è osservato che la tolleranza del solver è di 6 cifre decimali, per evitare loop dovuti a quantità trascurabili si è deciso di considerarne solo 3.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E4ED579-F613-05A2-8948-3E925E1A2E5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43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742655C-F841-B06C-B25D-B332E1EB7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12" y="2992378"/>
            <a:ext cx="8131191" cy="87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0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9A20-E43A-1F21-F073-B9D10212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23138-EA1C-CF47-4D3D-FA3AC08BC8F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74C6CF-998E-A198-8C28-F87E9FA0A84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8C0C367-5681-6726-7023-4E3E2B71F786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6B7461-15DE-E844-8522-129FFD123F1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F3EFA6-900E-C300-954D-8C209DBD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97879"/>
            <a:ext cx="859684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97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DC49-E87D-7159-1108-EEE96727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EE10947-101A-9954-5F52-530C0691924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0597A4-2145-11C4-FD8B-59CCB92148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24D50B-B149-D6B4-3DA7-56CBC7ABD6AE}"/>
              </a:ext>
            </a:extLst>
          </p:cNvPr>
          <p:cNvSpPr txBox="1"/>
          <p:nvPr/>
        </p:nvSpPr>
        <p:spPr>
          <a:xfrm>
            <a:off x="533399" y="728069"/>
            <a:ext cx="1111688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np.round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gradi_float</a:t>
            </a:r>
            <a:r>
              <a:rPr lang="it-IT" sz="2800" dirty="0">
                <a:latin typeface="Consolas" panose="020B0609020204030204" pitchFamily="49" charset="0"/>
              </a:rPr>
              <a:t>).</a:t>
            </a:r>
            <a:r>
              <a:rPr lang="it-IT" sz="2800" dirty="0" err="1">
                <a:latin typeface="Consolas" panose="020B0609020204030204" pitchFamily="49" charset="0"/>
              </a:rPr>
              <a:t>astype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int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Arrotonda gli eventuali gradi decimali.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np.clip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gradi_int</a:t>
            </a:r>
            <a:r>
              <a:rPr lang="it-IT" sz="2800" dirty="0">
                <a:latin typeface="Consolas" panose="020B0609020204030204" pitchFamily="49" charset="0"/>
              </a:rPr>
              <a:t>, 0, n - 1)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Forza il grado di ogni nodo ad assumere un valore compreso tra 0 e |V|- 1.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605BC1-0C80-8FDB-BE3C-2BF0DB2EF7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992482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F77FF-6A6E-B053-68F9-33D6A2635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9307781-5909-5C06-9E77-BB842D1F2FE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A2BF1B-6C74-0E58-96C3-211D9647308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6CBDE75-193D-27BA-0D5B-A4D963F627A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 si sono generati dei gradi incompatibili con l’</a:t>
            </a:r>
            <a:r>
              <a:rPr lang="it-IT" sz="3200" dirty="0" err="1"/>
              <a:t>Handshaking</a:t>
            </a:r>
            <a:r>
              <a:rPr lang="it-IT" sz="3200" dirty="0"/>
              <a:t> Lemma si prende un vertice qualsiasi e se ne modifica </a:t>
            </a:r>
            <a:r>
              <a:rPr lang="it-IT" sz="3200"/>
              <a:t>il grado di 1.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1C58B9-94E0-9144-0FAE-70F14FEA01C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92D987-9E64-491B-BF0C-C11065775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706849"/>
            <a:ext cx="10636681" cy="14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4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7F99D-A595-5AB1-5CF8-A49CDC337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7DBA301-ABF0-401A-692D-F8501E7B725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4363F1-FF69-78DF-20A6-434E372595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36B604C-2121-753C-FD74-CD61E84AC794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costruisce il </a:t>
            </a:r>
            <a:r>
              <a:rPr lang="it-IT" sz="3200" dirty="0" err="1"/>
              <a:t>multigrafo</a:t>
            </a:r>
            <a:r>
              <a:rPr lang="it-IT" sz="3200" dirty="0"/>
              <a:t> in base ai gradi generati, si rimuovono gli archi duplicati e i self loop.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D0A8CDE-8214-9E22-360A-045AFF5BF3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CDC0678-81E1-63DE-BCC0-6BEABFAC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532708"/>
            <a:ext cx="8410736" cy="142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0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FF01-38AB-BF5A-9E88-BAAD0364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6A96D0-CAF4-C273-C765-4A46E9D2C9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6FE574-6776-F4BD-CD56-5DCABEB010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C2C3A32-E256-E9B3-BC30-0186A1010A0A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D62D5-FE43-A6F4-2EBA-0FD584BE01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BDD6E-A179-B13F-D76E-9DAC10CB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0"/>
          <a:stretch>
            <a:fillRect/>
          </a:stretch>
        </p:blipFill>
        <p:spPr>
          <a:xfrm>
            <a:off x="533399" y="1974106"/>
            <a:ext cx="9397182" cy="382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0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8080-B743-2B78-AC09-5BA7DD72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0626E60-66BA-F808-C30F-92A951636D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06D154A-DABC-05E1-8835-62E9671A85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A410F-54BA-AD42-9426-5EF5B3E5EB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BC72A-860D-A0AC-B162-252165AD586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49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ECF66FD-530E-E959-DA32-EDBB5A48A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/>
          <a:stretch>
            <a:fillRect/>
          </a:stretch>
        </p:blipFill>
        <p:spPr>
          <a:xfrm>
            <a:off x="533399" y="2078682"/>
            <a:ext cx="10793496" cy="33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90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6A4D-DE3D-A16A-9AF9-7374B86DB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CD9D98-CFBB-70FF-140F-E428D4D2BE9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088094-58BF-08BC-A232-ADB0B7BE2F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densita_target</a:t>
                </a:r>
                <a:r>
                  <a:rPr lang="it-IT" sz="2800" dirty="0">
                    <a:latin typeface="Consolas" panose="020B0609020204030204" pitchFamily="49" charset="0"/>
                  </a:rPr>
                  <a:t> * (n - 1)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Se la densità 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2800" dirty="0">
                    <a:ea typeface="Cambria Math" panose="02040503050406030204" pitchFamily="18" charset="0"/>
                  </a:rPr>
                  <a:t> 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La moltiplicazione per |V|-1 restituisce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den>
                    </m:f>
                  </m:oMath>
                </a14:m>
                <a:endParaRPr lang="it-IT" sz="2800" dirty="0">
                  <a:ea typeface="Cambria Math" panose="02040503050406030204" pitchFamily="18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Per l’</a:t>
                </a:r>
                <a:r>
                  <a:rPr lang="it-IT" sz="2800" dirty="0" err="1">
                    <a:ea typeface="Cambria Math" panose="02040503050406030204" pitchFamily="18" charset="0"/>
                  </a:rPr>
                  <a:t>Handshaking</a:t>
                </a:r>
                <a:r>
                  <a:rPr lang="it-IT" sz="2800" dirty="0">
                    <a:ea typeface="Cambria Math" panose="02040503050406030204" pitchFamily="18" charset="0"/>
                  </a:rPr>
                  <a:t> Lemma la somma dei gradi di tutti i vertici è esattamente 2|E|, pertanto il rapporto ottenuto è il grado medio.</a:t>
                </a:r>
                <a:endParaRPr lang="it-IT" sz="3200" b="1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blipFill>
                <a:blip r:embed="rId2"/>
                <a:stretch>
                  <a:fillRect l="-1919" t="-2320" r="-1371" b="-25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BAE02-12A7-DB65-A526-F078DBFE15E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353845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09D4-D117-28D9-6253-B4DA12CE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F8ADEB-9A3A-CD51-F4BC-E122302BF66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D0880C7-8535-68E7-8EA0-476753782CC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63504A-B561-395B-8F3E-2414883E45B5}"/>
              </a:ext>
            </a:extLst>
          </p:cNvPr>
          <p:cNvSpPr txBox="1"/>
          <p:nvPr/>
        </p:nvSpPr>
        <p:spPr>
          <a:xfrm>
            <a:off x="533399" y="728069"/>
            <a:ext cx="11116884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2800" dirty="0"/>
              <a:t>Se è si sta considerando un rapporto grado massimo/grado medio di 1 (classe 0) allora si usa la primitiva che genera un grafo di n nodi, tutti con stesso grado, pari al valore medio trovato. Da notare l’arrotondamento e la modifica del grado se si viola l’</a:t>
            </a:r>
            <a:r>
              <a:rPr lang="it-IT" sz="2800" dirty="0" err="1"/>
              <a:t>Handshaking</a:t>
            </a:r>
            <a:r>
              <a:rPr lang="it-IT" sz="2800" dirty="0"/>
              <a:t> Lemma.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111EB55-7D1F-1CCA-AFCF-E1275C20BA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51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D4A719A-1DFB-9E51-2B0F-E6AFCF2D07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6" b="70581"/>
          <a:stretch>
            <a:fillRect/>
          </a:stretch>
        </p:blipFill>
        <p:spPr>
          <a:xfrm>
            <a:off x="533399" y="2529465"/>
            <a:ext cx="10127598" cy="146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4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03C0D-6076-EDDA-DA62-3FFD560D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DA4FF2-7B5D-EDBE-99E5-1CC39E1E32F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A63AD9D-B169-C12A-2A0C-144AF23F63F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28465C-1A6E-7D80-5C6C-3E04F17A1A6B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utilizza una normale perché è una variabile aleatoria la cui varianza non si ottiene in modo matematico a partire dalla media (si può modificare a piacimento mantenendo la media fissa).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63DFD3-C9E3-9EFF-F47F-CFF1391A68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1D6FA59-3C57-891A-8CE1-008016D91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8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9B3B-FB8E-C5A6-9BDE-D35B5983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CB98510-44D4-2C4B-8DD1-C758BCCE573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4CDE8D-B5A2-F3F2-7BD8-9B307A68CA1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⁡_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medio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Per una normale: </a:t>
                </a:r>
                <a:r>
                  <a:rPr lang="it-IT" sz="2800" dirty="0" err="1"/>
                  <a:t>val_max</a:t>
                </a:r>
                <a14:m>
                  <m:oMath xmlns:m="http://schemas.openxmlformats.org/officeDocument/2006/math">
                    <m:r>
                      <a:rPr lang="it-IT" sz="2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it-IT" sz="280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800" dirty="0"/>
                  <a:t> + 3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Quindi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è imposto H </a:t>
                </a:r>
                <a14:m>
                  <m:oMath xmlns:m="http://schemas.openxmlformats.org/officeDocument/2006/math">
                    <m:r>
                      <a:rPr lang="it-IT" sz="28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dirty="0"/>
                  <a:t> [1.2, 1.6], si considera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1.2+1.6</m:t>
                        </m:r>
                      </m:num>
                      <m:den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it-IT" sz="28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blipFill>
                <a:blip r:embed="rId2"/>
                <a:stretch>
                  <a:fillRect l="-1919" t="-1938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D05DB3-C970-D1A6-1AE7-6910833E8DA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443048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AAF-8AC0-1F66-6FDD-CF4A0601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FE13DA3-D080-7D60-EE6C-6566E69686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1781592-AD6A-FC20-E465-50DCAC4D193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ottiene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0.1333 </a:t>
                </a:r>
                <a14:m>
                  <m:oMath xmlns:m="http://schemas.openxmlformats.org/officeDocument/2006/math"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0.14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blipFill>
                <a:blip r:embed="rId2"/>
                <a:stretch>
                  <a:fillRect l="-1919" t="-3056" r="-1371" b="-39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B93A321C-4C89-1EE5-C483-DCA41D2EA5E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3204728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6480-952B-64F4-A6F1-2A3C6F4A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55701AC-B281-177B-E34B-2D05E1DFD5C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F5DA2ED-1184-EC35-4B8F-852A10EDD91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6F00-067E-6B6F-D477-6B170BC95B03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H è il rapporto tra grado massimo e grado medio, ci si assicura che sia effettivamente nel range desiderato prima di restituire il grafo, altrimenti si ritenta.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2D39D7-BAD0-50EA-E118-D87D27BBF02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55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BE23E-BF05-CA6D-375F-E427BDA761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FB16-CD44-8F68-68CD-C5E1B269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0A8AE32-0780-7822-6118-D31FEAD5BB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D9FC11-2826-F6C8-6EA5-657B39AF2FC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2800" dirty="0"/>
                  <a:t>Si usa una </a:t>
                </a:r>
                <a:r>
                  <a:rPr lang="it-IT" sz="2800" dirty="0" err="1"/>
                  <a:t>lognormale</a:t>
                </a:r>
                <a:r>
                  <a:rPr lang="it-IT" sz="2800" dirty="0"/>
                  <a:t> perché ha una heavy </a:t>
                </a:r>
                <a:r>
                  <a:rPr lang="it-IT" sz="2800" dirty="0" err="1"/>
                  <a:t>tail</a:t>
                </a:r>
                <a:r>
                  <a:rPr lang="it-IT" sz="2800" dirty="0"/>
                  <a:t> e permette di «sbilanciare» il grafo (alternando vertici di grado molto alto a vertici di grado molto basso).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1 è stato ritenuto un valore coerente per evitare la formazione di pochissimi nodi con altissimo grado ma senza generare valori troppo simili a quelli di una normale.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blipFill>
                <a:blip r:embed="rId2"/>
                <a:stretch>
                  <a:fillRect l="-1919" t="-2133" r="-1371" b="-2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393B7-D253-A9F9-8D4E-08595C2D48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56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14A99AA-BDB9-0BEF-31E4-180CBE259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609" b="21897"/>
          <a:stretch>
            <a:fillRect/>
          </a:stretch>
        </p:blipFill>
        <p:spPr>
          <a:xfrm>
            <a:off x="533399" y="2462740"/>
            <a:ext cx="10793496" cy="96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50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297-4470-38E5-2AB5-46E50A8A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E7810D1-FD17-8745-1333-FB2E63E1402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6B6016E-1A12-F162-DB81-0A7989F5AE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D517088-8C50-9170-EE17-60CA7032B409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8AC24C-30E3-D110-5D00-A726F93EFE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ED1FB0-DF7D-A100-B675-CF9D15B1B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9879"/>
            <a:ext cx="10065843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255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B634-8209-CA46-78B9-2EF8E66C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191355-EE95-7DC9-8606-E0398443B33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226EC6-94C2-2211-5A8F-0DC7EE7EC4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9A9EFCB-3909-4B0F-9FBA-62628197E7F7}"/>
              </a:ext>
            </a:extLst>
          </p:cNvPr>
          <p:cNvSpPr txBox="1"/>
          <p:nvPr/>
        </p:nvSpPr>
        <p:spPr>
          <a:xfrm>
            <a:off x="533399" y="728069"/>
            <a:ext cx="1111688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nx.erdos_renyi_graph</a:t>
            </a:r>
            <a:r>
              <a:rPr lang="it-IT" sz="2800" dirty="0">
                <a:latin typeface="Consolas" panose="020B0609020204030204" pitchFamily="49" charset="0"/>
              </a:rPr>
              <a:t>(n, p=</a:t>
            </a:r>
            <a:r>
              <a:rPr lang="it-IT" sz="2800" dirty="0" err="1">
                <a:latin typeface="Consolas" panose="020B0609020204030204" pitchFamily="49" charset="0"/>
              </a:rPr>
              <a:t>densita_target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Genera un grafo dato il numero di nodi e la densità; usa la densità come probabilità per generare gli archi.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np.random.randint</a:t>
            </a:r>
            <a:r>
              <a:rPr lang="it-IT" sz="2800" dirty="0">
                <a:latin typeface="Consolas" panose="020B0609020204030204" pitchFamily="49" charset="0"/>
              </a:rPr>
              <a:t>(1, </a:t>
            </a:r>
            <a:r>
              <a:rPr lang="it-IT" sz="2800" dirty="0" err="1">
                <a:latin typeface="Consolas" panose="020B0609020204030204" pitchFamily="49" charset="0"/>
              </a:rPr>
              <a:t>variabilita_peso</a:t>
            </a:r>
            <a:r>
              <a:rPr lang="it-IT" sz="2800" dirty="0">
                <a:latin typeface="Consolas" panose="020B0609020204030204" pitchFamily="49" charset="0"/>
              </a:rPr>
              <a:t> + 1, size=n)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Estrae valori da una variabile aleatoria uniforme; è stato necessario aumentare di 1 il valore del secondo parametro perché la funzione genera nativamente valori nell’intervallo [</a:t>
            </a:r>
            <a:r>
              <a:rPr lang="it-IT" sz="2800" dirty="0" err="1"/>
              <a:t>primo_parametro</a:t>
            </a:r>
            <a:r>
              <a:rPr lang="it-IT" sz="2800" dirty="0"/>
              <a:t>, </a:t>
            </a:r>
            <a:r>
              <a:rPr lang="it-IT" sz="2800" dirty="0" err="1"/>
              <a:t>secondo_parametro</a:t>
            </a:r>
            <a:r>
              <a:rPr lang="it-IT" sz="2800" dirty="0"/>
              <a:t>).</a:t>
            </a:r>
            <a:r>
              <a:rPr lang="it-IT" sz="2800" b="1" dirty="0">
                <a:solidFill>
                  <a:srgbClr val="990000"/>
                </a:solidFill>
              </a:rPr>
              <a:t>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434FF3-51BA-3ED6-F46B-5DACAE28896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2845642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FE9A-BCC8-70C1-496F-54B85336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820DDA9-78A9-0ABF-27D4-33F55C4EE0C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CC10BB-DD57-0ABC-E3E8-FF4533EBF85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DA3B9C9-BFB8-5291-FB1C-266AC197D900}"/>
              </a:ext>
            </a:extLst>
          </p:cNvPr>
          <p:cNvSpPr txBox="1"/>
          <p:nvPr/>
        </p:nvSpPr>
        <p:spPr>
          <a:xfrm>
            <a:off x="533399" y="728069"/>
            <a:ext cx="11116884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- 1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di istanze da testare: </a:t>
            </a:r>
            <a:r>
              <a:rPr lang="it-IT" sz="3200" dirty="0"/>
              <a:t>incrociando i criteri di partizionamento precedentemente definiti (densità, eterogeneità del grado, ecc.), si ottengono per combinazione tutte le classi di test oggetto del progetto.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Solver scelto: </a:t>
            </a:r>
            <a:r>
              <a:rPr lang="it-IT" sz="3200" dirty="0" err="1"/>
              <a:t>Gurobi</a:t>
            </a:r>
            <a:r>
              <a:rPr lang="it-IT" sz="3200" dirty="0"/>
              <a:t> con licenza accademica (ritenuto il migliore per problemi relativi ai grafi).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2010BFE-F1F0-B80A-85F5-0DD977A3E3E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059840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D5EB-EF7B-B42C-69A7-AED0A559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5B9468-C1AC-3F27-EB52-EB26565F6E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DFD405-25E8-BFFF-24BB-DD64D4D8381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9C5482D-671B-017A-9987-1A9C9FF6E3DF}"/>
              </a:ext>
            </a:extLst>
          </p:cNvPr>
          <p:cNvSpPr txBox="1"/>
          <p:nvPr/>
        </p:nvSpPr>
        <p:spPr>
          <a:xfrm>
            <a:off x="533399" y="728069"/>
            <a:ext cx="1111688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- 2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Risultati effettivamente riportati: </a:t>
            </a:r>
            <a:r>
              <a:rPr lang="it-IT" sz="3200" dirty="0"/>
              <a:t>di seguito solo i risultati più interessanti osservati. Per l’elenco completo dei risultati:</a:t>
            </a:r>
          </a:p>
          <a:p>
            <a:pPr algn="just">
              <a:spcAft>
                <a:spcPts val="600"/>
              </a:spcAft>
            </a:pPr>
            <a:r>
              <a:rPr lang="it-IT" sz="3200" dirty="0">
                <a:hlinkClick r:id="rId2"/>
              </a:rPr>
              <a:t>https://github.com/gianpaolo-pestilli/amod_project.git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Risoluzione del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se il solver va in </a:t>
            </a:r>
            <a:r>
              <a:rPr lang="it-IT" sz="3200" dirty="0" err="1"/>
              <a:t>timeout</a:t>
            </a:r>
            <a:r>
              <a:rPr lang="it-IT" sz="3200" dirty="0"/>
              <a:t> prima di trovare l’ottimo, si seleziona il miglior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trovato fino a quel momento e si usa per calcolare il rapporto di approssimazione.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E4C33C-FB28-CF64-1D70-D12796DBEE6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59176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4BD-10B8-CC69-B8C5-E971F13D1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510E97F-1506-132C-BD5D-A8BC8AFA8A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C7D1CBE-94E2-289D-4D0D-F3B4BFF7FC3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60B967-6C8B-5C2A-DEE9-91DFF8F492A5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- 3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Crash del solver nel calcolo dell’ottimo: </a:t>
            </a:r>
            <a:r>
              <a:rPr lang="it-IT" sz="3200" dirty="0"/>
              <a:t>se </a:t>
            </a:r>
            <a:r>
              <a:rPr lang="it-IT" sz="3200" dirty="0" err="1"/>
              <a:t>Gurobi</a:t>
            </a:r>
            <a:r>
              <a:rPr lang="it-IT" sz="3200" dirty="0"/>
              <a:t> riporta errori su una specifica istanza, quella viene ignorata poiché non si ha a disposizione alcun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con cui fare confronti.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Algoritmi valutati in base a: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di esecuzione medio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47F045E-E3BE-105B-C090-80A0859C6FD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1103860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7DAE-7B63-5582-F2C5-339D6A6B0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8F845C-0435-A0EE-4D7C-19672E023A6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1DC0766-ED2D-BFAD-D552-8566708B9EC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0D917D-2196-CE14-4DA5-96EA3F3E3C18}"/>
              </a:ext>
            </a:extLst>
          </p:cNvPr>
          <p:cNvSpPr txBox="1"/>
          <p:nvPr/>
        </p:nvSpPr>
        <p:spPr>
          <a:xfrm>
            <a:off x="533399" y="728069"/>
            <a:ext cx="11116884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algn="just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6ECBCA9-2B20-553D-F449-15060720BF5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125851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C9C5-88A1-56F0-C8BA-8A4DD4B5F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A30E389-3B9D-580D-6DBA-A0369FCC5C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E2399C-6BB6-7791-AD27-0720DC07B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7B80BE9-BD33-79DB-B81E-D9CA90C81F40}"/>
              </a:ext>
            </a:extLst>
          </p:cNvPr>
          <p:cNvSpPr txBox="1"/>
          <p:nvPr/>
        </p:nvSpPr>
        <p:spPr>
          <a:xfrm>
            <a:off x="533399" y="728069"/>
            <a:ext cx="11116884" cy="48167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 = 45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3.75 ore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604CC7-FA10-27F0-D4DF-A673A29EF4A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83408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A479A-F8C1-B361-8772-43A2D73ED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B021700-35B8-295E-04D8-19174D8F3E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369D210-CB63-6E87-3FE9-641B7377E3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F36DBE-2D84-91EB-7D80-D2D80E6CB8CF}"/>
              </a:ext>
            </a:extLst>
          </p:cNvPr>
          <p:cNvSpPr txBox="1"/>
          <p:nvPr/>
        </p:nvSpPr>
        <p:spPr>
          <a:xfrm>
            <a:off x="533399" y="728069"/>
            <a:ext cx="11116884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algn="just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78CFB0-18ED-04AD-C364-68EEF0468F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287816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CE42-95C7-AA13-0447-86CAF1838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C54FD-077F-2B74-0B9B-AF6F935E9DE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16DA15-81D9-986F-FF17-F0FF310E86A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68238F-37A3-0EFE-F07D-BDAB5423B82D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11.25 ore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847DB98-AC79-3297-FC14-19A26E7F2C7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1621016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02BE2-E06D-D91F-AC9A-80CB3604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6A17D8B-6B9E-E901-58A1-F15E2491108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BD4627B-FB63-61FF-1613-55BFDCF903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C5588D0-DB41-7564-C5B5-0AD0BAA57F59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b="1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Tempo di esecuzione massimo = 11.25 ore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A46B282-5C4E-6B55-FA82-2CFF73021B1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65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CFC2BE4-E700-C1D3-65C5-0066A691C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7136" y="1266387"/>
            <a:ext cx="5777728" cy="43252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4753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94CE-36B9-26F6-DA72-581DD1BF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696904-4D25-05F1-DC1C-2FEC18E8850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57E7D35-03CC-488C-9909-0646866082A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D10570F-E6E8-B4C5-8C92-43FF0DBBED13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 secondi per PLI e PLI rilassato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 secondi per PLI rilassato + ODI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8C689B-A4E7-65E2-AF3C-BF587539D5F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371238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F658D-7CA7-8237-F603-2B92D4A4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8A7A7A8-ED7B-7E54-1999-623A40B8DF5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55EFEC-0641-8DE6-DB36-A7958E9628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B03FA66-5549-20AB-EE38-900883B6822C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4.875 ore</a:t>
            </a:r>
            <a:endParaRPr lang="it-IT" sz="3200" dirty="0"/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E34FEA-9108-B4A1-F6FD-97489D888A6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67</a:t>
            </a:r>
          </a:p>
        </p:txBody>
      </p:sp>
    </p:spTree>
    <p:extLst>
      <p:ext uri="{BB962C8B-B14F-4D97-AF65-F5344CB8AC3E}">
        <p14:creationId xmlns:p14="http://schemas.microsoft.com/office/powerpoint/2010/main" val="1832620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E6247-1EE7-B5C1-1976-17248784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350D116-EDC0-371D-70D6-83414BB8CFD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4FE780-3F5E-FFE3-D1D7-F3E8A487D9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77EF20B-FD82-8F62-32DB-D30E95ABD318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b="1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Numero di istanze per classe = 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Tempo di esecuzione massimo = 4.875 ore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778367F-C340-616F-6C8F-25B5A15F16A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67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6FE0F1F-F6BD-6B0E-1CF5-FE51084DEDDC}"/>
              </a:ext>
            </a:extLst>
          </p:cNvPr>
          <p:cNvSpPr/>
          <p:nvPr/>
        </p:nvSpPr>
        <p:spPr>
          <a:xfrm>
            <a:off x="581332" y="2234380"/>
            <a:ext cx="11029336" cy="273090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3200" b="1" dirty="0">
                <a:solidFill>
                  <a:srgbClr val="FF0000"/>
                </a:solidFill>
              </a:rPr>
              <a:t>Conseguenze: </a:t>
            </a:r>
            <a:r>
              <a:rPr lang="it-IT" sz="3200" dirty="0">
                <a:solidFill>
                  <a:schemeClr val="tx1"/>
                </a:solidFill>
              </a:rPr>
              <a:t>il numero ridotto di istanze potrebbe portare risultati meno significativi.</a:t>
            </a:r>
          </a:p>
        </p:txBody>
      </p:sp>
    </p:spTree>
    <p:extLst>
      <p:ext uri="{BB962C8B-B14F-4D97-AF65-F5344CB8AC3E}">
        <p14:creationId xmlns:p14="http://schemas.microsoft.com/office/powerpoint/2010/main" val="3123650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5D1A-04F5-5727-829C-05895AB53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C72289-038C-E986-0911-EAD726F141E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32E49B-7DAF-27E4-9C49-E3EAA1553AC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EFD740-A237-AA49-D0D5-5E546C7F9C2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20DB87-1305-3C8E-BC41-AC87E5411D5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68</a:t>
            </a:r>
          </a:p>
        </p:txBody>
      </p:sp>
    </p:spTree>
    <p:extLst>
      <p:ext uri="{BB962C8B-B14F-4D97-AF65-F5344CB8AC3E}">
        <p14:creationId xmlns:p14="http://schemas.microsoft.com/office/powerpoint/2010/main" val="9987561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C47B-CCFF-01DA-5C5A-E248B1AB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E7219C2-AA34-CE2E-7A4A-463F259EEEE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022BB71-A4BC-3330-247F-08F0656A9C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71853E-6C02-060C-F120-65BB96E60B4C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duale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1.25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Eccelle per classi con eterogeneità 2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Sbilanciamento evidente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B6912E-24BE-0E8F-AB0E-6B086C8666F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69</a:t>
            </a:r>
          </a:p>
        </p:txBody>
      </p:sp>
    </p:spTree>
    <p:extLst>
      <p:ext uri="{BB962C8B-B14F-4D97-AF65-F5344CB8AC3E}">
        <p14:creationId xmlns:p14="http://schemas.microsoft.com/office/powerpoint/2010/main" val="3351515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F3706-6486-73D9-E019-B89A1E665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9AF70C0-5674-EE55-CC13-33809548887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28968B-87B3-283C-3064-B04F14EB17A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1A2074A-7DF2-CEA7-EFFB-7850F39C14B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631ACE0-87AB-5BD8-DAD5-33134CAA92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B501656-43AB-D733-1444-B0CBDCFC1B1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649090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48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3BDD9-F54D-82E1-F511-C8CD102CE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B8C4970-77DB-34F3-9B7D-A02A032EEF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8352F9-8201-4E03-D7F8-31121053F15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CE2BD02-764A-12CB-23FB-118BCDBC1C7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EB6E57B-3320-3652-6F07-4DC5BA408D8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E702AA2D-5943-4376-2CBF-10B563DEDDC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0732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21085-D138-DFEF-29CE-AC0F6F304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26958E3-B925-D574-CB42-88A5F4160DF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F5462E8-0484-4E78-B6C1-5DD4E73B491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5585CE-5A0E-B0D7-F3B9-2DB0919102A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AF9AB0-4C9D-2687-CE2A-0C8C30D61ED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72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6F82B1-F682-139A-AE3B-FDCDD5E96C2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725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9E8-70B8-2F95-A0F2-1F972B49D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CA73A2-0DB1-6A8A-E2CD-54AF4DF9E44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1F9EC24-B5EB-3C2B-E96A-053FF1DDE66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A53264-516D-D48D-DF63-75D8DAAADC0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(anche in caso di </a:t>
            </a:r>
            <a:r>
              <a:rPr lang="it-IT" sz="3200" b="1" dirty="0" err="1"/>
              <a:t>timeout</a:t>
            </a:r>
            <a:r>
              <a:rPr lang="it-IT" sz="3200" b="1" dirty="0"/>
              <a:t>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D4333B6-8C6E-F99C-54F2-FEE9FAF7F2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73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61BF36A-EFC9-E0E5-1B85-680858692892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57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42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ED58-B565-B4A8-71B1-E7BE0EE3D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680A486-26BC-30DF-4AB7-BFC32EF0629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70E56C-1978-E36E-F3BA-533505870A8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932DA6-8FFA-7DF2-25AE-251ADC84AA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(anche in caso di </a:t>
            </a:r>
            <a:r>
              <a:rPr lang="it-IT" sz="3200" b="1" dirty="0" err="1"/>
              <a:t>timeout</a:t>
            </a:r>
            <a:r>
              <a:rPr lang="it-IT" sz="3200" b="1" dirty="0"/>
              <a:t>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BC3098-E8CF-0529-5EAB-FD8895F5653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74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48AB7D0-611C-DC9E-5293-5DB70AD4D3B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17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6E924-8B67-6485-C199-F5C85BF49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D8E21E9-8600-2CD0-A60C-97352730C91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C9C658C-A2C0-8567-DF43-B6F26D304B3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285D050-0778-CF16-D32E-BD9251C18C8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2F4EEC8-FF18-5033-DD16-B97A3CE3871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75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E478D9B-3260-A3E8-4C4B-D6A8ACE0BF6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9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536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E1896-FBF3-630C-8794-50887ED27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82234C9-970E-FE9D-9BA0-5BD6F7554F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CAE8AB-79B5-F9DA-55AC-B33951A02D9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28B3389-0316-CD5E-9DD6-B8709E4107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ED59555-9A15-8206-E108-342407F0AAD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305094D-8B23-64AE-5291-26CFA928086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9" y="2005342"/>
            <a:ext cx="8640000" cy="366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086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1353-539A-4BF7-68E4-F669A2C3F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263BF7C-27EE-1EE9-27A9-2534158EA3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96C616-9287-E158-5D4A-278A32E50C0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523C315-3705-B722-DC12-A3223DF3CC7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76C898-FFB5-2C08-29AE-50FA8F2D7C7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</a:t>
            </a:r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4236727-EDB5-3506-EA05-7DA9692C2B49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766139" y="2005342"/>
            <a:ext cx="8640000" cy="3667552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A330EA84-EF82-75D6-0EA8-8386492DAD26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No se il grafo è molto denso e ha molti vertici.</a:t>
            </a:r>
          </a:p>
        </p:txBody>
      </p:sp>
    </p:spTree>
    <p:extLst>
      <p:ext uri="{BB962C8B-B14F-4D97-AF65-F5344CB8AC3E}">
        <p14:creationId xmlns:p14="http://schemas.microsoft.com/office/powerpoint/2010/main" val="225658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CB79B-C0EE-E8C1-C4F8-2B3B1C8B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B6370BD-1747-70CE-1997-9CF84E07D30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A597B50-AA7E-955C-7C9A-FAAFD064FE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9D938BB-B3EF-EDB7-18CF-0384EFD53F6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4ABD704-8C9F-2C11-D78E-1A9551D927C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</a:t>
            </a:r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4FA5920-E78A-108F-596A-DD8A9C699FD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9" y="2005342"/>
            <a:ext cx="8640000" cy="358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260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214F9-B2FB-3F37-EB6F-C72BC769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FBF999-E741-2545-7D0F-CD9EFBAE333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7D1E20B-CF4C-EA6C-7FB9-852E07F2047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FE4F299-D073-B3A6-0FCD-F7AA76BCF7D7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3116163-F217-24EB-EC16-A7FA71FFA54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78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034BF34-3375-1247-6DD7-4EA9E42449BE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9" y="2005342"/>
            <a:ext cx="8640000" cy="366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21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D1C2A-89E1-9046-89F3-7867D1664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43C2B34-E340-0ABF-F2CF-D0AC32DA8E2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05CF45-7C31-BE36-D4AE-8B5198EC0B2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294568-DA13-CC7D-ED2E-07A340ABE76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C97C29F-5590-21CA-5661-2F94585DD6E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F95BB5D-A063-E9C4-7D65-30B5E77AD07D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766139" y="2005342"/>
            <a:ext cx="8640000" cy="3661856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04F77B15-2003-452B-220D-42F13CF9F58C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Rapporti di approssimazione simili, sono da preferire gli algoritmi che non utilizzano solver</a:t>
            </a:r>
          </a:p>
        </p:txBody>
      </p:sp>
    </p:spTree>
    <p:extLst>
      <p:ext uri="{BB962C8B-B14F-4D97-AF65-F5344CB8AC3E}">
        <p14:creationId xmlns:p14="http://schemas.microsoft.com/office/powerpoint/2010/main" val="457469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1F003-C5A6-6C23-8AFA-A335BE6B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FB96E6-3CD0-AB66-7BE5-715791E932B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C360D6D-D6F2-0C1D-258D-33314EAA827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6FDDD4E-A3E8-BDFD-803E-02E794E6943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48AF08-2740-3604-BD3E-75D21BC5EEF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79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034C5E69-AC61-2BE2-9FF8-1FB13A6FC50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734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9B6A-F7A4-FD65-8331-7FFAD78B2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CD012B1-E544-FA96-5649-C4D6EFD0B86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9A41082-BB2A-0C63-239F-73C21CB64C3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42D87B-3A3A-D045-F411-8DD80DF5F590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73F626-48A0-7D9F-7EB3-BC4CD131BF1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79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66A0DD6-83F2-D3C2-9F35-60ABD644E6D9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159CE294-3D60-ADC8-4698-43246F4A8D84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Sempre per più di 400 vertici</a:t>
            </a:r>
          </a:p>
        </p:txBody>
      </p:sp>
    </p:spTree>
    <p:extLst>
      <p:ext uri="{BB962C8B-B14F-4D97-AF65-F5344CB8AC3E}">
        <p14:creationId xmlns:p14="http://schemas.microsoft.com/office/powerpoint/2010/main" val="3221516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6D34-D7AC-6651-628D-495F40B3A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F27385-DE2B-BF65-FDF3-5737A1DCDBB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426E36-B0F7-8F0E-C4ED-D4511A9577F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5B96B7D-89D0-CD99-A47F-3D4F5060BF45}"/>
              </a:ext>
            </a:extLst>
          </p:cNvPr>
          <p:cNvSpPr txBox="1"/>
          <p:nvPr/>
        </p:nvSpPr>
        <p:spPr>
          <a:xfrm>
            <a:off x="533399" y="728069"/>
            <a:ext cx="11116884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duale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1.25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Eccelle per classi con pochi vertici e preferibilmente con coefficiente di Spearman non nullo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A9C13A8-DED1-935B-C641-F30D36F5190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69</a:t>
            </a:r>
          </a:p>
        </p:txBody>
      </p:sp>
    </p:spTree>
    <p:extLst>
      <p:ext uri="{BB962C8B-B14F-4D97-AF65-F5344CB8AC3E}">
        <p14:creationId xmlns:p14="http://schemas.microsoft.com/office/powerpoint/2010/main" val="429384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D197F-33C1-E1FC-D53E-6DF22690C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7DF7D95-ED49-78FF-948E-5FF477C4D5C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9D62F9D-5B9E-1796-9B01-66D3A1DB65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E56A103-685C-6C34-018D-D778F0C0DE1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15E34DE-CC6C-516C-08F2-48A4F76B35B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A6A2399-36A1-C627-3B89-174C31F8C42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335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DF946-B9CD-7C5D-AB7C-6D683823E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FCEC5EE-8229-A134-9AA1-E213CC992FA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3CE9E9-D789-458F-FF6B-0BC22D38CC0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74ADAF1-B17C-A3D4-D52A-9371A10DCD9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10ECEE7-5094-BB4D-6DFD-71326A9B82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23CFC12-0558-5D19-8DCD-1075B8B1F792}"/>
              </a:ext>
            </a:extLst>
          </p:cNvPr>
          <p:cNvPicPr>
            <a:picLocks/>
          </p:cNvPicPr>
          <p:nvPr/>
        </p:nvPicPr>
        <p:blipFill>
          <a:blip r:embed="rId2"/>
          <a:srcRect l="937"/>
          <a:stretch>
            <a:fillRect/>
          </a:stretch>
        </p:blipFill>
        <p:spPr>
          <a:xfrm>
            <a:off x="766139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63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234D-0556-F4E3-B41C-416A906ED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DAE6F80-EAA5-31EA-FC28-396A116498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F3C163E-DFD2-168F-65F5-0FE327D627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1E2ED5E-F460-5118-08A2-054BF86E0030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4AF0F3-3DC9-323F-9B2D-AABCC0913E4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82738D8-F9C5-58A5-368C-5D5CA1CA1CD8}"/>
              </a:ext>
            </a:extLst>
          </p:cNvPr>
          <p:cNvPicPr>
            <a:picLocks/>
          </p:cNvPicPr>
          <p:nvPr/>
        </p:nvPicPr>
        <p:blipFill>
          <a:blip r:embed="rId2"/>
          <a:srcRect l="2607" r="3892"/>
          <a:stretch>
            <a:fillRect/>
          </a:stretch>
        </p:blipFill>
        <p:spPr>
          <a:xfrm>
            <a:off x="766139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75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B612C-440B-8F89-1482-85835AB7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3FEEDC2-6C63-F06E-AE92-F12FA2DD6FF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573351-3245-2D9F-C9A0-C6199A8002C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8A7C20A-3EDB-5198-D621-4058CA3BCF3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47325C-AE80-48D4-2029-95CCCF13BB4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8B2B309-A448-A6BD-5247-21C9F264FEAA}"/>
              </a:ext>
            </a:extLst>
          </p:cNvPr>
          <p:cNvPicPr>
            <a:picLocks/>
          </p:cNvPicPr>
          <p:nvPr/>
        </p:nvPicPr>
        <p:blipFill>
          <a:blip r:embed="rId2"/>
          <a:srcRect l="3134" r="3459"/>
          <a:stretch>
            <a:fillRect/>
          </a:stretch>
        </p:blipFill>
        <p:spPr>
          <a:xfrm>
            <a:off x="766139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95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26119-7303-D062-81B0-349170A8D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78A05D-4E12-1F8B-5960-CBDC9C9D4E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0B63D4E-9AAB-8EB1-133B-E0D76D9FDFC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41F16EB-61C1-11DA-F5BD-1D38C9CDD5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6460D06-71DF-36D2-1B5F-49D79C2B0F3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9416516-D312-E475-9E64-E3E6C88B4436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74" r="3746"/>
          <a:stretch>
            <a:fillRect/>
          </a:stretch>
        </p:blipFill>
        <p:spPr bwMode="auto">
          <a:xfrm>
            <a:off x="766139" y="2005342"/>
            <a:ext cx="8640000" cy="36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85530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B25AE-673A-E7A1-C9F8-A22BEE8FD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88BF4F-959E-214B-E44C-610FA24B6B7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72971B6-1CFB-BB8D-4DB8-110B5CD8A9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8CE16D8-6F93-D8E9-5CB0-97BA5CE3F46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9BF7679-7605-82D4-C432-0C9B2E88DD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541E02A1-21B6-4441-F2F8-41C58FBA21DD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73" r="3550"/>
          <a:stretch>
            <a:fillRect/>
          </a:stretch>
        </p:blipFill>
        <p:spPr bwMode="auto">
          <a:xfrm>
            <a:off x="766139" y="2005342"/>
            <a:ext cx="8640000" cy="36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4967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B9B7-1482-8C69-39A6-9FA36D34E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CA33A5D-7883-3636-3314-62CC183892F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23EF88-5386-A05A-F8BF-4DCC7DCAA8D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7C0E72-278E-B517-0EA8-3E453470029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529655-B162-C199-EC8B-DF5DA583C58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CC62D4C-FDBC-81A1-5B9F-E9AAD5FB9A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8" t="14100" r="777"/>
          <a:stretch>
            <a:fillRect/>
          </a:stretch>
        </p:blipFill>
        <p:spPr bwMode="auto">
          <a:xfrm>
            <a:off x="3089910" y="2090102"/>
            <a:ext cx="6012180" cy="26777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42328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E3942-F7D6-C7DA-0FFF-98A861F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71277FC-BF4A-4F33-213A-EC70A4EAB47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8CBFC4-6A6F-F6FB-0CC2-D8B9E844F33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4E6C509-AF1E-E7DA-BE0C-A60F25B84391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9EE3E77-9AE2-AC30-EC0A-4953A53CB1A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5520660-2928-15DA-DB61-6546412F2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935" y="2030095"/>
            <a:ext cx="6120130" cy="279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747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4C4E2-8DC6-E8C1-4163-369E0F15E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637C6D-6628-02B6-3029-8B8EB1806F9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C49FF66-4121-EFB3-EBC7-34D5D50DA29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B497444-5E9D-1F5A-3367-702212C9C2C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913BF6E-A100-C3D7-0D22-4311A84A0A8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443BE6F-0FC8-688E-9B9F-2AB67F5B3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935" y="2022792"/>
            <a:ext cx="6120130" cy="2812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876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1383</TotalTime>
  <Words>2963</Words>
  <Application>Microsoft Office PowerPoint</Application>
  <PresentationFormat>Widescreen</PresentationFormat>
  <Paragraphs>585</Paragraphs>
  <Slides>96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96</vt:i4>
      </vt:variant>
    </vt:vector>
  </HeadingPairs>
  <TitlesOfParts>
    <vt:vector size="101" baseType="lpstr">
      <vt:lpstr>Arial</vt:lpstr>
      <vt:lpstr>Calibri</vt:lpstr>
      <vt:lpstr>Cambria Math</vt:lpstr>
      <vt:lpstr>Consolas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44</cp:revision>
  <dcterms:created xsi:type="dcterms:W3CDTF">2026-06-12T20:11:00Z</dcterms:created>
  <dcterms:modified xsi:type="dcterms:W3CDTF">2026-06-29T11:49:31Z</dcterms:modified>
</cp:coreProperties>
</file>