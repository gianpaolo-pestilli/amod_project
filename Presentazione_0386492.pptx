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3" r:id="rId55"/>
    <p:sldId id="315" r:id="rId56"/>
    <p:sldId id="316" r:id="rId57"/>
    <p:sldId id="314" r:id="rId58"/>
    <p:sldId id="317" r:id="rId59"/>
    <p:sldId id="303" r:id="rId60"/>
    <p:sldId id="304" r:id="rId61"/>
    <p:sldId id="318" r:id="rId62"/>
    <p:sldId id="319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45" r:id="rId73"/>
    <p:sldId id="320" r:id="rId74"/>
    <p:sldId id="330" r:id="rId75"/>
    <p:sldId id="331" r:id="rId76"/>
    <p:sldId id="332" r:id="rId77"/>
    <p:sldId id="333" r:id="rId78"/>
    <p:sldId id="334" r:id="rId79"/>
    <p:sldId id="337" r:id="rId80"/>
    <p:sldId id="338" r:id="rId81"/>
    <p:sldId id="339" r:id="rId82"/>
    <p:sldId id="340" r:id="rId83"/>
    <p:sldId id="341" r:id="rId84"/>
    <p:sldId id="342" r:id="rId85"/>
    <p:sldId id="343" r:id="rId86"/>
    <p:sldId id="344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78" r:id="rId105"/>
    <p:sldId id="363" r:id="rId106"/>
    <p:sldId id="364" r:id="rId107"/>
    <p:sldId id="365" r:id="rId108"/>
    <p:sldId id="366" r:id="rId109"/>
    <p:sldId id="367" r:id="rId110"/>
    <p:sldId id="368" r:id="rId111"/>
    <p:sldId id="369" r:id="rId112"/>
    <p:sldId id="370" r:id="rId113"/>
    <p:sldId id="371" r:id="rId114"/>
    <p:sldId id="372" r:id="rId115"/>
    <p:sldId id="373" r:id="rId116"/>
    <p:sldId id="374" r:id="rId117"/>
    <p:sldId id="375" r:id="rId118"/>
    <p:sldId id="379" r:id="rId119"/>
    <p:sldId id="376" r:id="rId120"/>
    <p:sldId id="377" r:id="rId1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29/06/2026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anpaolo-pestilli/amod_project.git" TargetMode="Externa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anpaolo-pestilli/amod_project.git" TargetMode="Externa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sSup>
                          <m:sSupPr>
                            <m:ctrlPr>
                              <a:rPr lang="it-IT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del solver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 se ne modifica </a:t>
            </a:r>
            <a:r>
              <a:rPr lang="it-IT" sz="3200"/>
              <a:t>il grado di 1.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45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48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nodi,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51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1.2+1.6</m:t>
                        </m:r>
                      </m:num>
                      <m:den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54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BE23E-BF05-CA6D-375F-E427BDA7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2800" dirty="0"/>
                  <a:t>Si usa una </a:t>
                </a:r>
                <a:r>
                  <a:rPr lang="it-IT" sz="2800" dirty="0" err="1"/>
                  <a:t>lognormale</a:t>
                </a:r>
                <a:r>
                  <a:rPr lang="it-IT" sz="2800" dirty="0"/>
                  <a:t> perché ha una heavy </a:t>
                </a:r>
                <a:r>
                  <a:rPr lang="it-IT" sz="2800" dirty="0" err="1"/>
                  <a:t>tail</a:t>
                </a:r>
                <a:r>
                  <a:rPr lang="it-IT" sz="2800" dirty="0"/>
                  <a:t> e permette di «sbilanciare» il grafo (alternando vertici di grado molto alto a vertici di grado molto basso).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1 è stato ritenuto un valore coerente per evitare la formazione di pochissimi nodi con altissimo grado ma senza generare valori troppo simili a quelli di una normale.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blipFill>
                <a:blip r:embed="rId2"/>
                <a:stretch>
                  <a:fillRect l="-1919" t="-2133" r="-1371" b="-2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09" b="21897"/>
          <a:stretch>
            <a:fillRect/>
          </a:stretch>
        </p:blipFill>
        <p:spPr>
          <a:xfrm>
            <a:off x="533399" y="2462740"/>
            <a:ext cx="10793496" cy="96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nodi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FE9A-BCC8-70C1-496F-54B85336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820DDA9-78A9-0ABF-27D4-33F55C4EE0C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CC10BB-DD57-0ABC-E3E8-FF4533EBF85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DA3B9C9-BFB8-5291-FB1C-266AC197D900}"/>
              </a:ext>
            </a:extLst>
          </p:cNvPr>
          <p:cNvSpPr txBox="1"/>
          <p:nvPr/>
        </p:nvSpPr>
        <p:spPr>
          <a:xfrm>
            <a:off x="533399" y="728069"/>
            <a:ext cx="11116884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- 1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di istanze da testare: </a:t>
            </a:r>
            <a:r>
              <a:rPr lang="it-IT" sz="3200" dirty="0"/>
              <a:t>incrociando i criteri di partizionamento precedentemente definiti (densità, eterogeneità del grado, ecc.), si ottengono per combinazione tutte le classi di test oggetto del progetto.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Solver scelto: </a:t>
            </a:r>
            <a:r>
              <a:rPr lang="it-IT" sz="3200" dirty="0" err="1"/>
              <a:t>Gurobi</a:t>
            </a:r>
            <a:r>
              <a:rPr lang="it-IT" sz="3200" dirty="0"/>
              <a:t> con licenza accademica (ritenuto il migliore per problemi relativi ai grafi).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2010BFE-F1F0-B80A-85F5-0DD977A3E3E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58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840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D5EB-EF7B-B42C-69A7-AED0A559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5B9468-C1AC-3F27-EB52-EB26565F6E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DFD405-25E8-BFFF-24BB-DD64D4D8381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9C5482D-671B-017A-9987-1A9C9FF6E3DF}"/>
              </a:ext>
            </a:extLst>
          </p:cNvPr>
          <p:cNvSpPr txBox="1"/>
          <p:nvPr/>
        </p:nvSpPr>
        <p:spPr>
          <a:xfrm>
            <a:off x="533399" y="728069"/>
            <a:ext cx="1111688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- 2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Risultati effettivamente riportati: </a:t>
            </a:r>
            <a:r>
              <a:rPr lang="it-IT" sz="3200" dirty="0"/>
              <a:t>di seguito solo i risultati più interessanti osservati. Per l’elenco completo dei risultati:</a:t>
            </a:r>
          </a:p>
          <a:p>
            <a:pPr algn="just">
              <a:spcAft>
                <a:spcPts val="600"/>
              </a:spcAft>
            </a:pPr>
            <a:r>
              <a:rPr lang="it-IT" sz="3200" dirty="0">
                <a:hlinkClick r:id="rId2"/>
              </a:rPr>
              <a:t>https://github.com/gianpaolo-pestilli/amod_project.git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Risoluzione del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se il solver va in </a:t>
            </a:r>
            <a:r>
              <a:rPr lang="it-IT" sz="3200" dirty="0" err="1"/>
              <a:t>timeout</a:t>
            </a:r>
            <a:r>
              <a:rPr lang="it-IT" sz="3200" dirty="0"/>
              <a:t> prima di trovare l’ottimo, si seleziona il miglior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trovato fino a quel momento e si usa per calcolare il rapporto di approssimazione.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E4C33C-FB28-CF64-1D70-D12796DBEE6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259176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4BD-10B8-CC69-B8C5-E971F13D1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10E97F-1506-132C-BD5D-A8BC8AFA8A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C7D1CBE-94E2-289D-4D0D-F3B4BFF7FC3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60B967-6C8B-5C2A-DEE9-91DFF8F492A5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- 3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Crash del solver nel calcolo dell’ottimo: </a:t>
            </a:r>
            <a:r>
              <a:rPr lang="it-IT" sz="3200" dirty="0"/>
              <a:t>se </a:t>
            </a:r>
            <a:r>
              <a:rPr lang="it-IT" sz="3200" dirty="0" err="1"/>
              <a:t>Gurobi</a:t>
            </a:r>
            <a:r>
              <a:rPr lang="it-IT" sz="3200" dirty="0"/>
              <a:t> riporta errori su una specifica istanza, quella viene ignorata poiché non si ha a disposizione alcun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con cui fare confronti.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Algoritmi valutati in base a: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di esecuzione medio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47F045E-E3BE-105B-C090-80A0859C6FD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103860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7DAE-7B63-5582-F2C5-339D6A6B0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8F845C-0435-A0EE-4D7C-19672E023A6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1DC0766-ED2D-BFAD-D552-8566708B9EC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0D917D-2196-CE14-4DA5-96EA3F3E3C18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6ECBCA9-2B20-553D-F449-15060720BF5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25851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C9C5-88A1-56F0-C8BA-8A4DD4B5F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A30E389-3B9D-580D-6DBA-A0369FCC5C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E2399C-6BB6-7791-AD27-0720DC07B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7B80BE9-BD33-79DB-B81E-D9CA90C81F40}"/>
              </a:ext>
            </a:extLst>
          </p:cNvPr>
          <p:cNvSpPr txBox="1"/>
          <p:nvPr/>
        </p:nvSpPr>
        <p:spPr>
          <a:xfrm>
            <a:off x="533399" y="728069"/>
            <a:ext cx="11116884" cy="48167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 = 45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3.75 ore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04CC7-FA10-27F0-D4DF-A673A29EF4A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83408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A479A-F8C1-B361-8772-43A2D73ED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B021700-35B8-295E-04D8-19174D8F3E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369D210-CB63-6E87-3FE9-641B7377E3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F36DBE-2D84-91EB-7D80-D2D80E6CB8CF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78CFB0-18ED-04AD-C364-68EEF0468F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128781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CE42-95C7-AA13-0447-86CAF1838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C54FD-077F-2B74-0B9B-AF6F935E9DE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16DA15-81D9-986F-FF17-F0FF310E86A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68238F-37A3-0EFE-F07D-BDAB5423B82D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11.25 ore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847DB98-AC79-3297-FC14-19A26E7F2C7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621016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02BE2-E06D-D91F-AC9A-80CB3604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6A17D8B-6B9E-E901-58A1-F15E2491108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BD4627B-FB63-61FF-1613-55BFDCF903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C5588D0-DB41-7564-C5B5-0AD0BAA57F59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11.25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A46B282-5C4E-6B55-FA82-2CFF73021B1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64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CFC2BE4-E700-C1D3-65C5-0066A691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136" y="1266387"/>
            <a:ext cx="5777728" cy="43252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4753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94CE-36B9-26F6-DA72-581DD1BF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696904-4D25-05F1-DC1C-2FEC18E8850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57E7D35-03CC-488C-9909-0646866082A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10570F-E6E8-B4C5-8C92-43FF0DBBED13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 secondi per PLI e PLI rilassato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 secondi per PLI rilassato + ODI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8C689B-A4E7-65E2-AF3C-BF587539D5F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371238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F658D-7CA7-8237-F603-2B92D4A4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8A7A7A8-ED7B-7E54-1999-623A40B8DF5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55EFEC-0641-8DE6-DB36-A7958E9628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B03FA66-5549-20AB-EE38-900883B6822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4.875 ore</a:t>
            </a:r>
            <a:endParaRPr lang="it-IT" sz="3200" dirty="0"/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E34FEA-9108-B4A1-F6FD-97489D888A6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1832620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6247-1EE7-B5C1-1976-17248784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350D116-EDC0-371D-70D6-83414BB8CFD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4FE780-3F5E-FFE3-D1D7-F3E8A487D9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77EF20B-FD82-8F62-32DB-D30E95ABD318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4.875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778367F-C340-616F-6C8F-25B5A15F16A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66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6FE0F1F-F6BD-6B0E-1CF5-FE51084DEDDC}"/>
              </a:ext>
            </a:extLst>
          </p:cNvPr>
          <p:cNvSpPr/>
          <p:nvPr/>
        </p:nvSpPr>
        <p:spPr>
          <a:xfrm>
            <a:off x="581332" y="2234380"/>
            <a:ext cx="11029336" cy="273090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3200" b="1" dirty="0">
                <a:solidFill>
                  <a:srgbClr val="FF0000"/>
                </a:solidFill>
              </a:rPr>
              <a:t>Conseguenze: </a:t>
            </a:r>
            <a:r>
              <a:rPr lang="it-IT" sz="3200" dirty="0">
                <a:solidFill>
                  <a:schemeClr val="tx1"/>
                </a:solidFill>
              </a:rPr>
              <a:t>il numero ridotto di istanze </a:t>
            </a:r>
            <a:r>
              <a:rPr lang="it-IT" sz="3200">
                <a:solidFill>
                  <a:schemeClr val="tx1"/>
                </a:solidFill>
              </a:rPr>
              <a:t>potrebbe produrre </a:t>
            </a:r>
            <a:r>
              <a:rPr lang="it-IT" sz="3200" dirty="0">
                <a:solidFill>
                  <a:schemeClr val="tx1"/>
                </a:solidFill>
              </a:rPr>
              <a:t>risultati meno significativi.</a:t>
            </a:r>
          </a:p>
        </p:txBody>
      </p:sp>
    </p:spTree>
    <p:extLst>
      <p:ext uri="{BB962C8B-B14F-4D97-AF65-F5344CB8AC3E}">
        <p14:creationId xmlns:p14="http://schemas.microsoft.com/office/powerpoint/2010/main" val="3123650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5D1A-04F5-5727-829C-05895AB5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C72289-038C-E986-0911-EAD726F141E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32E49B-7DAF-27E4-9C49-E3EAA1553AC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EFD740-A237-AA49-D0D5-5E546C7F9C2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20DB87-1305-3C8E-BC41-AC87E5411D5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9987561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C47B-CCFF-01DA-5C5A-E248B1AB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E7219C2-AA34-CE2E-7A4A-463F259EEEE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22BB71-A4BC-3330-247F-08F0656A9C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71853E-6C02-060C-F120-65BB96E60B4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eterogeneità 2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Sbilanciamento evidente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B6912E-24BE-0E8F-AB0E-6B086C8666F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68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515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F3706-6486-73D9-E019-B89A1E665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9AF70C0-5674-EE55-CC13-3380954888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28968B-87B3-283C-3064-B04F14EB17A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1A2074A-7DF2-CEA7-EFFB-7850F39C14B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631ACE0-87AB-5BD8-DAD5-33134CAA92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501656-43AB-D733-1444-B0CBDCFC1B1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649090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48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BDD9-F54D-82E1-F511-C8CD102CE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B8C4970-77DB-34F3-9B7D-A02A032EEF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8352F9-8201-4E03-D7F8-31121053F15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CE2BD02-764A-12CB-23FB-118BCDBC1C7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EB6E57B-3320-3652-6F07-4DC5BA408D8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02AA2D-5943-4376-2CBF-10B563DEDDC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073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21085-D138-DFEF-29CE-AC0F6F30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26958E3-B925-D574-CB42-88A5F4160DF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F5462E8-0484-4E78-B6C1-5DD4E73B491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5585CE-5A0E-B0D7-F3B9-2DB0919102A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AF9AB0-4C9D-2687-CE2A-0C8C30D61ED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6F82B1-F682-139A-AE3B-FDCDD5E96C2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725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9E8-70B8-2F95-A0F2-1F972B49D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CA73A2-0DB1-6A8A-E2CD-54AF4DF9E44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1F9EC24-B5EB-3C2B-E96A-053FF1DDE66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A53264-516D-D48D-DF63-75D8DAAADC0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D4333B6-8C6E-F99C-54F2-FEE9FAF7F2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72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61BF36A-EFC9-E0E5-1B85-680858692892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57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42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ED58-B565-B4A8-71B1-E7BE0EE3D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680A486-26BC-30DF-4AB7-BFC32EF0629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70E56C-1978-E36E-F3BA-533505870A8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932DA6-8FFA-7DF2-25AE-251ADC84AA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BC3098-E8CF-0529-5EAB-FD8895F5653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73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48AB7D0-611C-DC9E-5293-5DB70AD4D3B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17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6E924-8B67-6485-C199-F5C85BF49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D8E21E9-8600-2CD0-A60C-97352730C91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9C658C-A2C0-8567-DF43-B6F26D304B3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285D050-0778-CF16-D32E-BD9251C18C8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2F4EEC8-FF18-5033-DD16-B97A3CE3871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74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E478D9B-3260-A3E8-4C4B-D6A8ACE0BF6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536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E1896-FBF3-630C-8794-50887ED2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82234C9-970E-FE9D-9BA0-5BD6F7554F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CAE8AB-79B5-F9DA-55AC-B33951A02D9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28B3389-0316-CD5E-9DD6-B8709E4107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D59555-9A15-8206-E108-342407F0AAD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75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305094D-8B23-64AE-5291-26CFA928086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6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086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1353-539A-4BF7-68E4-F669A2C3F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263BF7C-27EE-1EE9-27A9-2534158EA3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96C616-9287-E158-5D4A-278A32E50C0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23C315-3705-B722-DC12-A3223DF3CC7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76C898-FFB5-2C08-29AE-50FA8F2D7C7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75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4236727-EDB5-3506-EA05-7DA9692C2B49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771841" y="2005342"/>
            <a:ext cx="8640000" cy="3667552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A330EA84-EF82-75D6-0EA8-8386492DAD26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No se il grafo è molto denso e ha molti vertici.</a:t>
            </a:r>
          </a:p>
        </p:txBody>
      </p:sp>
    </p:spTree>
    <p:extLst>
      <p:ext uri="{BB962C8B-B14F-4D97-AF65-F5344CB8AC3E}">
        <p14:creationId xmlns:p14="http://schemas.microsoft.com/office/powerpoint/2010/main" val="225658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CB79B-C0EE-E8C1-C4F8-2B3B1C8B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B6370BD-1747-70CE-1997-9CF84E07D30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597B50-AA7E-955C-7C9A-FAAFD064FE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9D938BB-B3EF-EDB7-18CF-0384EFD53F6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4ABD704-8C9F-2C11-D78E-1A9551D927C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</a:t>
            </a:r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4FA5920-E78A-108F-596A-DD8A9C699FD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58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260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214F9-B2FB-3F37-EB6F-C72BC769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FBF999-E741-2545-7D0F-CD9EFBAE333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7D1E20B-CF4C-EA6C-7FB9-852E07F2047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FE4F299-D073-B3A6-0FCD-F7AA76BCF7D7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3116163-F217-24EB-EC16-A7FA71FFA54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034BF34-3375-1247-6DD7-4EA9E42449BE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6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21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1C2A-89E1-9046-89F3-7867D166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43C2B34-E340-0ABF-F2CF-D0AC32DA8E2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05CF45-7C31-BE36-D4AE-8B5198EC0B2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294568-DA13-CC7D-ED2E-07A340ABE76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C97C29F-5590-21CA-5661-2F94585DD6E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77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F95BB5D-A063-E9C4-7D65-30B5E77AD07D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4774" y="2005342"/>
            <a:ext cx="8640000" cy="3661856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04F77B15-2003-452B-220D-42F13CF9F58C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Rapporti di approssimazione simili, sono da preferire gli algoritmi che non utilizzano solver</a:t>
            </a:r>
          </a:p>
        </p:txBody>
      </p:sp>
    </p:spTree>
    <p:extLst>
      <p:ext uri="{BB962C8B-B14F-4D97-AF65-F5344CB8AC3E}">
        <p14:creationId xmlns:p14="http://schemas.microsoft.com/office/powerpoint/2010/main" val="457469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1F003-C5A6-6C23-8AFA-A335BE6B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B96E6-3CD0-AB66-7BE5-715791E932B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C360D6D-D6F2-0C1D-258D-33314EAA827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6FDDD4E-A3E8-BDFD-803E-02E794E6943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48AF08-2740-3604-BD3E-75D21BC5EEF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034C5E69-AC61-2BE2-9FF8-1FB13A6FC50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734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9B6A-F7A4-FD65-8331-7FFAD78B2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CD012B1-E544-FA96-5649-C4D6EFD0B86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9A41082-BB2A-0C63-239F-73C21CB64C3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42D87B-3A3A-D045-F411-8DD80DF5F59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73F626-48A0-7D9F-7EB3-BC4CD131BF1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66A0DD6-83F2-D3C2-9F35-60ABD644E6D9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59CE294-3D60-ADC8-4698-43246F4A8D84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Sempre per più di 400 vertici</a:t>
            </a:r>
          </a:p>
        </p:txBody>
      </p:sp>
    </p:spTree>
    <p:extLst>
      <p:ext uri="{BB962C8B-B14F-4D97-AF65-F5344CB8AC3E}">
        <p14:creationId xmlns:p14="http://schemas.microsoft.com/office/powerpoint/2010/main" val="3221516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6D34-D7AC-6651-628D-495F40B3A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27385-DE2B-BF65-FDF3-5737A1DCDBB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426E36-B0F7-8F0E-C4ED-D4511A9577F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5B96B7D-89D0-CD99-A47F-3D4F5060BF45}"/>
              </a:ext>
            </a:extLst>
          </p:cNvPr>
          <p:cNvSpPr txBox="1"/>
          <p:nvPr/>
        </p:nvSpPr>
        <p:spPr>
          <a:xfrm>
            <a:off x="533399" y="728069"/>
            <a:ext cx="1111688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pochi vertici e preferibilmente con coefficiente di Spearman non nullo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A9C13A8-DED1-935B-C641-F30D36F5190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</a:t>
            </a:r>
            <a:r>
              <a:rPr lang="it-IT" sz="2000" b="1">
                <a:solidFill>
                  <a:schemeClr val="bg1"/>
                </a:solidFill>
              </a:rPr>
              <a:t>9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D197F-33C1-E1FC-D53E-6DF22690C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7DF7D95-ED49-78FF-948E-5FF477C4D5C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9D62F9D-5B9E-1796-9B01-66D3A1DB65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E56A103-685C-6C34-018D-D778F0C0DE1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5E34DE-CC6C-516C-08F2-48A4F76B35B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6A2399-36A1-C627-3B89-174C31F8C42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335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DF946-B9CD-7C5D-AB7C-6D683823E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FCEC5EE-8229-A134-9AA1-E213CC992FA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3CE9E9-D789-458F-FF6B-0BC22D38CC0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74ADAF1-B17C-A3D4-D52A-9371A10DCD9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0ECEE7-5094-BB4D-6DFD-71326A9B82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23CFC12-0558-5D19-8DCD-1075B8B1F792}"/>
              </a:ext>
            </a:extLst>
          </p:cNvPr>
          <p:cNvPicPr>
            <a:picLocks/>
          </p:cNvPicPr>
          <p:nvPr/>
        </p:nvPicPr>
        <p:blipFill>
          <a:blip r:embed="rId2"/>
          <a:srcRect l="937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63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234D-0556-F4E3-B41C-416A906ED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DAE6F80-EAA5-31EA-FC28-396A116498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F3C163E-DFD2-168F-65F5-0FE327D627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1E2ED5E-F460-5118-08A2-054BF86E003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4AF0F3-3DC9-323F-9B2D-AABCC0913E4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82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82738D8-F9C5-58A5-368C-5D5CA1CA1CD8}"/>
              </a:ext>
            </a:extLst>
          </p:cNvPr>
          <p:cNvPicPr>
            <a:picLocks/>
          </p:cNvPicPr>
          <p:nvPr/>
        </p:nvPicPr>
        <p:blipFill>
          <a:blip r:embed="rId2"/>
          <a:srcRect l="2607" r="389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75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B612C-440B-8F89-1482-85835AB7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3FEEDC2-6C63-F06E-AE92-F12FA2DD6FF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573351-3245-2D9F-C9A0-C6199A8002C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8A7C20A-3EDB-5198-D621-4058CA3BCF3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47325C-AE80-48D4-2029-95CCCF13BB4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83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8B2B309-A448-A6BD-5247-21C9F264FEAA}"/>
              </a:ext>
            </a:extLst>
          </p:cNvPr>
          <p:cNvPicPr>
            <a:picLocks/>
          </p:cNvPicPr>
          <p:nvPr/>
        </p:nvPicPr>
        <p:blipFill>
          <a:blip r:embed="rId2"/>
          <a:srcRect l="3134" r="3459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95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6119-7303-D062-81B0-349170A8D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78A05D-4E12-1F8B-5960-CBDC9C9D4E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0B63D4E-9AAB-8EB1-133B-E0D76D9FDFC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41F16EB-61C1-11DA-F5BD-1D38C9CDD5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6460D06-71DF-36D2-1B5F-49D79C2B0F3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84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9416516-D312-E475-9E64-E3E6C88B4436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4" r="3746"/>
          <a:stretch>
            <a:fillRect/>
          </a:stretch>
        </p:blipFill>
        <p:spPr bwMode="auto">
          <a:xfrm>
            <a:off x="1771841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85530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B25AE-673A-E7A1-C9F8-A22BEE8F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88BF4F-959E-214B-E44C-610FA24B6B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2971B6-1CFB-BB8D-4DB8-110B5CD8A9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8CE16D8-6F93-D8E9-5CB0-97BA5CE3F46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9BF7679-7605-82D4-C432-0C9B2E88DD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</a:t>
            </a:r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541E02A1-21B6-4441-F2F8-41C58FBA21DD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3" r="3550"/>
          <a:stretch>
            <a:fillRect/>
          </a:stretch>
        </p:blipFill>
        <p:spPr bwMode="auto">
          <a:xfrm>
            <a:off x="1771841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4967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B9B7-1482-8C69-39A6-9FA36D34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CA33A5D-7883-3636-3314-62CC183892F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23EF88-5386-A05A-F8BF-4DCC7DCAA8D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7C0E72-278E-B517-0EA8-3E453470029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529655-B162-C199-EC8B-DF5DA583C5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C62D4C-FDBC-81A1-5B9F-E9AAD5FB9A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8" t="14100" r="777"/>
          <a:stretch>
            <a:fillRect/>
          </a:stretch>
        </p:blipFill>
        <p:spPr bwMode="auto">
          <a:xfrm>
            <a:off x="1771841" y="2005342"/>
            <a:ext cx="8640000" cy="38482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42328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E3942-F7D6-C7DA-0FFF-98A861F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71277FC-BF4A-4F33-213A-EC70A4EAB47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8CBFC4-6A6F-F6FB-0CC2-D8B9E844F33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4E6C509-AF1E-E7DA-BE0C-A60F25B84391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9EE3E77-9AE2-AC30-EC0A-4953A53CB1A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5520660-2928-15DA-DB61-6546412F2677}"/>
              </a:ext>
            </a:extLst>
          </p:cNvPr>
          <p:cNvPicPr>
            <a:picLocks/>
          </p:cNvPicPr>
          <p:nvPr/>
        </p:nvPicPr>
        <p:blipFill>
          <a:blip r:embed="rId2"/>
          <a:srcRect r="132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747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C4E2-8DC6-E8C1-4163-369E0F15E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637C6D-6628-02B6-3029-8B8EB1806F9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C49FF66-4121-EFB3-EBC7-34D5D50DA29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B497444-5E9D-1F5A-3367-702212C9C2C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913BF6E-A100-C3D7-0D22-4311A84A0A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443BE6F-0FC8-688E-9B9F-2AB67F5B30AC}"/>
              </a:ext>
            </a:extLst>
          </p:cNvPr>
          <p:cNvPicPr>
            <a:picLocks/>
          </p:cNvPicPr>
          <p:nvPr/>
        </p:nvPicPr>
        <p:blipFill>
          <a:blip r:embed="rId2"/>
          <a:srcRect l="1000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76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B01A4-E6FA-4395-43CE-CABC1B09E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5ADA0D6-7A6C-DB17-2F03-EA9D8460B68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69F3D2A-40EA-B0AD-5710-6C281C5E88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CB5352F-931B-625B-B76F-ABBA8589A06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B2A803-82CE-373C-BEA2-F9E37994529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88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FB80DEF-981C-1133-781A-3166ED98033E}"/>
              </a:ext>
            </a:extLst>
          </p:cNvPr>
          <p:cNvPicPr>
            <a:picLocks/>
          </p:cNvPicPr>
          <p:nvPr/>
        </p:nvPicPr>
        <p:blipFill>
          <a:blip r:embed="rId2">
            <a:alphaModFix amt="70000"/>
          </a:blip>
          <a:srcRect l="1000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34DAD264-099B-650C-00BD-162B5B1A35DE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Grafi poco densi e con pochi vertici</a:t>
            </a:r>
          </a:p>
        </p:txBody>
      </p:sp>
    </p:spTree>
    <p:extLst>
      <p:ext uri="{BB962C8B-B14F-4D97-AF65-F5344CB8AC3E}">
        <p14:creationId xmlns:p14="http://schemas.microsoft.com/office/powerpoint/2010/main" val="340417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373B5-1F05-99BF-E606-86E236AE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45A66BB-0304-876E-BBF4-B1D14F3B0C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D394F60-1BB7-2064-CBE0-256CC3F94EE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9EE1E7-D017-53CF-074D-D0F39F42CA8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</a:t>
            </a: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1.75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La scelta di una soglia leggermente inferiore a 0.5 per inserire un vertice in cover potrebbe aver reso l’algoritmo troppo «generoso»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Soffre eccessivamente le istanze con alta variabilità del peso dei nodi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3FABD5-658C-6A51-D37B-79C9897AEBC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1859346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C44C-D4D1-7548-689B-66410DC27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45A62EB-FD4E-2B6C-5E1E-CC52C3B8491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C311CFC-6E4C-54E6-0929-3385D383BA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4BD8AB-8379-B086-A541-86BE9C16834F}"/>
              </a:ext>
            </a:extLst>
          </p:cNvPr>
          <p:cNvSpPr txBox="1"/>
          <p:nvPr/>
        </p:nvSpPr>
        <p:spPr>
          <a:xfrm>
            <a:off x="533399" y="728069"/>
            <a:ext cx="11116884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Peggior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Algoritmo basato sul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doubling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and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rounding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down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Rapporto di approssimazione medio sempre &lt; 1.75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La scelta di una soglia leggermente inferiore a 0.5 per inserire un vertice in cover potrebbe aver reso l’algoritmo troppo «generoso»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A2F0D9-F77F-4DCF-42BF-3DECCBA5B6A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89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60F0149-BA7F-9C6C-C3C8-82C067F005FF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Si è provato ad alzare la soglia ma sono state ottenute soluzioni non ammissibili</a:t>
            </a:r>
          </a:p>
        </p:txBody>
      </p:sp>
    </p:spTree>
    <p:extLst>
      <p:ext uri="{BB962C8B-B14F-4D97-AF65-F5344CB8AC3E}">
        <p14:creationId xmlns:p14="http://schemas.microsoft.com/office/powerpoint/2010/main" val="2893284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FDA67-8D17-F33B-FB9D-84CBCD2EA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2C73294-5E5D-A3B5-7309-2DEDDB42FDA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9439A3-BADB-C1B1-7DE9-4CC7EE88B84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EE334B-38EB-BAFB-70C1-BD06BC84ED57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DF8A68-4D21-A8DC-48D2-5E1F95CBEAC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EFBC8B-6CF9-6CAD-1EAC-AC34A56B6E0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388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3569-5114-6094-BAE4-CDDAF7B26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D72A2A2-B112-DB9E-29F6-8F4717F374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0AB5D9-A83A-C543-DDB1-CB079312B27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66A186-70BB-EDDA-737D-71556A2889D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F7ED44C-CB8E-D848-EF53-DC515FB4B69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9</a:t>
            </a:r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2DA2FDA-1378-09C5-F39F-9D0B3164D2E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227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42935-A6FB-A5F7-F083-B5D7D78AA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FEFD664-C8C6-842D-D559-3F1D5E81AB8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349EFBC-B08B-4BF8-F67F-230118ECBA5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067F2A-7786-AC8F-99A0-917DFDAA58F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A18EFC-06C2-8386-4DB4-6DE3996B4FD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FF48C02-BC9F-8640-0E3C-774F9AED126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603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1B02-CBAB-AF3B-F921-600DA6B4D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A27730-5009-655B-C459-FAB94079805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34D9496-DE25-C595-7D04-FDCF3D19B3D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3CCB15-F815-2DF9-17AE-E8C173424A7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403CB7-421F-49AD-CC8D-44A8F99E0BA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2A69912-E135-7C25-B063-883CB8B6DA9E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03D05E01-C0F9-AEEF-E13B-D3912BB6D59B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L’elevata variabilità dei pesi mette in particolare difficoltà gli algoritmi basati su 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</a:t>
            </a:r>
          </a:p>
        </p:txBody>
      </p:sp>
    </p:spTree>
    <p:extLst>
      <p:ext uri="{BB962C8B-B14F-4D97-AF65-F5344CB8AC3E}">
        <p14:creationId xmlns:p14="http://schemas.microsoft.com/office/powerpoint/2010/main" val="8825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322CF-8E2A-6FAA-5B00-5C46540E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F086F79-B4F2-112D-9568-1A841C8CCCF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3C03687-AD41-2580-8F42-A1DA7250AD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61BA39-B630-74B5-F5AD-34EEDDED470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EB1582-E616-F49A-8F7B-9D5F9966E8D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C8EA2C2-33A7-E794-736D-13BBBEFC2872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B5C4E2A6-641D-685A-38EF-B9CDB3F21BA9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Grafi molto densi e con variabilità dei pesi molto alta hanno comunque messo in crisi tutti gli algoritmi</a:t>
            </a:r>
          </a:p>
        </p:txBody>
      </p:sp>
    </p:spTree>
    <p:extLst>
      <p:ext uri="{BB962C8B-B14F-4D97-AF65-F5344CB8AC3E}">
        <p14:creationId xmlns:p14="http://schemas.microsoft.com/office/powerpoint/2010/main" val="310008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F502A-C892-D9D3-9D7A-0BF5F5FC2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BE0FB29-24CB-3293-05BF-2C7A52C1E0F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77C5D8E-583D-66EC-866A-5CB337B0F4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ED8597-2635-CB4B-E1C9-6A5FC11434CB}"/>
              </a:ext>
            </a:extLst>
          </p:cNvPr>
          <p:cNvSpPr txBox="1"/>
          <p:nvPr/>
        </p:nvSpPr>
        <p:spPr>
          <a:xfrm>
            <a:off x="533399" y="728069"/>
            <a:ext cx="11116884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dal vertice che pesa meno): ha risentito della correlazione?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Ci si aspettavano performance migliori quando il vertice con peso minore coincideva con il vertice di grado maggiore.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Non è stato peggiore degli altri algoritmi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5BFEFF-00AD-7B3B-1FE2-77DDC7D4225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93</a:t>
            </a:r>
          </a:p>
        </p:txBody>
      </p:sp>
    </p:spTree>
    <p:extLst>
      <p:ext uri="{BB962C8B-B14F-4D97-AF65-F5344CB8AC3E}">
        <p14:creationId xmlns:p14="http://schemas.microsoft.com/office/powerpoint/2010/main" val="3512722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F89CC-1463-AE9E-C3FF-8484C8DD4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D3270C7-397F-F05B-393E-C1F281932B7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39C196C-E0D3-902E-C6CC-FE797CF2F7E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9ECA83C-55DE-D753-3B95-EB3EBB7F836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dal vertice che pesa meno):</a:t>
            </a:r>
            <a:endParaRPr lang="it-IT" sz="28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5D4A57C-BC41-EE4F-8733-C614742D819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94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99598ED-B170-0A38-095B-66FFA989093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701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2EA8E-639C-6D2E-56FA-17897DDB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3CC3913-EBCE-383C-9C19-DCC8C84ED64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330771-3261-7C9C-7C53-45E8ECD6D68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63C7551-3C8E-7FB1-B39B-43E937EB5A10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ha risentito della correlazione?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Non si comporta mai peggio dell’algoritmo 1 tranne quando ci sono grafi con pochi vertici e il coefficiente di Spearman è -1: l’algoritmo 1 è troppo favorito.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37308-8C6E-7AD0-2220-DFD1A463C75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95</a:t>
            </a:r>
          </a:p>
        </p:txBody>
      </p:sp>
    </p:spTree>
    <p:extLst>
      <p:ext uri="{BB962C8B-B14F-4D97-AF65-F5344CB8AC3E}">
        <p14:creationId xmlns:p14="http://schemas.microsoft.com/office/powerpoint/2010/main" val="532663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5987C-AC89-2C78-5B1B-1AB53A3A7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875984-3E97-6A57-2D76-A94A6AB5290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51BF800-03D7-2A50-1C95-7F319A7D4CD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A4358F1-830B-60CF-B7F6-D3FAE181662D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C6AF686-89BD-F737-9B44-32ED62FB43D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6968002-DB12-F455-6A91-FB72EDED3A0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259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F52E1-A252-313B-31F5-18E59530F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9257223-4F46-DD12-2802-4CF81ABF6F7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443B33F-0ED4-1A9E-EBF5-83D24F039BC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EE42C-28F3-5A86-4E21-A7C34C052275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18551B-1F4F-75F9-795D-C8738DB98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65470CB-B89D-F6A5-7FF2-E0B2EB1EC77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90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1CC44-3230-E845-839B-EFCAC4BC3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FE5A157-570F-EE16-0D44-FA863290AD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BE432BF-3B4D-946E-7FE5-6F4EEEAFFEE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A20B53A-6E46-2F5C-B9B9-CC2127A14069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2662F41-C854-FD78-0973-384BCB19A17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B42CB42-CD26-95F3-6FF5-F12B3205F752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8F6E4294-8143-02BA-225E-5F070D2C70FE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In questo caso Sp = 1, l’Algoritmo 1 è pesantemente sfavorito </a:t>
            </a:r>
          </a:p>
        </p:txBody>
      </p:sp>
    </p:spTree>
    <p:extLst>
      <p:ext uri="{BB962C8B-B14F-4D97-AF65-F5344CB8AC3E}">
        <p14:creationId xmlns:p14="http://schemas.microsoft.com/office/powerpoint/2010/main" val="1088913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4A1A-6520-E63B-6B1A-89C39CA0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3B5711A-C396-4425-D715-D9BC2AAABAF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D57D5E8-7CF3-5B08-A15C-81A640972C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2821FC8-A23A-B10C-D255-7C6FE4BED43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234348-5FB4-D998-9D95-7F0BD0D59AE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332FBDEC-69EF-8136-4E59-A20FA00465C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358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C38FE-24B8-9C4F-3A1D-8FA97078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2CF3D2-B4B8-35FC-B819-BFAF238DAB9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46C25CE-EC94-1EF3-207D-2FFE0B4CE7B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D03FC1-9C8A-5A6F-01A7-82D5351DFBA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80FE6C-790B-5827-87F8-15C5C699C46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9</a:t>
            </a:r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D2409FD6-7A7A-E4E5-DE98-57DF6DF8D86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A3EF71FD-44AC-1865-FB26-77C564D59A37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 il grafo è molto denso o ha molti vertici, gli algoritmi offrono risultati mediamente simili</a:t>
            </a:r>
          </a:p>
        </p:txBody>
      </p:sp>
    </p:spTree>
    <p:extLst>
      <p:ext uri="{BB962C8B-B14F-4D97-AF65-F5344CB8AC3E}">
        <p14:creationId xmlns:p14="http://schemas.microsoft.com/office/powerpoint/2010/main" val="2857871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C9AB5-B991-E3F1-ED99-D21DC2F6D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BB006A6-9DA6-1B9D-7FEE-1D7E50183D5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5F8271A-7223-AE16-A61A-84D6A6FC440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D4D48D-7A0C-DB0E-1CF2-9C108A9FA5E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82B7174-975F-58BA-7B79-5FCBFB802A6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326ADDE-8E95-37FC-9564-731FC782CEC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D691A059-294D-0639-53FD-5D4A5B8B2B6A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Meglio preferire algoritmi che non impiegano solver</a:t>
            </a:r>
          </a:p>
        </p:txBody>
      </p:sp>
    </p:spTree>
    <p:extLst>
      <p:ext uri="{BB962C8B-B14F-4D97-AF65-F5344CB8AC3E}">
        <p14:creationId xmlns:p14="http://schemas.microsoft.com/office/powerpoint/2010/main" val="3692327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B76-B628-5960-7F89-7CED87BAB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FE31AE6-F096-083A-AA75-7448F80CE4F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31DE354-62DC-EE34-4683-EEF9D5C3AEB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616B25-5E42-0294-2B27-AF4B68637E7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95E7678-224C-F764-CBDC-C2EC953BD6F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99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4004622-B01A-F591-78A7-72D6A1DAB19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9253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DC9DF-D152-5BF8-36BD-F93EC1206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8D8CE4-394A-BDBD-E859-38F13C5D6D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79ADF-B41D-1508-0C8F-55A7DD8A6EF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300FBE-2BCE-09C7-87D8-5762EF42EBD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883D55-22CA-5DEF-6CC4-44242420EC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99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CBA6E7E-FB44-9D14-DC8D-1ECCD5D96C91}"/>
              </a:ext>
            </a:extLst>
          </p:cNvPr>
          <p:cNvPicPr>
            <a:picLocks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B43A01F0-DD80-D1E3-658E-FF6C372B1679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Sempre per più di 400 vertici</a:t>
            </a:r>
          </a:p>
        </p:txBody>
      </p:sp>
    </p:spTree>
    <p:extLst>
      <p:ext uri="{BB962C8B-B14F-4D97-AF65-F5344CB8AC3E}">
        <p14:creationId xmlns:p14="http://schemas.microsoft.com/office/powerpoint/2010/main" val="92871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5BB0C-C140-4B80-8260-942B835A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A505E94-3907-AFB2-CEE5-C4D4AE21F19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7FE5FF7-0241-9A66-F316-A3D61D4BC6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18706A5-79F2-208B-E2C2-0A8B05D0A7A2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A1BC36-E1EA-D11F-D584-020819C1BC6A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204648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3DDBA-5513-EB7F-715F-5CB86C303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727F1C3-E4E3-0106-AAD8-7D119743209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0ABB001-AC40-0227-8DEB-860F304CBB6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EFED939-047A-7038-1C22-E0867BAA5AEB}"/>
              </a:ext>
            </a:extLst>
          </p:cNvPr>
          <p:cNvSpPr txBox="1"/>
          <p:nvPr/>
        </p:nvSpPr>
        <p:spPr>
          <a:xfrm>
            <a:off x="533399" y="728069"/>
            <a:ext cx="11116884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Gli algoritmi esaminati hanno mostrato come l’utilizzo di </a:t>
            </a:r>
            <a:r>
              <a:rPr lang="it-IT" sz="3200" b="1" dirty="0"/>
              <a:t>solver</a:t>
            </a:r>
            <a:r>
              <a:rPr lang="it-IT" sz="3200" dirty="0"/>
              <a:t> sembri più raccomandato per </a:t>
            </a:r>
            <a:r>
              <a:rPr lang="it-IT" sz="3200" b="1" dirty="0"/>
              <a:t>istanze piccole</a:t>
            </a:r>
            <a:r>
              <a:rPr lang="it-IT" sz="3200" dirty="0"/>
              <a:t>, mentre l’impiego di algoritmi euristici potrebbe essere più indicato per istanze di grandi dimensioni. Per grafi con molti vertici e con grado «uniforme», le euristiche propongono risultati molto vicini all’ottimo e con tempi di esecuzione decisamente ridotti.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2CDBC9F-2AE9-4CAF-449C-DF4AA6C85D27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101</a:t>
            </a:r>
          </a:p>
        </p:txBody>
      </p:sp>
    </p:spTree>
    <p:extLst>
      <p:ext uri="{BB962C8B-B14F-4D97-AF65-F5344CB8AC3E}">
        <p14:creationId xmlns:p14="http://schemas.microsoft.com/office/powerpoint/2010/main" val="2009950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3FD21-6428-DC38-D0B4-CF2DB718F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299EA1-71DD-9203-782C-71D004D1086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4772B3-BA95-7984-9142-91910DC0CC1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73220-E648-2CFA-319B-7DBAFF0B4EAE}"/>
              </a:ext>
            </a:extLst>
          </p:cNvPr>
          <p:cNvSpPr txBox="1"/>
          <p:nvPr/>
        </p:nvSpPr>
        <p:spPr>
          <a:xfrm>
            <a:off x="533399" y="728069"/>
            <a:ext cx="11116884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Gli algoritmi basati su </a:t>
            </a: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hanno inserito </a:t>
            </a:r>
            <a:r>
              <a:rPr lang="it-IT" sz="3200" b="1" dirty="0"/>
              <a:t>in cover più vertici di quelli che avrebbero dovuto</a:t>
            </a:r>
            <a:r>
              <a:rPr lang="it-IT" sz="3200" dirty="0"/>
              <a:t>, soffrendo l’elevata variabilità (di grado nel caso non pesato e di peso nel caso pesato) in modo evidente. 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Utilizzare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apporta un vantaggio significativo solo quando i </a:t>
            </a:r>
            <a:r>
              <a:rPr lang="it-IT" sz="3200" b="1" dirty="0"/>
              <a:t>triangoli sono facili da individuare </a:t>
            </a:r>
            <a:r>
              <a:rPr lang="it-IT" sz="3200" dirty="0"/>
              <a:t>(pochi vertici con grado basso = meno possibilità da esplorare)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BC36CE-D454-C5BE-CC41-5C2C839DCB8A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991512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61189-60AB-21BD-E0A9-485823799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B01D2A4-A234-04B3-FFD1-5E47CA442A4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3BE514-F8B3-0D31-6E76-00A0C75605A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DBE872-EC38-3091-2FE5-018CE15E9CBE}"/>
              </a:ext>
            </a:extLst>
          </p:cNvPr>
          <p:cNvSpPr txBox="1"/>
          <p:nvPr/>
        </p:nvSpPr>
        <p:spPr>
          <a:xfrm>
            <a:off x="533399" y="728069"/>
            <a:ext cx="1111688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Materiale completo: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Codice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Performance vertex cover non pesato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Performance vertex cover pesato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Questa presentazione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lvl="1" algn="ctr">
              <a:spcAft>
                <a:spcPts val="600"/>
              </a:spcAft>
            </a:pPr>
            <a:r>
              <a:rPr lang="it-IT" sz="3200" dirty="0">
                <a:hlinkClick r:id="rId2"/>
              </a:rPr>
              <a:t>https://github.com/gianpaolo-pestilli/amod_project.git</a:t>
            </a:r>
            <a:endParaRPr lang="it-IT" sz="3200" dirty="0"/>
          </a:p>
          <a:p>
            <a:pPr lvl="1" algn="ctr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2876651-11BD-0637-F927-292E8CEAC0B1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1569746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0934-9639-DB09-279E-CA444BFBD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36317017-13D9-96A4-364D-828B5524F7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5939415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B9DA7EFA-4046-B4ED-4958-D897BBBE6CF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CD88C07-EBA5-3BA8-8BF0-191AAEC13E8D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1944CDA-378E-2A03-755D-C304650C1A17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2527631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</TotalTime>
  <Words>3700</Words>
  <Application>Microsoft Office PowerPoint</Application>
  <PresentationFormat>Widescreen</PresentationFormat>
  <Paragraphs>708</Paragraphs>
  <Slides>120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120</vt:i4>
      </vt:variant>
    </vt:vector>
  </HeadingPairs>
  <TitlesOfParts>
    <vt:vector size="125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55</cp:revision>
  <dcterms:created xsi:type="dcterms:W3CDTF">2026-06-12T20:11:00Z</dcterms:created>
  <dcterms:modified xsi:type="dcterms:W3CDTF">2026-06-29T15:52:13Z</dcterms:modified>
</cp:coreProperties>
</file>