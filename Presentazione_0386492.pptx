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2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380" r:id="rId16"/>
    <p:sldId id="271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8" r:id="rId42"/>
    <p:sldId id="299" r:id="rId43"/>
    <p:sldId id="300" r:id="rId44"/>
    <p:sldId id="301" r:id="rId45"/>
    <p:sldId id="305" r:id="rId46"/>
    <p:sldId id="302" r:id="rId47"/>
    <p:sldId id="308" r:id="rId48"/>
    <p:sldId id="309" r:id="rId49"/>
    <p:sldId id="310" r:id="rId50"/>
    <p:sldId id="306" r:id="rId51"/>
    <p:sldId id="307" r:id="rId52"/>
    <p:sldId id="311" r:id="rId53"/>
    <p:sldId id="312" r:id="rId54"/>
    <p:sldId id="313" r:id="rId55"/>
    <p:sldId id="315" r:id="rId56"/>
    <p:sldId id="316" r:id="rId57"/>
    <p:sldId id="314" r:id="rId58"/>
    <p:sldId id="317" r:id="rId59"/>
    <p:sldId id="303" r:id="rId60"/>
    <p:sldId id="304" r:id="rId61"/>
    <p:sldId id="318" r:id="rId62"/>
    <p:sldId id="319" r:id="rId63"/>
    <p:sldId id="321" r:id="rId64"/>
    <p:sldId id="322" r:id="rId65"/>
    <p:sldId id="323" r:id="rId66"/>
    <p:sldId id="324" r:id="rId67"/>
    <p:sldId id="325" r:id="rId68"/>
    <p:sldId id="326" r:id="rId69"/>
    <p:sldId id="327" r:id="rId70"/>
    <p:sldId id="328" r:id="rId71"/>
    <p:sldId id="329" r:id="rId72"/>
    <p:sldId id="345" r:id="rId73"/>
    <p:sldId id="320" r:id="rId74"/>
    <p:sldId id="330" r:id="rId75"/>
    <p:sldId id="331" r:id="rId76"/>
    <p:sldId id="332" r:id="rId77"/>
    <p:sldId id="333" r:id="rId78"/>
    <p:sldId id="334" r:id="rId79"/>
    <p:sldId id="337" r:id="rId80"/>
    <p:sldId id="338" r:id="rId81"/>
    <p:sldId id="339" r:id="rId82"/>
    <p:sldId id="340" r:id="rId83"/>
    <p:sldId id="341" r:id="rId84"/>
    <p:sldId id="342" r:id="rId85"/>
    <p:sldId id="343" r:id="rId86"/>
    <p:sldId id="344" r:id="rId87"/>
    <p:sldId id="346" r:id="rId88"/>
    <p:sldId id="347" r:id="rId89"/>
    <p:sldId id="348" r:id="rId90"/>
    <p:sldId id="349" r:id="rId91"/>
    <p:sldId id="350" r:id="rId92"/>
    <p:sldId id="351" r:id="rId93"/>
    <p:sldId id="352" r:id="rId94"/>
    <p:sldId id="353" r:id="rId95"/>
    <p:sldId id="354" r:id="rId96"/>
    <p:sldId id="355" r:id="rId97"/>
    <p:sldId id="356" r:id="rId98"/>
    <p:sldId id="357" r:id="rId99"/>
    <p:sldId id="358" r:id="rId100"/>
    <p:sldId id="359" r:id="rId101"/>
    <p:sldId id="360" r:id="rId102"/>
    <p:sldId id="361" r:id="rId103"/>
    <p:sldId id="362" r:id="rId104"/>
    <p:sldId id="378" r:id="rId105"/>
    <p:sldId id="363" r:id="rId106"/>
    <p:sldId id="364" r:id="rId107"/>
    <p:sldId id="365" r:id="rId108"/>
    <p:sldId id="366" r:id="rId109"/>
    <p:sldId id="367" r:id="rId110"/>
    <p:sldId id="368" r:id="rId111"/>
    <p:sldId id="369" r:id="rId112"/>
    <p:sldId id="370" r:id="rId113"/>
    <p:sldId id="371" r:id="rId114"/>
    <p:sldId id="372" r:id="rId115"/>
    <p:sldId id="373" r:id="rId116"/>
    <p:sldId id="374" r:id="rId117"/>
    <p:sldId id="375" r:id="rId118"/>
    <p:sldId id="379" r:id="rId119"/>
    <p:sldId id="376" r:id="rId120"/>
    <p:sldId id="377" r:id="rId12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56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viewProps" Target="view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C88626-8297-4000-AA78-E4F17AAF9259}" type="datetimeFigureOut">
              <a:rPr lang="it-IT" smtClean="0"/>
              <a:t>29/06/2026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D32BE9-5CDD-4B08-B335-3127A5390EC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20518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D9585E-86E7-C51C-DBC6-323DFE3296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D4A09B2E-DACF-F53A-9ED4-EA6214CCD8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ED0594E-272B-258A-6E66-903CB7D18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C3E97-3DDD-4186-A208-B850F35723DB}" type="datetime1">
              <a:rPr lang="it-IT" smtClean="0"/>
              <a:t>29/06/2026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C970AA6-09FF-A32D-53E0-255613B8A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1D7CDC2-436A-F090-2527-3DCF10D70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F5B0F-C317-4CE9-868E-EACF911AC39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58320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34B7833-C7FE-C1EB-F5A4-733381895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F561FFD-4945-CB7B-175E-E22C106C06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D72E431-7732-BDDA-EF08-259BEB8F2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9C9B6-BFF0-438D-B09E-8432B8734EE5}" type="datetime1">
              <a:rPr lang="it-IT" smtClean="0"/>
              <a:t>29/06/2026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8886248-1C0E-CD31-A043-C9AF6ABD6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FE2C7A0-7804-1D82-F1D8-8704D7FE0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F5B0F-C317-4CE9-868E-EACF911AC39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64438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D275AD8-13A0-7BCA-0BFC-44889835A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42F52C2-7F0B-951A-BE57-866D655A11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3B3025A-BED1-B69C-F8C5-F7C26DA61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C7979-BD5D-4D0F-9310-241562FF9E94}" type="datetime1">
              <a:rPr lang="it-IT" smtClean="0"/>
              <a:t>29/06/2026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BCF15A6-7D3A-1EE3-8C93-BEDB5827D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983C0F8-2110-103E-F53F-5B5B27761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F5B0F-C317-4CE9-868E-EACF911AC39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85120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BC04EA3-E933-FD6C-2636-76CB3C5CA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141C80B-567D-F5B4-012F-6DF76DD234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2A6BC71-5BE3-8ED9-A3D0-67030591FC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2C47705-E9F5-242F-89A9-35EFA764E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8F376-66C7-47F4-9CDC-69997AFD8804}" type="datetime1">
              <a:rPr lang="it-IT" smtClean="0"/>
              <a:t>29/06/2026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9E27AFF-3855-4D84-3EBB-1B4534BE8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046636D-508A-F918-428F-2D2E85B7D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F5B0F-C317-4CE9-868E-EACF911AC39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65501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F9870B8-8B4A-0B2E-BC66-16813AC78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D21403D-1617-68BE-3DA1-FC420E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D7D558C-4F53-B3CA-FDD9-51E7901BCA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F2248B6A-9F26-ED59-9793-58B21F426E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D1100B6A-8982-DD20-607C-FB8F28DD73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D05599F6-63D7-507E-CB4F-A90619A7E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CE95E-26FA-4B50-AEEC-A0C3476A6D97}" type="datetime1">
              <a:rPr lang="it-IT" smtClean="0"/>
              <a:t>29/06/2026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55AB9D1C-0DB6-A962-CC59-66E65F9EC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18E73910-2453-BDEA-5CB4-A90CC2FB3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F5B0F-C317-4CE9-868E-EACF911AC39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81212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9BD6F99-B675-6972-968E-88A0DB583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DBEBE7B-CD5E-4D0B-4254-ABA5BB55B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C9EBA-B4EE-4B7C-8D99-E4EE9B4515D3}" type="datetime1">
              <a:rPr lang="it-IT" smtClean="0"/>
              <a:t>29/06/2026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AC1E58DF-617B-75B4-0DC9-38AD3244D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43AAAE4-B107-6694-572A-8F977E707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F5B0F-C317-4CE9-868E-EACF911AC39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72321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33A98471-C700-ED9F-AA69-BEB7F01F0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4029C-F4FA-44C2-8417-402E4F9F070D}" type="datetime1">
              <a:rPr lang="it-IT" smtClean="0"/>
              <a:t>29/06/2026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1E4ACC49-989F-AD6A-8E71-09FA00494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1616A85-9891-F44A-82CC-28490001D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F5B0F-C317-4CE9-868E-EACF911AC39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33928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A8AD5BC-4845-5B99-FA83-1928E2DDE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44AA091-9D2B-EF94-6123-1FD3BF53A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57014E7-2FAB-AFCB-393B-1FB3906F4B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4AC79B6-B2C6-4876-11E0-E581067BC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525BE-1E49-4B4B-B3DA-784C3A60B941}" type="datetime1">
              <a:rPr lang="it-IT" smtClean="0"/>
              <a:t>29/06/2026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1D644F9-20F8-3257-C31A-E0FBC1764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3F4CD04-B1A7-782E-9EF1-2CF93DDFD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F5B0F-C317-4CE9-868E-EACF911AC39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06856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F280370-37DC-6CC1-70FE-AE4B2E5B8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F8A652FF-2568-DF84-D98D-DA30D75FBA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6B827820-ABE3-837C-A38A-E63C64150D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26271C9-0E2F-A958-FB55-7A515C1E0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C9992-29B7-4892-A984-BAD5A3D1DFD6}" type="datetime1">
              <a:rPr lang="it-IT" smtClean="0"/>
              <a:t>29/06/2026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2F22AA1-30BA-F52C-8758-B41AED602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682121F-4297-F62C-83E9-BC5015BF0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F5B0F-C317-4CE9-868E-EACF911AC39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52072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A80029D-8D34-C2E8-7338-0E7A340DA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898D646-4D39-8D8A-AD0D-F714C726B9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358925E-1BE4-BEF5-E531-9E0B6C04E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2FBA6-F7A9-4C74-B465-9FF20E4A7E98}" type="datetime1">
              <a:rPr lang="it-IT" smtClean="0"/>
              <a:t>29/06/2026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FBFC074-4E2F-A17E-B86B-4EE665854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12D9A63-F119-1320-0B6A-3829333E4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F5B0F-C317-4CE9-868E-EACF911AC39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15548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99F29494-2A49-8AA3-8BD4-C2E0D6B444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8BD18CE-90CF-79B8-A3DD-6BF72BEA31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561BBFC-D7C8-B3DA-E98B-6E83E3C96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89735-B0FA-42EC-B352-C4875869C0BC}" type="datetime1">
              <a:rPr lang="it-IT" smtClean="0"/>
              <a:t>29/06/2026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0E7FBF0-2723-C95F-13E7-BCFC961D7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6F7AC2A-F052-E1B7-153F-92794CD9B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F5B0F-C317-4CE9-868E-EACF911AC39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3242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F81474D5-93F1-C6BF-4FC2-01FD92F26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73D5310-8276-3FF7-784A-BE9885103E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60FB978-1F5C-98BC-6FCB-E9F695F3C2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5A07EC-953A-454F-8426-34AAF06A63B6}" type="datetime1">
              <a:rPr lang="it-IT" smtClean="0"/>
              <a:t>29/06/2026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76155F4-765E-8C1B-2783-3716C2DD20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D5E4149-5748-8CE2-5B3A-FC8A3B273F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CF5B0F-C317-4CE9-868E-EACF911AC39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20711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ianpaolo-pestilli/amod_project.git" TargetMode="Externa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ianpaolo-pestilli/amod_project.git" TargetMode="External"/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 descr="grafos">
            <a:extLst>
              <a:ext uri="{FF2B5EF4-FFF2-40B4-BE49-F238E27FC236}">
                <a16:creationId xmlns:a16="http://schemas.microsoft.com/office/drawing/2014/main" id="{7F45E4BA-9922-4894-47D3-0308BEEE42B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0"/>
            <a:ext cx="12192001" cy="4762919"/>
          </a:xfrm>
          <a:prstGeom prst="rect">
            <a:avLst/>
          </a:prstGeom>
        </p:spPr>
      </p:pic>
      <p:sp>
        <p:nvSpPr>
          <p:cNvPr id="5" name="Rettangolo 4">
            <a:extLst>
              <a:ext uri="{FF2B5EF4-FFF2-40B4-BE49-F238E27FC236}">
                <a16:creationId xmlns:a16="http://schemas.microsoft.com/office/drawing/2014/main" id="{83A6944F-C6A5-D8BA-82B2-D03F96F1C803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F923F726-1D35-BA39-C8D2-F4EF10F57513}"/>
              </a:ext>
            </a:extLst>
          </p:cNvPr>
          <p:cNvSpPr txBox="1"/>
          <p:nvPr/>
        </p:nvSpPr>
        <p:spPr>
          <a:xfrm>
            <a:off x="1396179" y="3654923"/>
            <a:ext cx="939964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6600" b="1" dirty="0">
                <a:solidFill>
                  <a:srgbClr val="990000"/>
                </a:solidFill>
              </a:rPr>
              <a:t>MINIMUM VERTEX COVER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CBEEED13-D24E-CECE-E6F5-2C5FAD148501}"/>
              </a:ext>
            </a:extLst>
          </p:cNvPr>
          <p:cNvSpPr txBox="1"/>
          <p:nvPr/>
        </p:nvSpPr>
        <p:spPr>
          <a:xfrm>
            <a:off x="8802356" y="6222490"/>
            <a:ext cx="32858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 (0386492) 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074679B7-D32B-7777-B8F0-7F40911C8AE9}"/>
              </a:ext>
            </a:extLst>
          </p:cNvPr>
          <p:cNvSpPr txBox="1"/>
          <p:nvPr/>
        </p:nvSpPr>
        <p:spPr>
          <a:xfrm>
            <a:off x="103832" y="6222490"/>
            <a:ext cx="21269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bg1"/>
                </a:solidFill>
              </a:rPr>
              <a:t>AMOD 2025-2026</a:t>
            </a:r>
          </a:p>
        </p:txBody>
      </p:sp>
    </p:spTree>
    <p:extLst>
      <p:ext uri="{BB962C8B-B14F-4D97-AF65-F5344CB8AC3E}">
        <p14:creationId xmlns:p14="http://schemas.microsoft.com/office/powerpoint/2010/main" val="31397501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76725-92B5-3B1E-6F34-784FA2A2F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123A58A5-7B62-B7C8-AB5A-3384C06A23B5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846BBC47-0C05-6043-053E-9C532B262023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508438DD-8FFC-A83F-4FDC-F7E451F078FA}"/>
              </a:ext>
            </a:extLst>
          </p:cNvPr>
          <p:cNvSpPr txBox="1"/>
          <p:nvPr/>
        </p:nvSpPr>
        <p:spPr>
          <a:xfrm>
            <a:off x="11650283" y="6222490"/>
            <a:ext cx="2620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64862638-C662-D171-BA24-7BE83738BF0F}"/>
              </a:ext>
            </a:extLst>
          </p:cNvPr>
          <p:cNvSpPr txBox="1"/>
          <p:nvPr/>
        </p:nvSpPr>
        <p:spPr>
          <a:xfrm>
            <a:off x="533399" y="728069"/>
            <a:ext cx="6304281" cy="43249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>
                <a:solidFill>
                  <a:srgbClr val="990000"/>
                </a:solidFill>
              </a:rPr>
              <a:t>ROADMAP: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it-IT" sz="3200" dirty="0"/>
              <a:t>IDEA DEL PROGETTO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it-IT" sz="3200" dirty="0"/>
              <a:t>ALGORITMI CONFRONTATI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it-IT" sz="3200" dirty="0"/>
              <a:t>METODOLOGIA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it-IT" sz="3200" dirty="0"/>
              <a:t>RISULTATI PIÙ SIGNIFICATIVI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it-IT" sz="3200" dirty="0"/>
              <a:t>CONCLUSIONI</a:t>
            </a:r>
          </a:p>
        </p:txBody>
      </p:sp>
    </p:spTree>
    <p:extLst>
      <p:ext uri="{BB962C8B-B14F-4D97-AF65-F5344CB8AC3E}">
        <p14:creationId xmlns:p14="http://schemas.microsoft.com/office/powerpoint/2010/main" val="23312608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41291-74B8-7E05-0F50-FFEEA4622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09CEE577-B151-FB0C-F1B2-4E68BBD26850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CA90F200-4F12-E9F5-F6CC-9F77401E41E5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E97F6DF-BC58-7414-0FC5-90B555528674}"/>
              </a:ext>
            </a:extLst>
          </p:cNvPr>
          <p:cNvSpPr txBox="1"/>
          <p:nvPr/>
        </p:nvSpPr>
        <p:spPr>
          <a:xfrm>
            <a:off x="11650283" y="6222490"/>
            <a:ext cx="2620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77192AA6-47F9-1040-6EF7-F1EE767A7D5B}"/>
              </a:ext>
            </a:extLst>
          </p:cNvPr>
          <p:cNvSpPr txBox="1"/>
          <p:nvPr/>
        </p:nvSpPr>
        <p:spPr>
          <a:xfrm>
            <a:off x="533399" y="728069"/>
            <a:ext cx="6304281" cy="43249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>
                <a:solidFill>
                  <a:srgbClr val="990000"/>
                </a:solidFill>
              </a:rPr>
              <a:t>ROADMAP: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it-IT" sz="3200" b="1" dirty="0"/>
              <a:t>IDEA DEL PROGETTO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it-IT" sz="3200" dirty="0">
                <a:solidFill>
                  <a:schemeClr val="bg2">
                    <a:lumMod val="75000"/>
                  </a:schemeClr>
                </a:solidFill>
              </a:rPr>
              <a:t>ALGORITMI CONFRONTATI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it-IT" sz="3200" dirty="0">
                <a:solidFill>
                  <a:schemeClr val="bg2">
                    <a:lumMod val="75000"/>
                  </a:schemeClr>
                </a:solidFill>
              </a:rPr>
              <a:t>METODOLOGIA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it-IT" sz="3200" dirty="0">
                <a:solidFill>
                  <a:schemeClr val="bg2">
                    <a:lumMod val="75000"/>
                  </a:schemeClr>
                </a:solidFill>
              </a:rPr>
              <a:t>RISULTATI PIÙ SIGNIFICATIVI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it-IT" sz="3200" dirty="0">
                <a:solidFill>
                  <a:schemeClr val="bg2">
                    <a:lumMod val="75000"/>
                  </a:schemeClr>
                </a:solidFill>
              </a:rPr>
              <a:t>CONCLUSIONI</a:t>
            </a:r>
          </a:p>
        </p:txBody>
      </p:sp>
    </p:spTree>
    <p:extLst>
      <p:ext uri="{BB962C8B-B14F-4D97-AF65-F5344CB8AC3E}">
        <p14:creationId xmlns:p14="http://schemas.microsoft.com/office/powerpoint/2010/main" val="30152918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FF0FC-BD09-BF0F-AD7B-5F31CE0AC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F3CB05E6-11E7-2515-0DB5-AEB005B33A52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9A7C265-2507-930E-62A1-73A525945943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98081FC8-AEE9-F1BB-2240-0076E5727DCD}"/>
              </a:ext>
            </a:extLst>
          </p:cNvPr>
          <p:cNvSpPr txBox="1"/>
          <p:nvPr/>
        </p:nvSpPr>
        <p:spPr>
          <a:xfrm>
            <a:off x="11650283" y="6222490"/>
            <a:ext cx="2620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68B15BBA-CB7D-CFC3-8A68-1B568777BC59}"/>
              </a:ext>
            </a:extLst>
          </p:cNvPr>
          <p:cNvSpPr txBox="1"/>
          <p:nvPr/>
        </p:nvSpPr>
        <p:spPr>
          <a:xfrm>
            <a:off x="533399" y="728069"/>
            <a:ext cx="11116884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sz="4000" b="1" dirty="0">
                <a:solidFill>
                  <a:srgbClr val="990000"/>
                </a:solidFill>
              </a:rPr>
              <a:t>IDEA</a:t>
            </a:r>
            <a:endParaRPr lang="it-IT" sz="3200" dirty="0"/>
          </a:p>
          <a:p>
            <a:pPr algn="just"/>
            <a:endParaRPr lang="it-IT" sz="3200" dirty="0"/>
          </a:p>
          <a:p>
            <a:pPr algn="just"/>
            <a:r>
              <a:rPr lang="it-IT" sz="3200" dirty="0"/>
              <a:t>Il progetto si pone l’obiettivo di analizzare e confrontare le performance di vari algoritmi per il problema del </a:t>
            </a:r>
            <a:r>
              <a:rPr lang="it-IT" sz="3200" b="1" dirty="0"/>
              <a:t>minimum vertex cover </a:t>
            </a:r>
            <a:r>
              <a:rPr lang="it-IT" sz="3200" dirty="0"/>
              <a:t>su grafo non orientato.</a:t>
            </a:r>
          </a:p>
          <a:p>
            <a:pPr algn="just"/>
            <a:endParaRPr lang="it-IT" sz="3200" dirty="0"/>
          </a:p>
          <a:p>
            <a:pPr algn="just"/>
            <a:r>
              <a:rPr lang="it-IT" sz="3200" dirty="0"/>
              <a:t>Vengono presi in esame sia la variante originale del problema che il </a:t>
            </a:r>
            <a:r>
              <a:rPr lang="it-IT" sz="3200" b="1" dirty="0"/>
              <a:t>minimum </a:t>
            </a:r>
            <a:r>
              <a:rPr lang="it-IT" sz="3200" b="1" dirty="0" err="1"/>
              <a:t>weighted</a:t>
            </a:r>
            <a:r>
              <a:rPr lang="it-IT" sz="3200" b="1" dirty="0"/>
              <a:t> vertex cover</a:t>
            </a:r>
            <a:r>
              <a:rPr lang="it-IT" sz="3200" dirty="0"/>
              <a:t>.</a:t>
            </a:r>
          </a:p>
          <a:p>
            <a:endParaRPr lang="it-IT" sz="4000" b="1" dirty="0">
              <a:solidFill>
                <a:srgbClr val="99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03211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9C0AC-FA4D-E6C8-1228-983A03BAB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D6EB3C69-F5B7-DDCC-E656-FA278C44211E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8BBD3796-118F-480D-76CF-4CFD0DFA1D9A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791901B9-69F8-627F-4415-BF73A605FE9C}"/>
              </a:ext>
            </a:extLst>
          </p:cNvPr>
          <p:cNvSpPr txBox="1"/>
          <p:nvPr/>
        </p:nvSpPr>
        <p:spPr>
          <a:xfrm>
            <a:off x="11650283" y="6222490"/>
            <a:ext cx="2620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bg1"/>
                </a:solidFill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95C98985-4886-6DA9-9D3E-AC25AAE49838}"/>
                  </a:ext>
                </a:extLst>
              </p:cNvPr>
              <p:cNvSpPr txBox="1"/>
              <p:nvPr/>
            </p:nvSpPr>
            <p:spPr>
              <a:xfrm>
                <a:off x="533399" y="728069"/>
                <a:ext cx="11116884" cy="46474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it-IT" sz="4000" b="1" dirty="0">
                    <a:solidFill>
                      <a:srgbClr val="990000"/>
                    </a:solidFill>
                  </a:rPr>
                  <a:t>CONCETTO DI COVER</a:t>
                </a:r>
                <a:endParaRPr lang="it-IT" sz="3200" dirty="0"/>
              </a:p>
              <a:p>
                <a:pPr algn="just"/>
                <a:endParaRPr lang="it-IT" sz="3200" dirty="0"/>
              </a:p>
              <a:p>
                <a:pPr algn="just"/>
                <a:r>
                  <a:rPr lang="it-IT" sz="3200" dirty="0"/>
                  <a:t>Dato un grafo, una </a:t>
                </a:r>
                <a:r>
                  <a:rPr lang="it-IT" sz="3200" b="1" dirty="0"/>
                  <a:t>cover</a:t>
                </a:r>
                <a:r>
                  <a:rPr lang="it-IT" sz="3200" dirty="0"/>
                  <a:t> è un </a:t>
                </a:r>
                <a:r>
                  <a:rPr lang="it-IT" sz="3200" b="1" dirty="0"/>
                  <a:t>sottoinsieme S dei vertici </a:t>
                </a:r>
                <a:r>
                  <a:rPr lang="it-IT" sz="3200" dirty="0"/>
                  <a:t>tale che, per ogni arco del grafo, </a:t>
                </a:r>
                <a:r>
                  <a:rPr lang="it-IT" sz="3200" b="1" dirty="0"/>
                  <a:t>almeno uno dei suoi vertici </a:t>
                </a:r>
                <a:r>
                  <a:rPr lang="it-IT" sz="3200" dirty="0"/>
                  <a:t>appartiene ad S.</a:t>
                </a:r>
              </a:p>
              <a:p>
                <a:pPr algn="just"/>
                <a:endParaRPr lang="it-IT" sz="3200" dirty="0"/>
              </a:p>
              <a:p>
                <a:pPr algn="just"/>
                <a:r>
                  <a:rPr lang="it-IT" sz="3200" dirty="0"/>
                  <a:t>G = (V,E)</a:t>
                </a:r>
              </a:p>
              <a:p>
                <a:pPr algn="just"/>
                <a:r>
                  <a:rPr lang="it-IT" sz="3200" b="1" dirty="0"/>
                  <a:t>S </a:t>
                </a:r>
                <a14:m>
                  <m:oMath xmlns:m="http://schemas.openxmlformats.org/officeDocument/2006/math">
                    <m:r>
                      <a:rPr lang="it-IT" sz="3200" b="1" i="0">
                        <a:latin typeface="Cambria Math" panose="02040503050406030204" pitchFamily="18" charset="0"/>
                      </a:rPr>
                      <m:t>⊆</m:t>
                    </m:r>
                  </m:oMath>
                </a14:m>
                <a:r>
                  <a:rPr lang="it-IT" sz="3200" b="1" dirty="0"/>
                  <a:t> V : </a:t>
                </a:r>
                <a14:m>
                  <m:oMath xmlns:m="http://schemas.openxmlformats.org/officeDocument/2006/math">
                    <m:r>
                      <a:rPr lang="it-IT" sz="3200" b="1" i="1">
                        <a:latin typeface="Cambria Math" panose="02040503050406030204" pitchFamily="18" charset="0"/>
                      </a:rPr>
                      <m:t>∀</m:t>
                    </m:r>
                  </m:oMath>
                </a14:m>
                <a:r>
                  <a:rPr lang="it-IT" sz="3200" b="1" dirty="0"/>
                  <a:t> e = {</a:t>
                </a:r>
                <a:r>
                  <a:rPr lang="it-IT" sz="3200" b="1" dirty="0" err="1"/>
                  <a:t>u,v</a:t>
                </a:r>
                <a:r>
                  <a:rPr lang="it-IT" sz="3200" b="1" dirty="0"/>
                  <a:t>} </a:t>
                </a:r>
                <a14:m>
                  <m:oMath xmlns:m="http://schemas.openxmlformats.org/officeDocument/2006/math">
                    <m:r>
                      <a:rPr lang="it-IT" sz="3200" b="1" dirty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it-IT" sz="3200" b="1" dirty="0"/>
                  <a:t> E </a:t>
                </a:r>
                <a14:m>
                  <m:oMath xmlns:m="http://schemas.openxmlformats.org/officeDocument/2006/math">
                    <m:r>
                      <a:rPr lang="it-IT" sz="3200" b="1" dirty="0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it-IT" sz="3200" b="1" dirty="0"/>
                  <a:t> (u </a:t>
                </a:r>
                <a14:m>
                  <m:oMath xmlns:m="http://schemas.openxmlformats.org/officeDocument/2006/math">
                    <m:r>
                      <a:rPr lang="it-IT" sz="3200" b="1" dirty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it-IT" sz="3200" b="1" dirty="0"/>
                  <a:t> S) v (v </a:t>
                </a:r>
                <a14:m>
                  <m:oMath xmlns:m="http://schemas.openxmlformats.org/officeDocument/2006/math">
                    <m:r>
                      <a:rPr lang="it-IT" sz="3200" b="1" dirty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it-IT" sz="3200" b="1" dirty="0"/>
                  <a:t> S)</a:t>
                </a:r>
              </a:p>
              <a:p>
                <a:pPr algn="just"/>
                <a:endParaRPr lang="it-IT" sz="3200" dirty="0"/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95C98985-4886-6DA9-9D3E-AC25AAE498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399" y="728069"/>
                <a:ext cx="11116884" cy="4647426"/>
              </a:xfrm>
              <a:prstGeom prst="rect">
                <a:avLst/>
              </a:prstGeom>
              <a:blipFill>
                <a:blip r:embed="rId2"/>
                <a:stretch>
                  <a:fillRect l="-1919" t="-2359" r="-137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94816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3839F-864E-14C9-4A97-722F96667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BA7A7000-CE1C-3198-9679-EB84A67CB0ED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E6518A9F-9EE6-4DA3-6D70-A197ACBCFC27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A4E29D4F-5562-539C-9B36-7515B0F5EE6A}"/>
              </a:ext>
            </a:extLst>
          </p:cNvPr>
          <p:cNvSpPr txBox="1"/>
          <p:nvPr/>
        </p:nvSpPr>
        <p:spPr>
          <a:xfrm>
            <a:off x="11650283" y="6222490"/>
            <a:ext cx="2620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9F03DD3B-EFDA-D9F9-B8C9-CC3ECD8F3E01}"/>
              </a:ext>
            </a:extLst>
          </p:cNvPr>
          <p:cNvSpPr txBox="1"/>
          <p:nvPr/>
        </p:nvSpPr>
        <p:spPr>
          <a:xfrm>
            <a:off x="533399" y="728069"/>
            <a:ext cx="11116884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sz="4000" b="1" dirty="0">
                <a:solidFill>
                  <a:srgbClr val="990000"/>
                </a:solidFill>
              </a:rPr>
              <a:t>COVER MINIMA</a:t>
            </a:r>
          </a:p>
          <a:p>
            <a:pPr algn="just"/>
            <a:endParaRPr lang="it-IT" sz="4000" b="1" dirty="0">
              <a:solidFill>
                <a:srgbClr val="990000"/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3200" b="1" dirty="0"/>
              <a:t>Sottoinsieme S di cardinalità minima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it-IT" sz="3200" b="1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it-IT" sz="3200" b="1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3200" b="1" dirty="0"/>
              <a:t>Sottoinsieme S di peso totale minore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it-IT" sz="3200" dirty="0"/>
              <a:t>Peso totale = somma dei pesi di tutti i vertici presenti nella cover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it-IT" sz="3200" dirty="0"/>
          </a:p>
          <a:p>
            <a:pPr algn="just"/>
            <a:endParaRPr lang="it-IT" sz="3200" b="1" dirty="0"/>
          </a:p>
          <a:p>
            <a:pPr algn="just"/>
            <a:endParaRPr lang="it-IT" sz="3200" dirty="0"/>
          </a:p>
        </p:txBody>
      </p:sp>
    </p:spTree>
    <p:extLst>
      <p:ext uri="{BB962C8B-B14F-4D97-AF65-F5344CB8AC3E}">
        <p14:creationId xmlns:p14="http://schemas.microsoft.com/office/powerpoint/2010/main" val="15526961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3D11F-D29B-4911-9725-49539C093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2FD7E69A-FBCD-B7E2-31CA-4366C7E18B38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13F7D9B-8386-6CDA-EF67-A39F516B5056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161EC2B6-336C-1F38-2575-BDD5C5488E8C}"/>
              </a:ext>
            </a:extLst>
          </p:cNvPr>
          <p:cNvSpPr txBox="1"/>
          <p:nvPr/>
        </p:nvSpPr>
        <p:spPr>
          <a:xfrm>
            <a:off x="11650283" y="6222490"/>
            <a:ext cx="2620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A8F6C2F-DF59-78F3-10AF-6F012DBF3E48}"/>
              </a:ext>
            </a:extLst>
          </p:cNvPr>
          <p:cNvSpPr txBox="1"/>
          <p:nvPr/>
        </p:nvSpPr>
        <p:spPr>
          <a:xfrm>
            <a:off x="533399" y="728069"/>
            <a:ext cx="6304281" cy="43249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>
                <a:solidFill>
                  <a:srgbClr val="990000"/>
                </a:solidFill>
              </a:rPr>
              <a:t>ROADMAP: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it-IT" sz="3200" dirty="0">
                <a:solidFill>
                  <a:schemeClr val="bg2">
                    <a:lumMod val="75000"/>
                  </a:schemeClr>
                </a:solidFill>
              </a:rPr>
              <a:t>IDEA DEL PROGETTO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it-IT" sz="3200" b="1" dirty="0"/>
              <a:t>ALGORITMI CONFRONTATI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it-IT" sz="3200" dirty="0">
                <a:solidFill>
                  <a:schemeClr val="bg2">
                    <a:lumMod val="75000"/>
                  </a:schemeClr>
                </a:solidFill>
              </a:rPr>
              <a:t>METODOLOGIA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it-IT" sz="3200" dirty="0">
                <a:solidFill>
                  <a:schemeClr val="bg2">
                    <a:lumMod val="75000"/>
                  </a:schemeClr>
                </a:solidFill>
              </a:rPr>
              <a:t>RISULTATI PIÙ SIGNIFICATIVI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it-IT" sz="3200" dirty="0">
                <a:solidFill>
                  <a:schemeClr val="bg2">
                    <a:lumMod val="75000"/>
                  </a:schemeClr>
                </a:solidFill>
              </a:rPr>
              <a:t>CONCLUSIONI</a:t>
            </a:r>
          </a:p>
        </p:txBody>
      </p:sp>
    </p:spTree>
    <p:extLst>
      <p:ext uri="{BB962C8B-B14F-4D97-AF65-F5344CB8AC3E}">
        <p14:creationId xmlns:p14="http://schemas.microsoft.com/office/powerpoint/2010/main" val="12440290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7C550-5246-62F8-642A-7062A379B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12AC18B2-2919-5EE3-CEC1-A1233CE1FD63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5247A63D-EB98-4FCC-C824-9F5D2D67C622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A12123A-9F44-697E-1F75-975F82D7BAA6}"/>
              </a:ext>
            </a:extLst>
          </p:cNvPr>
          <p:cNvSpPr txBox="1"/>
          <p:nvPr/>
        </p:nvSpPr>
        <p:spPr>
          <a:xfrm>
            <a:off x="11650283" y="6222490"/>
            <a:ext cx="2620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0C2E51A3-9F65-61AF-3FC4-BDFA9CD623F2}"/>
              </a:ext>
            </a:extLst>
          </p:cNvPr>
          <p:cNvSpPr txBox="1"/>
          <p:nvPr/>
        </p:nvSpPr>
        <p:spPr>
          <a:xfrm>
            <a:off x="533399" y="728069"/>
            <a:ext cx="11116884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VERTEX COVER NON PESATO</a:t>
            </a:r>
          </a:p>
          <a:p>
            <a:pPr algn="just">
              <a:spcAft>
                <a:spcPts val="600"/>
              </a:spcAft>
            </a:pPr>
            <a:r>
              <a:rPr lang="it-IT" sz="3200" b="1" dirty="0"/>
              <a:t>Algoritmo 1 (si parte da un vertice qualsiasi)</a:t>
            </a:r>
            <a:endParaRPr lang="it-IT" sz="3200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355780FD-742B-FB21-690A-18D37ECBB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99" y="2118466"/>
            <a:ext cx="4086373" cy="3707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6807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D1F40-733A-62AF-6B74-81746B8D4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EBCF60E4-17F4-1A54-8512-7511AF8F6B4F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F1145040-E22A-C851-EE32-409E28464A58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385185F7-104C-35DD-ED4D-0D9B0AA5017E}"/>
              </a:ext>
            </a:extLst>
          </p:cNvPr>
          <p:cNvSpPr txBox="1"/>
          <p:nvPr/>
        </p:nvSpPr>
        <p:spPr>
          <a:xfrm>
            <a:off x="11650283" y="6222490"/>
            <a:ext cx="2620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DA72BB08-D902-CAAF-19F1-8448A26EE065}"/>
              </a:ext>
            </a:extLst>
          </p:cNvPr>
          <p:cNvSpPr txBox="1"/>
          <p:nvPr/>
        </p:nvSpPr>
        <p:spPr>
          <a:xfrm>
            <a:off x="533399" y="728069"/>
            <a:ext cx="11116884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VERTEX COVER NON PESATO</a:t>
            </a:r>
          </a:p>
          <a:p>
            <a:pPr algn="just">
              <a:spcAft>
                <a:spcPts val="600"/>
              </a:spcAft>
            </a:pPr>
            <a:r>
              <a:rPr lang="it-IT" sz="3200" b="1" dirty="0"/>
              <a:t>Algoritmo 2 (si ordinano i vertici per grado decrescente)</a:t>
            </a:r>
            <a:endParaRPr lang="it-IT" sz="3200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A50EEEDA-C7CD-E7E5-F6D6-70B4BF2B4B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99" y="2288416"/>
            <a:ext cx="8560586" cy="1815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2523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18003-55A9-082D-CD9A-AFFBCF162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1B538783-DE3A-3257-3ABD-C216CEA1422F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EBAEE5A3-78E6-3070-DBD3-ACD390230642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E931D45D-1B95-84D2-0CF2-69AFBFE43ED1}"/>
              </a:ext>
            </a:extLst>
          </p:cNvPr>
          <p:cNvSpPr txBox="1"/>
          <p:nvPr/>
        </p:nvSpPr>
        <p:spPr>
          <a:xfrm>
            <a:off x="11650283" y="6222490"/>
            <a:ext cx="2620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81F8678-4068-1A9F-94C2-9FFE09D94A98}"/>
              </a:ext>
            </a:extLst>
          </p:cNvPr>
          <p:cNvSpPr txBox="1"/>
          <p:nvPr/>
        </p:nvSpPr>
        <p:spPr>
          <a:xfrm>
            <a:off x="533399" y="728069"/>
            <a:ext cx="11116884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VERTEX COVER NON PESATO</a:t>
            </a:r>
          </a:p>
          <a:p>
            <a:pPr algn="just">
              <a:spcAft>
                <a:spcPts val="600"/>
              </a:spcAft>
            </a:pPr>
            <a:r>
              <a:rPr lang="it-IT" sz="3200" b="1" dirty="0"/>
              <a:t>Algoritmo 3 (basato sul matching massimale)</a:t>
            </a:r>
            <a:endParaRPr lang="it-IT" sz="3200"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AC71F03F-0223-D9DE-6028-1D25CF1E13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6493"/>
          <a:stretch>
            <a:fillRect/>
          </a:stretch>
        </p:blipFill>
        <p:spPr>
          <a:xfrm>
            <a:off x="533399" y="2314007"/>
            <a:ext cx="4274575" cy="3316744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CC9B6F7E-3AD4-3CEE-DCD9-10BE279F49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1380"/>
          <a:stretch>
            <a:fillRect/>
          </a:stretch>
        </p:blipFill>
        <p:spPr>
          <a:xfrm>
            <a:off x="6091841" y="2314007"/>
            <a:ext cx="4138438" cy="1952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9411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A2EAD-DFAF-31AF-5EAF-56B269B9C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A0219B91-BA4B-B5DD-25A5-C91EB616EE19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2C8A72E-054B-6A8F-E2BF-03F3E0A11CD8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FAFC70D3-AB8C-0F39-FE80-2CE0E9280E96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7CC36DE6-25D1-7331-99BC-060F84C277DF}"/>
              </a:ext>
            </a:extLst>
          </p:cNvPr>
          <p:cNvSpPr txBox="1"/>
          <p:nvPr/>
        </p:nvSpPr>
        <p:spPr>
          <a:xfrm>
            <a:off x="533399" y="728069"/>
            <a:ext cx="1111688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VERTEX COVER NON PESATO</a:t>
            </a:r>
          </a:p>
          <a:p>
            <a:pPr algn="just">
              <a:spcAft>
                <a:spcPts val="1200"/>
              </a:spcAft>
            </a:pPr>
            <a:r>
              <a:rPr lang="it-IT" sz="3200" b="1" dirty="0"/>
              <a:t>Algoritmo 4 (</a:t>
            </a:r>
            <a:r>
              <a:rPr lang="it-IT" sz="3200" b="1" dirty="0" err="1"/>
              <a:t>doubling</a:t>
            </a:r>
            <a:r>
              <a:rPr lang="it-IT" sz="3200" b="1" dirty="0"/>
              <a:t> and </a:t>
            </a:r>
            <a:r>
              <a:rPr lang="it-IT" sz="3200" b="1" dirty="0" err="1"/>
              <a:t>rounding</a:t>
            </a:r>
            <a:r>
              <a:rPr lang="it-IT" sz="3200" b="1" dirty="0"/>
              <a:t> down)</a:t>
            </a:r>
            <a:endParaRPr lang="it-IT" sz="3200" dirty="0"/>
          </a:p>
          <a:p>
            <a:pPr algn="just">
              <a:spcAft>
                <a:spcPts val="1200"/>
              </a:spcAft>
            </a:pPr>
            <a:r>
              <a:rPr lang="it-IT" sz="3200" dirty="0" err="1"/>
              <a:t>Doubling</a:t>
            </a:r>
            <a:r>
              <a:rPr lang="it-IT" sz="3200" dirty="0"/>
              <a:t> and </a:t>
            </a:r>
            <a:r>
              <a:rPr lang="it-IT" sz="3200" dirty="0" err="1"/>
              <a:t>rounding</a:t>
            </a:r>
            <a:r>
              <a:rPr lang="it-IT" sz="3200" dirty="0"/>
              <a:t> down effettuato dopo aver risolto: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b="1" dirty="0"/>
              <a:t>Rilassamento lineare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dirty="0">
                <a:solidFill>
                  <a:schemeClr val="bg2">
                    <a:lumMod val="75000"/>
                  </a:schemeClr>
                </a:solidFill>
              </a:rPr>
              <a:t>Rilassamento lineare con </a:t>
            </a:r>
            <a:r>
              <a:rPr lang="it-IT" sz="3200" dirty="0" err="1">
                <a:solidFill>
                  <a:schemeClr val="bg2">
                    <a:lumMod val="75000"/>
                  </a:schemeClr>
                </a:solidFill>
              </a:rPr>
              <a:t>odd</a:t>
            </a:r>
            <a:r>
              <a:rPr lang="it-IT" sz="3200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it-IT" sz="3200" dirty="0" err="1">
                <a:solidFill>
                  <a:schemeClr val="bg2">
                    <a:lumMod val="75000"/>
                  </a:schemeClr>
                </a:solidFill>
              </a:rPr>
              <a:t>cycle</a:t>
            </a:r>
            <a:r>
              <a:rPr lang="it-IT" sz="3200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it-IT" sz="3200" dirty="0" err="1">
                <a:solidFill>
                  <a:schemeClr val="bg2">
                    <a:lumMod val="75000"/>
                  </a:schemeClr>
                </a:solidFill>
              </a:rPr>
              <a:t>inequalities</a:t>
            </a:r>
            <a:endParaRPr lang="it-IT" sz="320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7372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4F1F9-8FEB-6A8F-10A8-10D1C1276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75C3883C-7764-0835-5410-F87964F83C2F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3EEB942E-014D-1165-FD44-C9DBF2386F8E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18252BC9-85D1-8131-8374-946EC819469B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831D7CC-6BA4-CDEF-10CE-9FDE3E5258BE}"/>
              </a:ext>
            </a:extLst>
          </p:cNvPr>
          <p:cNvSpPr txBox="1"/>
          <p:nvPr/>
        </p:nvSpPr>
        <p:spPr>
          <a:xfrm>
            <a:off x="533399" y="728069"/>
            <a:ext cx="11116884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VERTEX COVER NON PESATO</a:t>
            </a:r>
          </a:p>
          <a:p>
            <a:pPr algn="just">
              <a:spcAft>
                <a:spcPts val="1200"/>
              </a:spcAft>
            </a:pPr>
            <a:r>
              <a:rPr lang="it-IT" sz="3200" b="1" dirty="0"/>
              <a:t>Algoritmo 4 (</a:t>
            </a:r>
            <a:r>
              <a:rPr lang="it-IT" sz="3200" b="1" dirty="0" err="1"/>
              <a:t>doubling</a:t>
            </a:r>
            <a:r>
              <a:rPr lang="it-IT" sz="3200" b="1" dirty="0"/>
              <a:t> and </a:t>
            </a:r>
            <a:r>
              <a:rPr lang="it-IT" sz="3200" b="1" dirty="0" err="1"/>
              <a:t>rounding</a:t>
            </a:r>
            <a:r>
              <a:rPr lang="it-IT" sz="3200" b="1" dirty="0"/>
              <a:t> down)</a:t>
            </a:r>
            <a:endParaRPr lang="it-IT" sz="3200"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A980851D-AA83-0B2B-1DE7-25AA154B8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99" y="2276782"/>
            <a:ext cx="3546988" cy="1726514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430162F0-99C4-B5E3-E14A-F143DFA70A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9534" y="2276782"/>
            <a:ext cx="5479505" cy="3391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8069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F22A7-A0C2-A43F-E9CA-238C15F88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6CA91E07-E52E-D621-867A-E481958FC752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32C09B9C-8FA5-2E5F-2A04-C8D571A34BAE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ED67676B-1BED-4C49-33C4-CF6AFF211F4C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C380F41E-C28D-0125-496B-C5A8D378BD79}"/>
              </a:ext>
            </a:extLst>
          </p:cNvPr>
          <p:cNvSpPr txBox="1"/>
          <p:nvPr/>
        </p:nvSpPr>
        <p:spPr>
          <a:xfrm>
            <a:off x="533399" y="728069"/>
            <a:ext cx="1111688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VERTEX COVER NON PESATO</a:t>
            </a:r>
          </a:p>
          <a:p>
            <a:pPr algn="just">
              <a:spcAft>
                <a:spcPts val="1200"/>
              </a:spcAft>
            </a:pPr>
            <a:r>
              <a:rPr lang="it-IT" sz="3200" b="1" dirty="0"/>
              <a:t>Algoritmo 4 (</a:t>
            </a:r>
            <a:r>
              <a:rPr lang="it-IT" sz="3200" b="1" dirty="0" err="1"/>
              <a:t>doubling</a:t>
            </a:r>
            <a:r>
              <a:rPr lang="it-IT" sz="3200" b="1" dirty="0"/>
              <a:t> and </a:t>
            </a:r>
            <a:r>
              <a:rPr lang="it-IT" sz="3200" b="1" dirty="0" err="1"/>
              <a:t>rounding</a:t>
            </a:r>
            <a:r>
              <a:rPr lang="it-IT" sz="3200" b="1" dirty="0"/>
              <a:t> down)</a:t>
            </a:r>
            <a:endParaRPr lang="it-IT" sz="3200" dirty="0"/>
          </a:p>
          <a:p>
            <a:pPr algn="just">
              <a:spcAft>
                <a:spcPts val="1200"/>
              </a:spcAft>
            </a:pPr>
            <a:r>
              <a:rPr lang="it-IT" sz="3200" dirty="0" err="1"/>
              <a:t>Doubling</a:t>
            </a:r>
            <a:r>
              <a:rPr lang="it-IT" sz="3200" dirty="0"/>
              <a:t> and </a:t>
            </a:r>
            <a:r>
              <a:rPr lang="it-IT" sz="3200" dirty="0" err="1"/>
              <a:t>rounding</a:t>
            </a:r>
            <a:r>
              <a:rPr lang="it-IT" sz="3200" dirty="0"/>
              <a:t> down effettuato dopo aver risolto: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dirty="0">
                <a:solidFill>
                  <a:schemeClr val="bg2">
                    <a:lumMod val="75000"/>
                  </a:schemeClr>
                </a:solidFill>
              </a:rPr>
              <a:t>Rilassamento lineare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b="1" dirty="0"/>
              <a:t>Rilassamento lineare con </a:t>
            </a:r>
            <a:r>
              <a:rPr lang="it-IT" sz="3200" b="1" dirty="0" err="1"/>
              <a:t>odd</a:t>
            </a:r>
            <a:r>
              <a:rPr lang="it-IT" sz="3200" b="1" dirty="0"/>
              <a:t> </a:t>
            </a:r>
            <a:r>
              <a:rPr lang="it-IT" sz="3200" b="1" dirty="0" err="1"/>
              <a:t>cycle</a:t>
            </a:r>
            <a:r>
              <a:rPr lang="it-IT" sz="3200" b="1" dirty="0"/>
              <a:t> </a:t>
            </a:r>
            <a:r>
              <a:rPr lang="it-IT" sz="3200" b="1" dirty="0" err="1"/>
              <a:t>inequalities</a:t>
            </a:r>
            <a:endParaRPr lang="it-IT" sz="3200" b="1" dirty="0"/>
          </a:p>
        </p:txBody>
      </p:sp>
    </p:spTree>
    <p:extLst>
      <p:ext uri="{BB962C8B-B14F-4D97-AF65-F5344CB8AC3E}">
        <p14:creationId xmlns:p14="http://schemas.microsoft.com/office/powerpoint/2010/main" val="42938372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BF3E4-0529-3DE3-A8D0-B3530A429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BC0AC4A8-8E28-7AC7-447D-8AA369C568B4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E01469AE-EACD-7505-1BDB-BE9B8236DD8E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6FFC7E8C-F660-9258-FD25-C732E8FF18F3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13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B1662036-A3D7-8F4E-F7A2-9B59F4519D19}"/>
              </a:ext>
            </a:extLst>
          </p:cNvPr>
          <p:cNvSpPr txBox="1"/>
          <p:nvPr/>
        </p:nvSpPr>
        <p:spPr>
          <a:xfrm>
            <a:off x="533399" y="728069"/>
            <a:ext cx="11116884" cy="4878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ODD CYCLE INEQUALITIES</a:t>
            </a:r>
          </a:p>
          <a:p>
            <a:pPr algn="just">
              <a:spcAft>
                <a:spcPts val="1200"/>
              </a:spcAft>
            </a:pPr>
            <a:r>
              <a:rPr lang="it-IT" sz="3200" b="1" dirty="0"/>
              <a:t>Concetto: </a:t>
            </a:r>
            <a:r>
              <a:rPr lang="it-IT" sz="3200" dirty="0"/>
              <a:t>in un grafo G = (V, E), S è una cover solo se V / S è un set indipendente (non ammette coppie di vertici adiacenti). Inoltre, a partire da un ciclo di lunghezza dispari (2k+1), </a:t>
            </a:r>
            <a:r>
              <a:rPr lang="it-IT" sz="3200" b="1" dirty="0"/>
              <a:t>non è possibile scegliere più di k vertici </a:t>
            </a:r>
            <a:r>
              <a:rPr lang="it-IT" sz="3200" dirty="0"/>
              <a:t>senza che ci sia almeno una coppia di vertici adiacenti tra quelli selezionati.</a:t>
            </a:r>
            <a:endParaRPr lang="it-IT" sz="3200" b="1" dirty="0"/>
          </a:p>
          <a:p>
            <a:pPr algn="just">
              <a:spcAft>
                <a:spcPts val="1200"/>
              </a:spcAft>
            </a:pPr>
            <a:r>
              <a:rPr lang="it-IT" sz="3200" b="1" dirty="0"/>
              <a:t>Osservazione: </a:t>
            </a:r>
            <a:r>
              <a:rPr lang="it-IT" sz="3200" dirty="0"/>
              <a:t>da un ciclo di 2k+1 vertici, massimo k possono formare un set indipendente, i restanti </a:t>
            </a:r>
            <a:r>
              <a:rPr lang="it-IT" sz="3200" b="1" dirty="0"/>
              <a:t>k+1 formeranno una cover</a:t>
            </a:r>
            <a:r>
              <a:rPr lang="it-IT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114304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996F3-C101-2D62-379C-0FD7DC18D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367B0CEB-3EDC-409A-07B7-AD80FF8674D2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3FF06734-D49F-2B4F-D714-6EB7D9D94C7A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2EA21BB8-9B99-8A40-C4AF-7EDBE384A787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14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503AB59C-3B02-60BB-0756-BB9E636A5238}"/>
                  </a:ext>
                </a:extLst>
              </p:cNvPr>
              <p:cNvSpPr txBox="1"/>
              <p:nvPr/>
            </p:nvSpPr>
            <p:spPr>
              <a:xfrm>
                <a:off x="533399" y="728069"/>
                <a:ext cx="11116884" cy="46935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it-IT" sz="4000" b="1" dirty="0">
                    <a:solidFill>
                      <a:srgbClr val="990000"/>
                    </a:solidFill>
                  </a:rPr>
                  <a:t>ODD CYCLE INEQUALITIES</a:t>
                </a:r>
              </a:p>
              <a:p>
                <a:pPr algn="just">
                  <a:spcAft>
                    <a:spcPts val="1200"/>
                  </a:spcAft>
                </a:pPr>
                <a:r>
                  <a:rPr lang="it-IT" sz="3200" b="1" dirty="0"/>
                  <a:t>Conseguenza: </a:t>
                </a:r>
                <a:r>
                  <a:rPr lang="it-IT" sz="3200" dirty="0"/>
                  <a:t>dato un ciclo C di lunghezza 2k+1</a:t>
                </a:r>
              </a:p>
              <a:p>
                <a:pPr algn="ctr">
                  <a:spcAft>
                    <a:spcPts val="1200"/>
                  </a:spcAft>
                </a:pPr>
                <a:r>
                  <a:rPr lang="it-IT" sz="32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it-IT" sz="3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23"/>
                          </m:rPr>
                          <a:rPr lang="it-IT" sz="3200" b="0" i="0" smtClean="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it-IT" sz="32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it-IT" sz="3200" i="0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it-IT" sz="3200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  <m:sup/>
                      <m:e>
                        <m:r>
                          <m:rPr>
                            <m:sty m:val="p"/>
                          </m:rPr>
                          <a:rPr lang="it-IT" sz="3200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it-IT" sz="3200" b="0" i="0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m:rPr>
                            <m:sty m:val="p"/>
                          </m:rPr>
                          <a:rPr lang="it-IT" sz="3200" b="0" i="0" smtClean="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it-IT" sz="3200" b="0" i="0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r>
                  <a:rPr lang="it-IT" sz="3200" dirty="0"/>
                  <a:t> </a:t>
                </a:r>
                <a14:m>
                  <m:oMath xmlns:m="http://schemas.openxmlformats.org/officeDocument/2006/math">
                    <m:r>
                      <a:rPr lang="it-IT" sz="3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it-IT" sz="3200" dirty="0"/>
                  <a:t> k +1</a:t>
                </a:r>
              </a:p>
              <a:p>
                <a:pPr algn="ctr">
                  <a:spcAft>
                    <a:spcPts val="1200"/>
                  </a:spcAft>
                </a:pPr>
                <a:endParaRPr lang="it-IT" sz="3200" dirty="0"/>
              </a:p>
              <a:p>
                <a:pPr algn="just">
                  <a:spcAft>
                    <a:spcPts val="1200"/>
                  </a:spcAft>
                </a:pPr>
                <a:r>
                  <a:rPr lang="it-IT" sz="3200" b="1" dirty="0"/>
                  <a:t>Considerazione: </a:t>
                </a:r>
                <a:r>
                  <a:rPr lang="it-IT" sz="3200" dirty="0"/>
                  <a:t>nel modello di PLI la x[i] relativa al vertice i vale 1 se quel vertice è stato inserito nella cover. Nel modello rilassato la x[i] può assumere valori frazionari e </a:t>
                </a:r>
                <a:r>
                  <a:rPr lang="it-IT" sz="3200" b="1" dirty="0"/>
                  <a:t>potrebbero essere violate </a:t>
                </a:r>
                <a:r>
                  <a:rPr lang="it-IT" sz="3200" dirty="0"/>
                  <a:t>le </a:t>
                </a:r>
                <a:r>
                  <a:rPr lang="it-IT" sz="3200" dirty="0" err="1"/>
                  <a:t>odd</a:t>
                </a:r>
                <a:r>
                  <a:rPr lang="it-IT" sz="3200" dirty="0"/>
                  <a:t> </a:t>
                </a:r>
                <a:r>
                  <a:rPr lang="it-IT" sz="3200" dirty="0" err="1"/>
                  <a:t>cycle</a:t>
                </a:r>
                <a:r>
                  <a:rPr lang="it-IT" sz="3200" dirty="0"/>
                  <a:t> </a:t>
                </a:r>
                <a:r>
                  <a:rPr lang="it-IT" sz="3200" dirty="0" err="1"/>
                  <a:t>inequalities</a:t>
                </a:r>
                <a:r>
                  <a:rPr lang="it-IT" sz="3200" dirty="0"/>
                  <a:t>.</a:t>
                </a:r>
                <a:endParaRPr lang="it-IT" sz="3200" b="1" dirty="0"/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503AB59C-3B02-60BB-0756-BB9E636A52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399" y="728069"/>
                <a:ext cx="11116884" cy="4693593"/>
              </a:xfrm>
              <a:prstGeom prst="rect">
                <a:avLst/>
              </a:prstGeom>
              <a:blipFill>
                <a:blip r:embed="rId2"/>
                <a:stretch>
                  <a:fillRect l="-1919" t="-2338" r="-1371" b="-337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63308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DB9C7-C12C-FB9E-BD5B-E6E1F6E72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80DE0A1C-D9FA-6552-EB65-8DB2236EF185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69437A2-D929-025B-6C2E-6E6BFA10D4EC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3B278B73-0778-D492-1F6C-87666990069B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15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A50821A6-60A4-D071-9460-0357233E6C11}"/>
                  </a:ext>
                </a:extLst>
              </p:cNvPr>
              <p:cNvSpPr txBox="1"/>
              <p:nvPr/>
            </p:nvSpPr>
            <p:spPr>
              <a:xfrm>
                <a:off x="533399" y="728069"/>
                <a:ext cx="11116884" cy="53399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it-IT" sz="4000" b="1" dirty="0">
                    <a:solidFill>
                      <a:srgbClr val="990000"/>
                    </a:solidFill>
                  </a:rPr>
                  <a:t>ODD CYCLE INEQUALITIES</a:t>
                </a:r>
              </a:p>
              <a:p>
                <a:pPr algn="just">
                  <a:spcAft>
                    <a:spcPts val="1200"/>
                  </a:spcAft>
                </a:pPr>
                <a:r>
                  <a:rPr lang="it-IT" sz="3200" b="1" dirty="0"/>
                  <a:t>Applicazione: </a:t>
                </a:r>
                <a:r>
                  <a:rPr lang="it-IT" sz="3200" dirty="0"/>
                  <a:t>si potrebbe aggiungere un vincolo in più al modello di PL per ogni </a:t>
                </a:r>
                <a:r>
                  <a:rPr lang="it-IT" sz="3200" dirty="0" err="1"/>
                  <a:t>odd</a:t>
                </a:r>
                <a:r>
                  <a:rPr lang="it-IT" sz="3200" dirty="0"/>
                  <a:t> </a:t>
                </a:r>
                <a:r>
                  <a:rPr lang="it-IT" sz="3200" dirty="0" err="1"/>
                  <a:t>cycle</a:t>
                </a:r>
                <a:r>
                  <a:rPr lang="it-IT" sz="3200" dirty="0"/>
                  <a:t> </a:t>
                </a:r>
                <a:r>
                  <a:rPr lang="it-IT" sz="3200" dirty="0" err="1"/>
                  <a:t>inequality</a:t>
                </a:r>
                <a:r>
                  <a:rPr lang="it-IT" sz="3200" dirty="0"/>
                  <a:t> che deriva da un ciclo di lunghezza dispari.</a:t>
                </a:r>
              </a:p>
              <a:p>
                <a:pPr algn="just">
                  <a:spcAft>
                    <a:spcPts val="1200"/>
                  </a:spcAft>
                </a:pPr>
                <a:endParaRPr lang="it-IT" sz="3200" b="1" dirty="0"/>
              </a:p>
              <a:p>
                <a:pPr algn="just">
                  <a:spcAft>
                    <a:spcPts val="1200"/>
                  </a:spcAft>
                </a:pPr>
                <a:r>
                  <a:rPr lang="it-IT" sz="3200" b="1" dirty="0"/>
                  <a:t>Implementazione: </a:t>
                </a:r>
                <a:r>
                  <a:rPr lang="it-IT" sz="3200" dirty="0"/>
                  <a:t>ci si è concentrati solo sui cicli dispari di lunghezza minore possibile (triangoli).</a:t>
                </a:r>
              </a:p>
              <a:p>
                <a:pPr algn="just"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it-IT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</m:oMath>
                </a14:m>
                <a:r>
                  <a:rPr lang="it-IT" sz="3200" dirty="0" err="1"/>
                  <a:t>u,v,w</a:t>
                </a:r>
                <a:r>
                  <a:rPr lang="it-IT" sz="3200" dirty="0"/>
                  <a:t> vertici di un triangolo, deve valere:</a:t>
                </a:r>
              </a:p>
              <a:p>
                <a:pPr algn="ctr">
                  <a:spcAft>
                    <a:spcPts val="1200"/>
                  </a:spcAft>
                </a:pPr>
                <a:r>
                  <a:rPr lang="it-IT" sz="3200" dirty="0"/>
                  <a:t>X[u] + x[v] + x[w] </a:t>
                </a:r>
                <a14:m>
                  <m:oMath xmlns:m="http://schemas.openxmlformats.org/officeDocument/2006/math">
                    <m:r>
                      <a:rPr lang="it-IT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it-IT" sz="3200" dirty="0"/>
                  <a:t> 2</a:t>
                </a:r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A50821A6-60A4-D071-9460-0357233E6C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399" y="728069"/>
                <a:ext cx="11116884" cy="5339923"/>
              </a:xfrm>
              <a:prstGeom prst="rect">
                <a:avLst/>
              </a:prstGeom>
              <a:blipFill>
                <a:blip r:embed="rId2"/>
                <a:stretch>
                  <a:fillRect l="-1919" t="-2055" r="-1371" b="-285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95771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E9BDE-A0B6-3742-345C-8ED85F34D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2562A1DD-93D0-1283-5099-CEDCAE30C001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25BB24AD-AA98-DED7-6C5C-EBCCDB55CDBE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A9F8CEEF-F5F0-9F75-81AC-63D515AEF5E0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16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1839A1B-9027-C69F-0555-D9716897EC96}"/>
              </a:ext>
            </a:extLst>
          </p:cNvPr>
          <p:cNvSpPr txBox="1"/>
          <p:nvPr/>
        </p:nvSpPr>
        <p:spPr>
          <a:xfrm>
            <a:off x="533399" y="728069"/>
            <a:ext cx="11116884" cy="2416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VERTEX COVER NON PESATO</a:t>
            </a:r>
          </a:p>
          <a:p>
            <a:pPr algn="just">
              <a:spcAft>
                <a:spcPts val="1200"/>
              </a:spcAft>
            </a:pPr>
            <a:r>
              <a:rPr lang="it-IT" sz="3200" b="1" dirty="0"/>
              <a:t>Algoritmo 4 (</a:t>
            </a:r>
            <a:r>
              <a:rPr lang="it-IT" sz="3200" b="1" dirty="0" err="1"/>
              <a:t>doubling</a:t>
            </a:r>
            <a:r>
              <a:rPr lang="it-IT" sz="3200" b="1" dirty="0"/>
              <a:t> and </a:t>
            </a:r>
            <a:r>
              <a:rPr lang="it-IT" sz="3200" b="1" dirty="0" err="1"/>
              <a:t>rounding</a:t>
            </a:r>
            <a:r>
              <a:rPr lang="it-IT" sz="3200" b="1" dirty="0"/>
              <a:t> down con </a:t>
            </a:r>
            <a:r>
              <a:rPr lang="it-IT" sz="3200" b="1" dirty="0" err="1"/>
              <a:t>odd</a:t>
            </a:r>
            <a:r>
              <a:rPr lang="it-IT" sz="3200" b="1" dirty="0"/>
              <a:t> </a:t>
            </a:r>
            <a:r>
              <a:rPr lang="it-IT" sz="3200" b="1" dirty="0" err="1"/>
              <a:t>cycle</a:t>
            </a:r>
            <a:r>
              <a:rPr lang="it-IT" sz="3200" b="1" dirty="0"/>
              <a:t> </a:t>
            </a:r>
            <a:r>
              <a:rPr lang="it-IT" sz="3200" b="1" dirty="0" err="1"/>
              <a:t>inequalities</a:t>
            </a:r>
            <a:r>
              <a:rPr lang="it-IT" sz="3200" b="1" dirty="0"/>
              <a:t>)</a:t>
            </a:r>
          </a:p>
          <a:p>
            <a:pPr algn="just">
              <a:spcAft>
                <a:spcPts val="1200"/>
              </a:spcAft>
            </a:pPr>
            <a:endParaRPr lang="it-IT" sz="3200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65AE0B3B-0EB5-2442-F012-75EBE81DB2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9151"/>
          <a:stretch>
            <a:fillRect/>
          </a:stretch>
        </p:blipFill>
        <p:spPr>
          <a:xfrm>
            <a:off x="533399" y="2672964"/>
            <a:ext cx="4680000" cy="3175620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1859CCF3-79AE-EDF7-5912-5022FE8354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9970"/>
          <a:stretch>
            <a:fillRect/>
          </a:stretch>
        </p:blipFill>
        <p:spPr>
          <a:xfrm>
            <a:off x="6091841" y="2672964"/>
            <a:ext cx="4680000" cy="3124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6243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0DBB2-FA59-3862-822E-8F22BB25A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7434486F-E157-CE4B-8B76-606DE4779D14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3D5ADA02-9D55-FE98-8218-A0A75A81E7C5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55D07FC8-87DB-9EC9-C10E-896E8722AEDF}"/>
              </a:ext>
            </a:extLst>
          </p:cNvPr>
          <p:cNvSpPr txBox="1"/>
          <p:nvPr/>
        </p:nvSpPr>
        <p:spPr>
          <a:xfrm>
            <a:off x="533399" y="728069"/>
            <a:ext cx="11116884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VERTEX COVER NON PESATO</a:t>
            </a:r>
          </a:p>
          <a:p>
            <a:pPr algn="just">
              <a:spcAft>
                <a:spcPts val="600"/>
              </a:spcAft>
            </a:pPr>
            <a:r>
              <a:rPr lang="it-IT" sz="3200" b="1" dirty="0"/>
              <a:t>Algoritmo 5 (basato sul duale del rilassamento lineare)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23133AFF-CC31-2531-68B4-4AF1B4FDC8F4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17</a:t>
            </a:r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660095E0-8889-C11E-725E-B986A93466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1841" y="2488704"/>
            <a:ext cx="4268117" cy="3132000"/>
          </a:xfrm>
          <a:prstGeom prst="rect">
            <a:avLst/>
          </a:prstGeom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04C1D0E1-F2EE-4355-A35B-F27CE384F1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99" y="2406379"/>
            <a:ext cx="4474286" cy="31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5575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4DC3E-B905-A214-A6A7-C5438E643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D0E96AE6-E07F-6876-69A4-EFCB475313E9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3706235A-D864-01E9-5926-7D9B39940F67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515F7E1-DD4F-96D7-9081-17AFB8A8B2B9}"/>
              </a:ext>
            </a:extLst>
          </p:cNvPr>
          <p:cNvSpPr txBox="1"/>
          <p:nvPr/>
        </p:nvSpPr>
        <p:spPr>
          <a:xfrm>
            <a:off x="533399" y="728069"/>
            <a:ext cx="11116884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VERTEX COVER NON PESATO</a:t>
            </a:r>
          </a:p>
          <a:p>
            <a:pPr algn="just">
              <a:spcAft>
                <a:spcPts val="600"/>
              </a:spcAft>
            </a:pPr>
            <a:r>
              <a:rPr lang="it-IT" sz="3200" b="1" dirty="0"/>
              <a:t>Algoritmo 5 (basato sul duale del rilassamento lineare)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62C8788C-EAF8-7049-F6C6-D4BD6A1471F7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18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1C00CDCF-54A7-249A-7039-FEAD102A0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99" y="2406379"/>
            <a:ext cx="6036676" cy="3132000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FE2E4DD0-FD5A-A8CC-1501-388171D38F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5859" y="2406379"/>
            <a:ext cx="2960383" cy="31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6938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917E2-0E3E-CABB-EC49-58ABA6B49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30FD3871-534A-8E95-ACAF-56D3AD97998E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4A89934-52C4-4247-B668-047FA8F5ABF1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FB5714A1-BAAE-C1E4-5192-8105E7641735}"/>
              </a:ext>
            </a:extLst>
          </p:cNvPr>
          <p:cNvSpPr txBox="1"/>
          <p:nvPr/>
        </p:nvSpPr>
        <p:spPr>
          <a:xfrm>
            <a:off x="533399" y="728069"/>
            <a:ext cx="11116884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VERTEX COVER PESATO</a:t>
            </a:r>
          </a:p>
          <a:p>
            <a:pPr algn="just">
              <a:spcAft>
                <a:spcPts val="600"/>
              </a:spcAft>
            </a:pPr>
            <a:r>
              <a:rPr lang="it-IT" sz="3200" b="1" dirty="0"/>
              <a:t>Algoritmo 1 (si ordinano i vertici per peso crescente)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43D5DB99-C127-942B-151C-6B5EEADEA745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19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200539F8-7AB2-1A90-F9A4-4F1C9890A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99" y="2288416"/>
            <a:ext cx="6272014" cy="3615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4604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2EA7B-DC77-71F4-A489-EB7970040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D4B287D7-EAFC-DCFC-0C1F-D5B2DBCF2A81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6BF57AC-FEA7-92B9-CF09-3C1EF6FD8851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372CD3A2-892B-E2D1-DE23-984C2628EF77}"/>
              </a:ext>
            </a:extLst>
          </p:cNvPr>
          <p:cNvSpPr txBox="1"/>
          <p:nvPr/>
        </p:nvSpPr>
        <p:spPr>
          <a:xfrm>
            <a:off x="533399" y="728069"/>
            <a:ext cx="11116884" cy="1769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VERTEX COVER PESATO</a:t>
            </a:r>
          </a:p>
          <a:p>
            <a:pPr algn="just">
              <a:spcAft>
                <a:spcPts val="600"/>
              </a:spcAft>
            </a:pPr>
            <a:r>
              <a:rPr lang="it-IT" sz="3200" b="1" dirty="0"/>
              <a:t>Algoritmo 2 (si ordinano i vertici per rapporto peso/grado crescente)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31F72936-B423-792D-6842-AEA081856A92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20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A5C7F1FD-810F-89A9-47DC-C2318D174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99" y="2497784"/>
            <a:ext cx="3771652" cy="3441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8896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B65F2-BF6C-D3ED-14C7-FDBB3C373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74CECEE7-5915-6A91-9ECA-771A3BEC21BB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787D36D-2875-48C9-1784-0C64D157A074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5950AA2C-363F-16BD-AA56-3CEF0315EDFB}"/>
              </a:ext>
            </a:extLst>
          </p:cNvPr>
          <p:cNvSpPr txBox="1"/>
          <p:nvPr/>
        </p:nvSpPr>
        <p:spPr>
          <a:xfrm>
            <a:off x="533399" y="728069"/>
            <a:ext cx="11116884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VERTEX COVER PESATO</a:t>
            </a:r>
          </a:p>
          <a:p>
            <a:pPr algn="just">
              <a:spcAft>
                <a:spcPts val="600"/>
              </a:spcAft>
            </a:pPr>
            <a:r>
              <a:rPr lang="it-IT" sz="3200" b="1" dirty="0"/>
              <a:t>Algoritmo 3 (si ordinano gli archi per costo)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2DFEFDB8-79BF-FCDD-5542-69986AA237B9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21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D5D73F98-DD41-D930-6857-00C6A5295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99" y="2080659"/>
            <a:ext cx="8504628" cy="2772000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356D9A61-982F-6D0D-5155-A15ABB6347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8027" y="2080659"/>
            <a:ext cx="2932573" cy="27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4986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85D05-94E8-544E-86AD-DE03E7A1F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13892DE5-1DDB-59F0-B6B9-5E21842CBCC9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9ACAD12B-3C9B-FC5E-E6B7-E4D5CB24BACF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B5D37131-EA1B-6341-0D15-06A5596D905E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22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C49666B-5587-CE81-68CA-76A0BABC4B42}"/>
              </a:ext>
            </a:extLst>
          </p:cNvPr>
          <p:cNvSpPr txBox="1"/>
          <p:nvPr/>
        </p:nvSpPr>
        <p:spPr>
          <a:xfrm>
            <a:off x="533399" y="728069"/>
            <a:ext cx="1111688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VERTEX COVER PESATO</a:t>
            </a:r>
          </a:p>
          <a:p>
            <a:pPr algn="just">
              <a:spcAft>
                <a:spcPts val="1200"/>
              </a:spcAft>
            </a:pPr>
            <a:r>
              <a:rPr lang="it-IT" sz="3200" b="1" dirty="0"/>
              <a:t>Algoritmo 4 (</a:t>
            </a:r>
            <a:r>
              <a:rPr lang="it-IT" sz="3200" b="1" dirty="0" err="1"/>
              <a:t>doubling</a:t>
            </a:r>
            <a:r>
              <a:rPr lang="it-IT" sz="3200" b="1" dirty="0"/>
              <a:t> and </a:t>
            </a:r>
            <a:r>
              <a:rPr lang="it-IT" sz="3200" b="1" dirty="0" err="1"/>
              <a:t>rounding</a:t>
            </a:r>
            <a:r>
              <a:rPr lang="it-IT" sz="3200" b="1" dirty="0"/>
              <a:t> down)</a:t>
            </a:r>
            <a:endParaRPr lang="it-IT" sz="3200" dirty="0"/>
          </a:p>
          <a:p>
            <a:pPr algn="just">
              <a:spcAft>
                <a:spcPts val="1200"/>
              </a:spcAft>
            </a:pPr>
            <a:r>
              <a:rPr lang="it-IT" sz="3200" dirty="0" err="1"/>
              <a:t>Doubling</a:t>
            </a:r>
            <a:r>
              <a:rPr lang="it-IT" sz="3200" dirty="0"/>
              <a:t> and </a:t>
            </a:r>
            <a:r>
              <a:rPr lang="it-IT" sz="3200" dirty="0" err="1"/>
              <a:t>rounding</a:t>
            </a:r>
            <a:r>
              <a:rPr lang="it-IT" sz="3200" dirty="0"/>
              <a:t> down effettuato dopo aver risolto: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b="1" dirty="0"/>
              <a:t>Rilassamento lineare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dirty="0">
                <a:solidFill>
                  <a:schemeClr val="bg2">
                    <a:lumMod val="75000"/>
                  </a:schemeClr>
                </a:solidFill>
              </a:rPr>
              <a:t>Rilassamento lineare con </a:t>
            </a:r>
            <a:r>
              <a:rPr lang="it-IT" sz="3200" dirty="0" err="1">
                <a:solidFill>
                  <a:schemeClr val="bg2">
                    <a:lumMod val="75000"/>
                  </a:schemeClr>
                </a:solidFill>
              </a:rPr>
              <a:t>odd</a:t>
            </a:r>
            <a:r>
              <a:rPr lang="it-IT" sz="3200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it-IT" sz="3200" dirty="0" err="1">
                <a:solidFill>
                  <a:schemeClr val="bg2">
                    <a:lumMod val="75000"/>
                  </a:schemeClr>
                </a:solidFill>
              </a:rPr>
              <a:t>cycle</a:t>
            </a:r>
            <a:r>
              <a:rPr lang="it-IT" sz="3200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it-IT" sz="3200" dirty="0" err="1">
                <a:solidFill>
                  <a:schemeClr val="bg2">
                    <a:lumMod val="75000"/>
                  </a:schemeClr>
                </a:solidFill>
              </a:rPr>
              <a:t>inequalities</a:t>
            </a:r>
            <a:endParaRPr lang="it-IT" sz="320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95050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E61DF-9781-8898-73DD-1666AFCEE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853DEB75-A96E-59FF-3FB3-D247D4CB4597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1B8DC77-076E-FEF9-0D5B-0B5B8C00D898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DBEC9EDE-ACF9-2E4B-F74E-F2C2CF913D02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23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0A615C6A-89AE-4ABE-5FA9-ABAF76C546F2}"/>
              </a:ext>
            </a:extLst>
          </p:cNvPr>
          <p:cNvSpPr txBox="1"/>
          <p:nvPr/>
        </p:nvSpPr>
        <p:spPr>
          <a:xfrm>
            <a:off x="533399" y="728069"/>
            <a:ext cx="11116884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VERTEX COVER PESATO</a:t>
            </a:r>
          </a:p>
          <a:p>
            <a:pPr algn="just">
              <a:spcAft>
                <a:spcPts val="1200"/>
              </a:spcAft>
            </a:pPr>
            <a:r>
              <a:rPr lang="it-IT" sz="3200" b="1" dirty="0"/>
              <a:t>Algoritmo 4 (</a:t>
            </a:r>
            <a:r>
              <a:rPr lang="it-IT" sz="3200" b="1" dirty="0" err="1"/>
              <a:t>doubling</a:t>
            </a:r>
            <a:r>
              <a:rPr lang="it-IT" sz="3200" b="1" dirty="0"/>
              <a:t> and </a:t>
            </a:r>
            <a:r>
              <a:rPr lang="it-IT" sz="3200" b="1" dirty="0" err="1"/>
              <a:t>rounding</a:t>
            </a:r>
            <a:r>
              <a:rPr lang="it-IT" sz="3200" b="1" dirty="0"/>
              <a:t> down)</a:t>
            </a:r>
            <a:endParaRPr lang="it-IT" sz="3200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0DC28201-4F7B-BF55-CF75-F14240234E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9534" y="2276782"/>
            <a:ext cx="5479505" cy="3391194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DF3DA32B-B0B8-0D8F-ACA6-4F1556447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99" y="2276782"/>
            <a:ext cx="3958154" cy="1960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6176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F655E-E848-A4C0-562A-268D00091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D506995B-2D0A-2DDD-BB1A-2DA88C2A0CCC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F4056FEB-76F0-3B13-C9B8-8AF6B4E48685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539A8D05-F370-195A-12F5-3D4F7879D819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24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FC4495C9-0AE1-8EF1-7BF8-47CF205DD6C9}"/>
              </a:ext>
            </a:extLst>
          </p:cNvPr>
          <p:cNvSpPr txBox="1"/>
          <p:nvPr/>
        </p:nvSpPr>
        <p:spPr>
          <a:xfrm>
            <a:off x="533399" y="728069"/>
            <a:ext cx="1111688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VERTEX COVER PESATO</a:t>
            </a:r>
          </a:p>
          <a:p>
            <a:pPr algn="just">
              <a:spcAft>
                <a:spcPts val="1200"/>
              </a:spcAft>
            </a:pPr>
            <a:r>
              <a:rPr lang="it-IT" sz="3200" b="1" dirty="0"/>
              <a:t>Algoritmo 4 (</a:t>
            </a:r>
            <a:r>
              <a:rPr lang="it-IT" sz="3200" b="1" dirty="0" err="1"/>
              <a:t>doubling</a:t>
            </a:r>
            <a:r>
              <a:rPr lang="it-IT" sz="3200" b="1" dirty="0"/>
              <a:t> and </a:t>
            </a:r>
            <a:r>
              <a:rPr lang="it-IT" sz="3200" b="1" dirty="0" err="1"/>
              <a:t>rounding</a:t>
            </a:r>
            <a:r>
              <a:rPr lang="it-IT" sz="3200" b="1" dirty="0"/>
              <a:t> down)</a:t>
            </a:r>
            <a:endParaRPr lang="it-IT" sz="3200" dirty="0"/>
          </a:p>
          <a:p>
            <a:pPr algn="just">
              <a:spcAft>
                <a:spcPts val="1200"/>
              </a:spcAft>
            </a:pPr>
            <a:r>
              <a:rPr lang="it-IT" sz="3200" dirty="0" err="1"/>
              <a:t>Doubling</a:t>
            </a:r>
            <a:r>
              <a:rPr lang="it-IT" sz="3200" dirty="0"/>
              <a:t> and </a:t>
            </a:r>
            <a:r>
              <a:rPr lang="it-IT" sz="3200" dirty="0" err="1"/>
              <a:t>rounding</a:t>
            </a:r>
            <a:r>
              <a:rPr lang="it-IT" sz="3200" dirty="0"/>
              <a:t> down effettuato dopo aver risolto: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dirty="0">
                <a:solidFill>
                  <a:schemeClr val="bg2">
                    <a:lumMod val="75000"/>
                  </a:schemeClr>
                </a:solidFill>
              </a:rPr>
              <a:t>Rilassamento lineare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b="1" dirty="0"/>
              <a:t>Rilassamento lineare con </a:t>
            </a:r>
            <a:r>
              <a:rPr lang="it-IT" sz="3200" b="1" dirty="0" err="1"/>
              <a:t>odd</a:t>
            </a:r>
            <a:r>
              <a:rPr lang="it-IT" sz="3200" b="1" dirty="0"/>
              <a:t> </a:t>
            </a:r>
            <a:r>
              <a:rPr lang="it-IT" sz="3200" b="1" dirty="0" err="1"/>
              <a:t>cycle</a:t>
            </a:r>
            <a:r>
              <a:rPr lang="it-IT" sz="3200" b="1" dirty="0"/>
              <a:t> </a:t>
            </a:r>
            <a:r>
              <a:rPr lang="it-IT" sz="3200" b="1" dirty="0" err="1"/>
              <a:t>inequalities</a:t>
            </a:r>
            <a:endParaRPr lang="it-IT" sz="3200" b="1" dirty="0"/>
          </a:p>
        </p:txBody>
      </p:sp>
    </p:spTree>
    <p:extLst>
      <p:ext uri="{BB962C8B-B14F-4D97-AF65-F5344CB8AC3E}">
        <p14:creationId xmlns:p14="http://schemas.microsoft.com/office/powerpoint/2010/main" val="4072766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120F6-BA5B-C31F-C302-0C8C50BCF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EEB7DA05-E429-4CC0-A0DD-02DE67481998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97D2CBFC-BB8B-6C25-374C-47ABB2C71AB2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DD32EFA0-15C5-74BE-D99C-F9F1D907B1C6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25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D3DB798B-684B-B331-9678-CAF9CB170740}"/>
              </a:ext>
            </a:extLst>
          </p:cNvPr>
          <p:cNvSpPr txBox="1"/>
          <p:nvPr/>
        </p:nvSpPr>
        <p:spPr>
          <a:xfrm>
            <a:off x="533399" y="728069"/>
            <a:ext cx="11116884" cy="2416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VERTEX COVER PESATO</a:t>
            </a:r>
          </a:p>
          <a:p>
            <a:pPr algn="just">
              <a:spcAft>
                <a:spcPts val="1200"/>
              </a:spcAft>
            </a:pPr>
            <a:r>
              <a:rPr lang="it-IT" sz="3200" b="1" dirty="0"/>
              <a:t>Algoritmo 4 (</a:t>
            </a:r>
            <a:r>
              <a:rPr lang="it-IT" sz="3200" b="1" dirty="0" err="1"/>
              <a:t>doubling</a:t>
            </a:r>
            <a:r>
              <a:rPr lang="it-IT" sz="3200" b="1" dirty="0"/>
              <a:t> and </a:t>
            </a:r>
            <a:r>
              <a:rPr lang="it-IT" sz="3200" b="1" dirty="0" err="1"/>
              <a:t>rounding</a:t>
            </a:r>
            <a:r>
              <a:rPr lang="it-IT" sz="3200" b="1" dirty="0"/>
              <a:t> down con </a:t>
            </a:r>
            <a:r>
              <a:rPr lang="it-IT" sz="3200" b="1" dirty="0" err="1"/>
              <a:t>odd</a:t>
            </a:r>
            <a:r>
              <a:rPr lang="it-IT" sz="3200" b="1" dirty="0"/>
              <a:t> </a:t>
            </a:r>
            <a:r>
              <a:rPr lang="it-IT" sz="3200" b="1" dirty="0" err="1"/>
              <a:t>cycle</a:t>
            </a:r>
            <a:r>
              <a:rPr lang="it-IT" sz="3200" b="1" dirty="0"/>
              <a:t> </a:t>
            </a:r>
            <a:r>
              <a:rPr lang="it-IT" sz="3200" b="1" dirty="0" err="1"/>
              <a:t>inequalities</a:t>
            </a:r>
            <a:r>
              <a:rPr lang="it-IT" sz="3200" b="1" dirty="0"/>
              <a:t>)</a:t>
            </a:r>
          </a:p>
          <a:p>
            <a:pPr algn="just">
              <a:spcAft>
                <a:spcPts val="1200"/>
              </a:spcAft>
            </a:pPr>
            <a:endParaRPr lang="it-IT" sz="3200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9D5ABF5B-A1A5-11F2-5794-7EBB1E7E80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9151"/>
          <a:stretch>
            <a:fillRect/>
          </a:stretch>
        </p:blipFill>
        <p:spPr>
          <a:xfrm>
            <a:off x="533399" y="2672964"/>
            <a:ext cx="4680000" cy="3175620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D8F62357-C7EB-F48D-200F-2653108745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9970"/>
          <a:stretch>
            <a:fillRect/>
          </a:stretch>
        </p:blipFill>
        <p:spPr>
          <a:xfrm>
            <a:off x="6091841" y="2672964"/>
            <a:ext cx="4680000" cy="3124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6222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C9B5B-0D95-EBB0-95BA-A82BA4A1A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445A0D36-379D-1F02-8C3D-FBE995A5CD40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24F1BEB0-EC82-1584-9EBC-96894BAA4B96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6D346DA7-3FE8-47E9-1A4F-8D34543E9046}"/>
              </a:ext>
            </a:extLst>
          </p:cNvPr>
          <p:cNvSpPr txBox="1"/>
          <p:nvPr/>
        </p:nvSpPr>
        <p:spPr>
          <a:xfrm>
            <a:off x="533399" y="728069"/>
            <a:ext cx="11116884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VERTEX COVER PESATO</a:t>
            </a:r>
          </a:p>
          <a:p>
            <a:pPr algn="just">
              <a:spcAft>
                <a:spcPts val="600"/>
              </a:spcAft>
            </a:pPr>
            <a:r>
              <a:rPr lang="it-IT" sz="3200" b="1" dirty="0"/>
              <a:t>Algoritmo 5 (basato sul duale del rilassamento lineare)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90BB1ACC-6158-6845-0028-176E0DCAD8F5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26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C0A85566-7F2D-28B6-F154-91C8B93F8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99" y="2005342"/>
            <a:ext cx="4851814" cy="3569548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1272809F-97B0-E473-8B28-AB00369E5A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8188" y="2004516"/>
            <a:ext cx="5379120" cy="357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9827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04597-F93E-821B-58E7-7AAFA50DC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045F5D7D-01D8-65B4-C04A-CF0DB742243E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37AC21F6-602E-DF0B-5461-E52E88D16059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C2B4472-83AF-5CE5-2C37-37C816DC337D}"/>
              </a:ext>
            </a:extLst>
          </p:cNvPr>
          <p:cNvSpPr txBox="1"/>
          <p:nvPr/>
        </p:nvSpPr>
        <p:spPr>
          <a:xfrm>
            <a:off x="533399" y="728069"/>
            <a:ext cx="11116884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VERTEX COVER PESATO</a:t>
            </a:r>
          </a:p>
          <a:p>
            <a:pPr algn="just">
              <a:spcAft>
                <a:spcPts val="600"/>
              </a:spcAft>
            </a:pPr>
            <a:r>
              <a:rPr lang="it-IT" sz="3200" b="1" dirty="0"/>
              <a:t>Algoritmo 5 (basato sul duale del rilassamento lineare)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3E76F09A-D9DB-50A7-E2CB-F58F1109F216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27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D766EBF9-DE25-D9D2-704E-92FFE5D62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99" y="2186779"/>
            <a:ext cx="3251093" cy="357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9469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C0F47-A07E-AD5D-8C78-66A34A857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3BD5D540-9466-62B5-C501-26F6DFB5F09A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D4A2B94-EA1F-EDC7-476E-0FB7EB6749B1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79BD82AE-AF79-0B74-63F1-59BB1B09301F}"/>
              </a:ext>
            </a:extLst>
          </p:cNvPr>
          <p:cNvSpPr txBox="1"/>
          <p:nvPr/>
        </p:nvSpPr>
        <p:spPr>
          <a:xfrm>
            <a:off x="533399" y="728069"/>
            <a:ext cx="6304281" cy="43249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>
                <a:solidFill>
                  <a:srgbClr val="990000"/>
                </a:solidFill>
              </a:rPr>
              <a:t>ROADMAP: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it-IT" sz="3200" dirty="0">
                <a:solidFill>
                  <a:schemeClr val="bg2">
                    <a:lumMod val="75000"/>
                  </a:schemeClr>
                </a:solidFill>
              </a:rPr>
              <a:t>IDEA DEL PROGETTO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it-IT" sz="3200" dirty="0">
                <a:solidFill>
                  <a:schemeClr val="bg2">
                    <a:lumMod val="75000"/>
                  </a:schemeClr>
                </a:solidFill>
              </a:rPr>
              <a:t>ALGORITMI CONFRONTATI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it-IT" sz="3200" b="1" dirty="0"/>
              <a:t>METODOLOGIA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it-IT" sz="3200" dirty="0">
                <a:solidFill>
                  <a:schemeClr val="bg2">
                    <a:lumMod val="75000"/>
                  </a:schemeClr>
                </a:solidFill>
              </a:rPr>
              <a:t>RISULTATI PIÙ SIGNIFICATIVI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it-IT" sz="3200" dirty="0">
                <a:solidFill>
                  <a:schemeClr val="bg2">
                    <a:lumMod val="75000"/>
                  </a:schemeClr>
                </a:solidFill>
              </a:rPr>
              <a:t>CONCLUSIONI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6FF0CC2D-250E-43D1-8C8E-CFA9E7DF5D4D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25732298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7DAAD-41E2-528F-B305-818EBE4D7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F8FEF686-F581-C756-0D99-D9B5E980F8E9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DD89110-0EEC-B552-F323-35D2C3A24620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9A56459E-123A-EBEC-F87C-4B78AD68C7B0}"/>
              </a:ext>
            </a:extLst>
          </p:cNvPr>
          <p:cNvSpPr txBox="1"/>
          <p:nvPr/>
        </p:nvSpPr>
        <p:spPr>
          <a:xfrm>
            <a:off x="533399" y="728069"/>
            <a:ext cx="11116884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CLASSI DI ISTANZE</a:t>
            </a:r>
          </a:p>
          <a:p>
            <a:pPr algn="just">
              <a:spcAft>
                <a:spcPts val="600"/>
              </a:spcAft>
            </a:pPr>
            <a:endParaRPr lang="it-IT" sz="3200" b="1" dirty="0"/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dirty="0"/>
              <a:t>Minimum vertex cover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it-IT" sz="3200" dirty="0"/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dirty="0"/>
              <a:t>Minimum </a:t>
            </a:r>
            <a:r>
              <a:rPr lang="it-IT" sz="3200" dirty="0" err="1"/>
              <a:t>weighted</a:t>
            </a:r>
            <a:r>
              <a:rPr lang="it-IT" sz="3200" dirty="0"/>
              <a:t> vertex cover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C17CBAE4-9B6A-55E6-A7FF-75AC63DDE62D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4866330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04F10-42A0-1A54-BA62-028E95FCC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99184005-635C-4C43-F1AF-8BE05B398E3D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873570F4-0674-7179-B545-DBFA3E71007B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C29DFCBA-9891-67E0-E2D9-831CC81BEDB9}"/>
              </a:ext>
            </a:extLst>
          </p:cNvPr>
          <p:cNvSpPr txBox="1"/>
          <p:nvPr/>
        </p:nvSpPr>
        <p:spPr>
          <a:xfrm>
            <a:off x="533399" y="728069"/>
            <a:ext cx="11116884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CLASSI DI ISTANZE</a:t>
            </a:r>
          </a:p>
          <a:p>
            <a:pPr algn="just">
              <a:spcAft>
                <a:spcPts val="600"/>
              </a:spcAft>
            </a:pPr>
            <a:endParaRPr lang="it-IT" sz="3200" b="1" dirty="0"/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b="1" dirty="0"/>
              <a:t>Minimum vertex cover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it-IT" sz="3200" dirty="0">
              <a:solidFill>
                <a:schemeClr val="bg2">
                  <a:lumMod val="75000"/>
                </a:schemeClr>
              </a:solidFill>
            </a:endParaRP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dirty="0">
                <a:solidFill>
                  <a:schemeClr val="bg2">
                    <a:lumMod val="75000"/>
                  </a:schemeClr>
                </a:solidFill>
              </a:rPr>
              <a:t>Minimum </a:t>
            </a:r>
            <a:r>
              <a:rPr lang="it-IT" sz="3200" dirty="0" err="1">
                <a:solidFill>
                  <a:schemeClr val="bg2">
                    <a:lumMod val="75000"/>
                  </a:schemeClr>
                </a:solidFill>
              </a:rPr>
              <a:t>weighted</a:t>
            </a:r>
            <a:r>
              <a:rPr lang="it-IT" sz="3200" dirty="0">
                <a:solidFill>
                  <a:schemeClr val="bg2">
                    <a:lumMod val="75000"/>
                  </a:schemeClr>
                </a:solidFill>
              </a:rPr>
              <a:t> vertex cover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20E9414D-7F76-C200-E47F-F22DA413C082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720965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B37B5-6C90-6417-2B9E-D230DFC83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810C53F6-893E-BAF7-3BE0-7636E75FCCB3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4577CEF-69E3-D875-6777-EB324580E163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0D31ECF8-836C-E9D2-5CA5-238EB89E076D}"/>
              </a:ext>
            </a:extLst>
          </p:cNvPr>
          <p:cNvSpPr txBox="1"/>
          <p:nvPr/>
        </p:nvSpPr>
        <p:spPr>
          <a:xfrm>
            <a:off x="533399" y="728069"/>
            <a:ext cx="11116884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CLASSI DI ISTANZE</a:t>
            </a:r>
          </a:p>
          <a:p>
            <a:pPr algn="just">
              <a:spcAft>
                <a:spcPts val="600"/>
              </a:spcAft>
            </a:pPr>
            <a:endParaRPr lang="it-IT" sz="3200" b="1" dirty="0"/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b="1" dirty="0"/>
              <a:t>Minimum vertex cover</a:t>
            </a:r>
            <a:endParaRPr lang="it-IT" sz="3200" b="1" dirty="0">
              <a:solidFill>
                <a:schemeClr val="bg2">
                  <a:lumMod val="75000"/>
                </a:schemeClr>
              </a:solidFill>
            </a:endParaRPr>
          </a:p>
          <a:p>
            <a:pPr marL="914400" lvl="1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dirty="0"/>
              <a:t>Numero di vertici</a:t>
            </a:r>
          </a:p>
          <a:p>
            <a:pPr marL="914400" lvl="1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dirty="0"/>
              <a:t>Densità del grafo</a:t>
            </a:r>
          </a:p>
          <a:p>
            <a:pPr marL="914400" lvl="1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dirty="0"/>
              <a:t>Grado massimo di un vertice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0D4AE1F7-3F7D-519E-449C-384EB533D13A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9604129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F9854-7937-FF94-411E-E32EBE845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A8F25EE0-3FF0-C238-9B07-C1C9A9AE7E89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852798EE-F0D9-C040-1A2B-199BF850817E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DA84F896-CB1C-1106-FDEE-9FD7EC2CE851}"/>
                  </a:ext>
                </a:extLst>
              </p:cNvPr>
              <p:cNvSpPr txBox="1"/>
              <p:nvPr/>
            </p:nvSpPr>
            <p:spPr>
              <a:xfrm>
                <a:off x="533399" y="728069"/>
                <a:ext cx="11116884" cy="4469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it-IT" sz="4000" b="1" dirty="0">
                    <a:solidFill>
                      <a:srgbClr val="990000"/>
                    </a:solidFill>
                  </a:rPr>
                  <a:t>NUMERO DI VERTICI</a:t>
                </a:r>
              </a:p>
              <a:p>
                <a:pPr algn="just">
                  <a:spcAft>
                    <a:spcPts val="600"/>
                  </a:spcAft>
                </a:pPr>
                <a:r>
                  <a:rPr lang="it-IT" sz="3200" b="1" dirty="0"/>
                  <a:t>Assunzione: </a:t>
                </a:r>
                <a:r>
                  <a:rPr lang="it-IT" sz="3200" dirty="0"/>
                  <a:t>anziché suddividere l’intervallo {1,…,</a:t>
                </a:r>
                <a:r>
                  <a:rPr lang="it-IT" sz="3200" dirty="0" err="1"/>
                  <a:t>N_max</a:t>
                </a:r>
                <a:r>
                  <a:rPr lang="it-IT" sz="3200" dirty="0"/>
                  <a:t>} in sotto-intervalli, si è preferito fissare dei valori «ragionevolmente distanti tra loro» che potessero fungere da rappresentanti per tali sotto-intervalli.</a:t>
                </a:r>
              </a:p>
              <a:p>
                <a:pPr algn="just">
                  <a:spcAft>
                    <a:spcPts val="600"/>
                  </a:spcAft>
                </a:pPr>
                <a:endParaRPr lang="it-IT" sz="3200" dirty="0"/>
              </a:p>
              <a:p>
                <a:pPr algn="just">
                  <a:spcAft>
                    <a:spcPts val="600"/>
                  </a:spcAft>
                </a:pPr>
                <a:r>
                  <a:rPr lang="it-IT" sz="3200" dirty="0" err="1"/>
                  <a:t>N_i</a:t>
                </a:r>
                <a:r>
                  <a:rPr lang="it-IT" sz="3200" dirty="0"/>
                  <a:t> = #vertici della classe i</a:t>
                </a:r>
              </a:p>
              <a:p>
                <a:pPr algn="just">
                  <a:spcAft>
                    <a:spcPts val="600"/>
                  </a:spcAft>
                </a:pPr>
                <a:r>
                  <a:rPr lang="it-IT" sz="3200" dirty="0" err="1"/>
                  <a:t>N_i</a:t>
                </a:r>
                <a:r>
                  <a:rPr lang="it-IT" sz="3200" dirty="0"/>
                  <a:t> = 50 *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it-IT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endParaRPr lang="it-IT" sz="32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DA84F896-CB1C-1106-FDEE-9FD7EC2CE8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399" y="728069"/>
                <a:ext cx="11116884" cy="4469109"/>
              </a:xfrm>
              <a:prstGeom prst="rect">
                <a:avLst/>
              </a:prstGeom>
              <a:blipFill>
                <a:blip r:embed="rId2"/>
                <a:stretch>
                  <a:fillRect l="-1919" t="-2452" r="-1371" b="-354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asellaDiTesto 1">
            <a:extLst>
              <a:ext uri="{FF2B5EF4-FFF2-40B4-BE49-F238E27FC236}">
                <a16:creationId xmlns:a16="http://schemas.microsoft.com/office/drawing/2014/main" id="{A2AEEA1D-E930-78E7-46F4-40F6E7EF6158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29680086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B92F2-A39F-6B56-B16D-C73C2E838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59555159-8CB2-7B07-4EF3-4D02D5A6C508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E1AB727-875C-F086-D167-9F65A25F5E38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A67846B3-13FF-5E25-4BF7-D3F271550C03}"/>
              </a:ext>
            </a:extLst>
          </p:cNvPr>
          <p:cNvSpPr txBox="1"/>
          <p:nvPr/>
        </p:nvSpPr>
        <p:spPr>
          <a:xfrm>
            <a:off x="533399" y="728069"/>
            <a:ext cx="11116884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NUMERO DI VERTICI</a:t>
            </a:r>
          </a:p>
          <a:p>
            <a:pPr algn="just">
              <a:spcAft>
                <a:spcPts val="600"/>
              </a:spcAft>
            </a:pPr>
            <a:r>
              <a:rPr lang="it-IT" sz="3200" b="1" dirty="0"/>
              <a:t>Classi: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dirty="0"/>
              <a:t>50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dirty="0"/>
              <a:t>100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dirty="0"/>
              <a:t>200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dirty="0"/>
              <a:t>400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dirty="0"/>
              <a:t>800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8CE62D7A-5EE6-46FB-D5D7-6B389F0191EC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33928132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E79C4-F9D0-F34C-4BF4-10C1169D5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FA3947AA-5588-D116-34D4-B606C693F693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84FB8C8-2E70-7BDE-29C5-E4E2EFBF6EA8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945B7534-6DCF-6A81-F4D0-DDEF0AEE7AA8}"/>
                  </a:ext>
                </a:extLst>
              </p:cNvPr>
              <p:cNvSpPr txBox="1"/>
              <p:nvPr/>
            </p:nvSpPr>
            <p:spPr>
              <a:xfrm>
                <a:off x="533399" y="728069"/>
                <a:ext cx="11116884" cy="51295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it-IT" sz="4000" b="1" dirty="0">
                    <a:solidFill>
                      <a:srgbClr val="990000"/>
                    </a:solidFill>
                  </a:rPr>
                  <a:t>DENSITÀ DEL GRAFO</a:t>
                </a:r>
              </a:p>
              <a:p>
                <a:pPr algn="just">
                  <a:spcAft>
                    <a:spcPts val="600"/>
                  </a:spcAft>
                </a:pPr>
                <a:r>
                  <a:rPr lang="it-IT" sz="3200" b="1" dirty="0"/>
                  <a:t>Concetto: </a:t>
                </a:r>
                <a:r>
                  <a:rPr lang="it-IT" sz="3200" dirty="0"/>
                  <a:t>è il rapporto tra il numero di archi presenti nel grafo e il numero di archi possibili.</a:t>
                </a:r>
                <a:endParaRPr lang="it-IT" sz="3200" b="1" dirty="0"/>
              </a:p>
              <a:p>
                <a:pPr algn="just">
                  <a:spcAft>
                    <a:spcPts val="600"/>
                  </a:spcAft>
                </a:pPr>
                <a:r>
                  <a:rPr lang="it-IT" sz="3200" b="1" dirty="0"/>
                  <a:t>d(G)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t-IT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3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it-IT" sz="3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  <m:r>
                          <a:rPr lang="it-IT" sz="3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</m:num>
                      <m:den>
                        <m:d>
                          <m:dPr>
                            <m:ctrlPr>
                              <a:rPr lang="it-IT" sz="3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it-IT" sz="3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it-IT" sz="32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it-IT" sz="3200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V</m:t>
                                      </m:r>
                                    </m:e>
                                  </m:d>
                                </m:e>
                              </m:mr>
                              <m:mr>
                                <m:e>
                                  <m:r>
                                    <a:rPr lang="it-IT" sz="32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</m:m>
                          </m:e>
                        </m:d>
                      </m:den>
                    </m:f>
                  </m:oMath>
                </a14:m>
                <a:r>
                  <a:rPr lang="it-IT" sz="3200" dirty="0"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t-IT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3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it-IT" sz="3200" b="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it-IT" sz="3200" b="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  <m:r>
                          <a:rPr lang="it-IT" sz="3200" b="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it-IT" sz="3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it-IT" sz="3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V</m:t>
                            </m:r>
                          </m:e>
                        </m:d>
                        <m:r>
                          <a:rPr lang="it-IT" sz="3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it-IT" sz="3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it-IT" sz="3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V</m:t>
                            </m:r>
                          </m:e>
                        </m:d>
                        <m:r>
                          <a:rPr lang="it-IT" sz="3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−1)</m:t>
                        </m:r>
                      </m:den>
                    </m:f>
                  </m:oMath>
                </a14:m>
                <a:r>
                  <a:rPr lang="it-IT" sz="3200" dirty="0">
                    <a:ea typeface="Cambria Math" panose="02040503050406030204" pitchFamily="18" charset="0"/>
                  </a:rPr>
                  <a:t> </a:t>
                </a:r>
              </a:p>
              <a:p>
                <a:pPr algn="just">
                  <a:spcAft>
                    <a:spcPts val="600"/>
                  </a:spcAft>
                </a:pPr>
                <a:r>
                  <a:rPr lang="it-IT" sz="3200" b="1" dirty="0">
                    <a:ea typeface="Cambria Math" panose="02040503050406030204" pitchFamily="18" charset="0"/>
                  </a:rPr>
                  <a:t>Classi:</a:t>
                </a:r>
              </a:p>
              <a:p>
                <a:pPr marL="457200" indent="-45720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it-IT" sz="3200" dirty="0">
                    <a:ea typeface="Cambria Math" panose="02040503050406030204" pitchFamily="18" charset="0"/>
                  </a:rPr>
                  <a:t>0.2</a:t>
                </a:r>
              </a:p>
              <a:p>
                <a:pPr marL="457200" indent="-45720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it-IT" sz="3200" dirty="0">
                    <a:ea typeface="Cambria Math" panose="02040503050406030204" pitchFamily="18" charset="0"/>
                  </a:rPr>
                  <a:t>0.5</a:t>
                </a:r>
              </a:p>
              <a:p>
                <a:pPr marL="457200" indent="-45720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it-IT" sz="3200" dirty="0">
                    <a:ea typeface="Cambria Math" panose="02040503050406030204" pitchFamily="18" charset="0"/>
                  </a:rPr>
                  <a:t>0.8</a:t>
                </a:r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945B7534-6DCF-6A81-F4D0-DDEF0AEE7A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399" y="728069"/>
                <a:ext cx="11116884" cy="5129546"/>
              </a:xfrm>
              <a:prstGeom prst="rect">
                <a:avLst/>
              </a:prstGeom>
              <a:blipFill>
                <a:blip r:embed="rId2"/>
                <a:stretch>
                  <a:fillRect l="-1919" t="-2138" r="-1371" b="-296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asellaDiTesto 1">
            <a:extLst>
              <a:ext uri="{FF2B5EF4-FFF2-40B4-BE49-F238E27FC236}">
                <a16:creationId xmlns:a16="http://schemas.microsoft.com/office/drawing/2014/main" id="{DDEE3579-E63A-A55B-5CA2-C65634EFE29E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5683362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120BA-4D15-E745-27EC-7E15D7674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C171EBE3-E0AB-5704-0CEB-1B5F20742E6B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2010490-F577-7C08-8C62-B7E8CD52560E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DDCF863F-BE38-6E66-B6C0-EC10A5A4494A}"/>
              </a:ext>
            </a:extLst>
          </p:cNvPr>
          <p:cNvSpPr txBox="1"/>
          <p:nvPr/>
        </p:nvSpPr>
        <p:spPr>
          <a:xfrm>
            <a:off x="533399" y="728069"/>
            <a:ext cx="11116884" cy="4878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GRADO MASSIMO DI UN VERTICE</a:t>
            </a:r>
          </a:p>
          <a:p>
            <a:pPr algn="just">
              <a:spcAft>
                <a:spcPts val="600"/>
              </a:spcAft>
            </a:pPr>
            <a:r>
              <a:rPr lang="it-IT" sz="3200" b="1" dirty="0"/>
              <a:t>Assunzione: </a:t>
            </a:r>
            <a:r>
              <a:rPr lang="it-IT" sz="3200" dirty="0"/>
              <a:t>anziché utilizzare il grado massimo di un vertice (che è un valore fisso), si è cercato un modo per parametrizzarlo in funzione del numero dei vertici e degli archi del grafo.</a:t>
            </a:r>
          </a:p>
          <a:p>
            <a:pPr algn="just">
              <a:spcAft>
                <a:spcPts val="600"/>
              </a:spcAft>
            </a:pPr>
            <a:endParaRPr lang="it-IT" sz="3200" b="1" dirty="0"/>
          </a:p>
          <a:p>
            <a:pPr algn="just">
              <a:spcAft>
                <a:spcPts val="600"/>
              </a:spcAft>
            </a:pPr>
            <a:r>
              <a:rPr lang="it-IT" sz="3200" b="1" dirty="0"/>
              <a:t>Osservazione: </a:t>
            </a:r>
            <a:r>
              <a:rPr lang="it-IT" sz="3200" dirty="0"/>
              <a:t>non è tanto di interesse il valore in sé del grado massimo di un vertice, quanto lo «sbilanciamento» del grafo e la disposizione dei vertici di grado maggiore rispetto a quelli di grado inferiore.</a:t>
            </a:r>
            <a:endParaRPr lang="it-IT" sz="4000" b="1" dirty="0">
              <a:solidFill>
                <a:srgbClr val="990000"/>
              </a:solidFill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408BBA79-C3AE-6B56-797D-C981F8A73B46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23560043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0071F-9272-DC55-0D89-40F436C13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F3E00DA1-3FBC-1B04-F0CE-51546FE2D104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3A3F5A4F-7683-98DA-28C3-B11AC35D2D88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CFF7A392-E0C5-4E09-093D-0EED36C8000B}"/>
              </a:ext>
            </a:extLst>
          </p:cNvPr>
          <p:cNvSpPr txBox="1"/>
          <p:nvPr/>
        </p:nvSpPr>
        <p:spPr>
          <a:xfrm>
            <a:off x="533399" y="728069"/>
            <a:ext cx="11116884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GRADO MASSIMO DI UN VERTICE</a:t>
            </a:r>
          </a:p>
          <a:p>
            <a:pPr algn="just">
              <a:spcAft>
                <a:spcPts val="600"/>
              </a:spcAft>
            </a:pPr>
            <a:r>
              <a:rPr lang="it-IT" sz="3200" b="1" dirty="0"/>
              <a:t>Rapporto grado massimo-medio: </a:t>
            </a:r>
            <a:r>
              <a:rPr lang="it-IT" sz="3200" dirty="0"/>
              <a:t>è il rapporto tra il grado massimo tra tutti i vertici e la media del grado di tutti i vertici del grafo.</a:t>
            </a:r>
          </a:p>
          <a:p>
            <a:pPr algn="just">
              <a:spcAft>
                <a:spcPts val="600"/>
              </a:spcAft>
            </a:pPr>
            <a:endParaRPr lang="it-IT" sz="3200" dirty="0"/>
          </a:p>
          <a:p>
            <a:pPr algn="just">
              <a:spcAft>
                <a:spcPts val="600"/>
              </a:spcAft>
            </a:pPr>
            <a:r>
              <a:rPr lang="it-IT" sz="3200" b="1" dirty="0"/>
              <a:t>Classi: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dirty="0"/>
              <a:t>1 (omogeneità assoluta)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dirty="0"/>
              <a:t>Tra 1.2 e 1.6 (leggero sbilanciamento)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dirty="0"/>
              <a:t>Maggiore di 2 (sbilanciamento evidente)</a:t>
            </a:r>
            <a:endParaRPr lang="it-IT" sz="3200" b="1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D1822831-E080-58BF-31FF-7C3844F29D9F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8792093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28139-54FB-548A-ADFB-6D5FC6D14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98764A11-C028-62AD-AE63-DD92896A3EA5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E43F34A-DFC6-98D9-EE2C-AF5AED71E516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D831E679-5002-C657-B24C-F017B4D6E3AF}"/>
              </a:ext>
            </a:extLst>
          </p:cNvPr>
          <p:cNvSpPr txBox="1"/>
          <p:nvPr/>
        </p:nvSpPr>
        <p:spPr>
          <a:xfrm>
            <a:off x="533399" y="728069"/>
            <a:ext cx="11116884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CLASSI DI ISTANZE</a:t>
            </a:r>
          </a:p>
          <a:p>
            <a:pPr algn="just">
              <a:spcAft>
                <a:spcPts val="600"/>
              </a:spcAft>
            </a:pPr>
            <a:endParaRPr lang="it-IT" sz="3200" b="1" dirty="0"/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dirty="0">
                <a:solidFill>
                  <a:schemeClr val="bg2">
                    <a:lumMod val="75000"/>
                  </a:schemeClr>
                </a:solidFill>
              </a:rPr>
              <a:t>Minimum vertex cover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it-IT" sz="3200" dirty="0">
              <a:solidFill>
                <a:schemeClr val="bg2">
                  <a:lumMod val="75000"/>
                </a:schemeClr>
              </a:solidFill>
            </a:endParaRP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b="1" dirty="0"/>
              <a:t>Minimum </a:t>
            </a:r>
            <a:r>
              <a:rPr lang="it-IT" sz="3200" b="1" dirty="0" err="1"/>
              <a:t>weighted</a:t>
            </a:r>
            <a:r>
              <a:rPr lang="it-IT" sz="3200" b="1" dirty="0"/>
              <a:t> vertex cover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51E9E7E4-2FAE-427A-DE93-11FB74743587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18309830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30F36-403E-F851-35DD-259A9460F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A5A149BE-D7C6-A01A-61E7-F93E8BC01113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44BEFB73-EDE7-ACC1-7369-9D1608F5BCD1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A341268-8C66-59FE-E44B-2D2F0E107DA6}"/>
              </a:ext>
            </a:extLst>
          </p:cNvPr>
          <p:cNvSpPr txBox="1"/>
          <p:nvPr/>
        </p:nvSpPr>
        <p:spPr>
          <a:xfrm>
            <a:off x="533399" y="728069"/>
            <a:ext cx="11116884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CLASSI DI ISTANZE</a:t>
            </a:r>
          </a:p>
          <a:p>
            <a:pPr algn="just">
              <a:spcAft>
                <a:spcPts val="600"/>
              </a:spcAft>
            </a:pPr>
            <a:endParaRPr lang="it-IT" sz="3200" dirty="0">
              <a:solidFill>
                <a:schemeClr val="bg2">
                  <a:lumMod val="75000"/>
                </a:schemeClr>
              </a:solidFill>
            </a:endParaRP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b="1" dirty="0"/>
              <a:t>Minimum </a:t>
            </a:r>
            <a:r>
              <a:rPr lang="it-IT" sz="3200" b="1" dirty="0" err="1"/>
              <a:t>weighted</a:t>
            </a:r>
            <a:r>
              <a:rPr lang="it-IT" sz="3200" b="1" dirty="0"/>
              <a:t> vertex cover</a:t>
            </a:r>
          </a:p>
          <a:p>
            <a:pPr marL="914400" lvl="1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dirty="0"/>
              <a:t>Numero di vertici</a:t>
            </a:r>
          </a:p>
          <a:p>
            <a:pPr marL="914400" lvl="1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dirty="0"/>
              <a:t>Densità del grafo</a:t>
            </a:r>
          </a:p>
          <a:p>
            <a:pPr marL="914400" lvl="1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dirty="0"/>
              <a:t>Variabilità dei pesi dei vertici</a:t>
            </a:r>
          </a:p>
          <a:p>
            <a:pPr marL="914400" lvl="1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dirty="0"/>
              <a:t>Correlazione tra grado e peso di un vertice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2FF0F6C9-DCAB-85F0-DB48-88DE91457458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8697630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F209B-7043-304F-E41E-E514A658B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13E3A7A6-ED4B-A9F8-7D7E-C2E55661E50E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54A412D-0290-5106-F40C-3CBCC80E16D2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0539DFE2-DEAB-DE30-7B95-FD109E8C4973}"/>
                  </a:ext>
                </a:extLst>
              </p:cNvPr>
              <p:cNvSpPr txBox="1"/>
              <p:nvPr/>
            </p:nvSpPr>
            <p:spPr>
              <a:xfrm>
                <a:off x="537557" y="540116"/>
                <a:ext cx="11116884" cy="5399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it-IT" sz="4000" b="1" dirty="0">
                    <a:solidFill>
                      <a:srgbClr val="990000"/>
                    </a:solidFill>
                  </a:rPr>
                  <a:t>VARIABILITÀ DEI PESI</a:t>
                </a:r>
              </a:p>
              <a:p>
                <a:pPr algn="just">
                  <a:spcAft>
                    <a:spcPts val="600"/>
                  </a:spcAft>
                </a:pPr>
                <a:r>
                  <a:rPr lang="it-IT" sz="3200" b="1" dirty="0"/>
                  <a:t>Variabile aleatoria: </a:t>
                </a:r>
                <a:r>
                  <a:rPr lang="it-IT" sz="3200" dirty="0"/>
                  <a:t>si è impiegata una variabile aleatoria uniforme nell’intervallo [</a:t>
                </a:r>
                <a:r>
                  <a:rPr lang="it-IT" sz="3200" dirty="0" err="1"/>
                  <a:t>a,b</a:t>
                </a:r>
                <a:r>
                  <a:rPr lang="it-IT" sz="3200" dirty="0"/>
                  <a:t>] con a = 1.</a:t>
                </a:r>
                <a:endParaRPr lang="it-IT" sz="3200" b="1" dirty="0"/>
              </a:p>
              <a:p>
                <a:pPr algn="just">
                  <a:spcAft>
                    <a:spcPts val="600"/>
                  </a:spcAft>
                </a:pPr>
                <a:r>
                  <a:rPr lang="it-IT" sz="3200" b="1" dirty="0"/>
                  <a:t>Varianza: </a:t>
                </a:r>
                <a:r>
                  <a:rPr lang="it-IT" sz="3200" dirty="0"/>
                  <a:t>per aumentare la varianza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t-IT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3200" b="0" i="0" smtClean="0">
                            <a:latin typeface="Cambria Math" panose="02040503050406030204" pitchFamily="18" charset="0"/>
                          </a:rPr>
                          <m:t> (</m:t>
                        </m:r>
                        <m:sSup>
                          <m:sSupPr>
                            <m:ctrlPr>
                              <a:rPr lang="it-IT" sz="32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it-IT" sz="3200" b="0" i="0" smtClean="0">
                                <a:latin typeface="Cambria Math" panose="02040503050406030204" pitchFamily="18" charset="0"/>
                              </a:rPr>
                              <m:t>b</m:t>
                            </m:r>
                            <m:r>
                              <a:rPr lang="it-IT" sz="3200" b="0" i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it-IT" sz="3200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  <m:r>
                              <a:rPr lang="it-IT" sz="3200" b="0" i="0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it-IT" sz="3200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it-IT" sz="3200" b="0" i="0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lang="it-IT" sz="3200" dirty="0"/>
                  <a:t>) si modifica il secondo estremo dell’intervallo.</a:t>
                </a:r>
              </a:p>
              <a:p>
                <a:pPr algn="just">
                  <a:spcAft>
                    <a:spcPts val="600"/>
                  </a:spcAft>
                </a:pPr>
                <a:r>
                  <a:rPr lang="it-IT" sz="3200" b="1" dirty="0"/>
                  <a:t>Classi (valori di b):</a:t>
                </a:r>
              </a:p>
              <a:p>
                <a:pPr marL="457200" indent="-45720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it-IT" sz="3200" dirty="0"/>
                  <a:t>10</a:t>
                </a:r>
              </a:p>
              <a:p>
                <a:pPr marL="457200" indent="-45720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it-IT" sz="3200" dirty="0"/>
                  <a:t>1000</a:t>
                </a:r>
              </a:p>
              <a:p>
                <a:pPr marL="457200" indent="-45720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it-IT" sz="3200" dirty="0"/>
                  <a:t>10000</a:t>
                </a:r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0539DFE2-DEAB-DE30-7B95-FD109E8C49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557" y="540116"/>
                <a:ext cx="11116884" cy="5399299"/>
              </a:xfrm>
              <a:prstGeom prst="rect">
                <a:avLst/>
              </a:prstGeom>
              <a:blipFill>
                <a:blip r:embed="rId2"/>
                <a:stretch>
                  <a:fillRect l="-1919" t="-2034" r="-1371" b="-293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asellaDiTesto 1">
            <a:extLst>
              <a:ext uri="{FF2B5EF4-FFF2-40B4-BE49-F238E27FC236}">
                <a16:creationId xmlns:a16="http://schemas.microsoft.com/office/drawing/2014/main" id="{439D3603-D75C-F8F9-FA09-186A36798B14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41149856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0A46D-60D4-0C90-1EB7-BB6C6C6FC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B5B179D8-ADFF-0FBC-E90C-9782DDCCEFB6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35970EF1-9EF5-2FFD-872E-3AD067D41F90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96518C64-F227-6624-FF88-8BDC7F1E65E4}"/>
              </a:ext>
            </a:extLst>
          </p:cNvPr>
          <p:cNvSpPr txBox="1"/>
          <p:nvPr/>
        </p:nvSpPr>
        <p:spPr>
          <a:xfrm>
            <a:off x="533399" y="728069"/>
            <a:ext cx="11116884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CORRELAZIONE TRA GRADO E PESO DI UN VERTICE</a:t>
            </a:r>
          </a:p>
          <a:p>
            <a:pPr algn="just">
              <a:spcAft>
                <a:spcPts val="600"/>
              </a:spcAft>
            </a:pPr>
            <a:r>
              <a:rPr lang="it-IT" sz="3200" b="1" dirty="0"/>
              <a:t>Classi (in base al coefficiente di Spearman):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dirty="0"/>
              <a:t>-1 (correlazione monotona decrescente)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dirty="0"/>
              <a:t>0 (nessuna correlazione)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dirty="0"/>
              <a:t>1 (correlazione monotona crescente)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13C6B9F5-92A2-38DF-FE62-F5B89AA7B914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7167118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51C33-3F58-18BF-B814-4E5791EF0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B47A4476-A3F8-72D1-876D-9CA3DD348E86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BCB6BF83-BD73-51C5-4516-841A8B23DC08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B940374B-69D3-4663-1003-A16A937FDBF9}"/>
              </a:ext>
            </a:extLst>
          </p:cNvPr>
          <p:cNvSpPr txBox="1"/>
          <p:nvPr/>
        </p:nvSpPr>
        <p:spPr>
          <a:xfrm>
            <a:off x="533399" y="728069"/>
            <a:ext cx="11116884" cy="275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OTTIMIZZAZIONI NEL CODICE</a:t>
            </a:r>
          </a:p>
          <a:p>
            <a:pPr algn="just">
              <a:spcAft>
                <a:spcPts val="600"/>
              </a:spcAft>
            </a:pPr>
            <a:r>
              <a:rPr lang="it-IT" sz="3200" dirty="0"/>
              <a:t>Il codice implementato </a:t>
            </a:r>
            <a:r>
              <a:rPr lang="it-IT" sz="3200" b="1" dirty="0"/>
              <a:t>non mappa perfettamente </a:t>
            </a:r>
            <a:r>
              <a:rPr lang="it-IT" sz="3200" dirty="0"/>
              <a:t>lo pseudocodice fornito, in quanto sono state fatte alcune considerazioni in termini di ottimizzazione per diminuire il tempo di calcolo e impiegare meno memoria.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54A2D03D-67EF-74FD-C74B-5789DE31883E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14365309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7C6D1-EAB5-F8B8-B2D0-03594144E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5267A1DB-4101-5BFC-3BB2-3912239CE920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FFFFF16-B0FA-B89A-727A-3E0E4E596246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934FD40F-09DF-5E8F-59CE-6AE882A8705E}"/>
              </a:ext>
            </a:extLst>
          </p:cNvPr>
          <p:cNvSpPr txBox="1"/>
          <p:nvPr/>
        </p:nvSpPr>
        <p:spPr>
          <a:xfrm>
            <a:off x="533399" y="728069"/>
            <a:ext cx="11116884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OTTIMIZZAZIONI NEL CODICE</a:t>
            </a:r>
          </a:p>
          <a:p>
            <a:pPr algn="just">
              <a:spcAft>
                <a:spcPts val="600"/>
              </a:spcAft>
            </a:pPr>
            <a:r>
              <a:rPr lang="it-IT" sz="3200" b="1" dirty="0"/>
              <a:t>Esempio: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72220094-D0D1-0F26-6B3C-2AD03949E724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>
                <a:solidFill>
                  <a:schemeClr val="bg1"/>
                </a:solidFill>
              </a:rPr>
              <a:t>41</a:t>
            </a:r>
            <a:endParaRPr lang="it-IT" sz="2000" b="1" dirty="0">
              <a:solidFill>
                <a:schemeClr val="bg1"/>
              </a:solidFill>
            </a:endParaRP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5FE5EF27-5A59-1247-CA4F-C23A2A151D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99" y="2005342"/>
            <a:ext cx="4086373" cy="3707826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29FFF527-D3E3-48A9-BEAF-25218801DE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7738" y="2005255"/>
            <a:ext cx="5732545" cy="37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4237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4C469-DC9B-9954-70C8-E26C87F0A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F6A9E0C1-CBCF-AB54-A98D-90DF6B14412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33399" y="2005342"/>
            <a:ext cx="4086373" cy="3707826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5F16B493-2C88-A65A-8A2C-0F86B1F75C0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5917738" y="2005255"/>
            <a:ext cx="5732545" cy="3708000"/>
          </a:xfrm>
          <a:prstGeom prst="rect">
            <a:avLst/>
          </a:prstGeom>
        </p:spPr>
      </p:pic>
      <p:sp>
        <p:nvSpPr>
          <p:cNvPr id="5" name="Rettangolo 4">
            <a:extLst>
              <a:ext uri="{FF2B5EF4-FFF2-40B4-BE49-F238E27FC236}">
                <a16:creationId xmlns:a16="http://schemas.microsoft.com/office/drawing/2014/main" id="{F14F000F-5740-52AC-C7C3-9E2D3A754460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A986DCE-F49A-1A9E-4D79-212E15DA7385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57F950F-C7CF-F523-9492-F98AEF8260EA}"/>
              </a:ext>
            </a:extLst>
          </p:cNvPr>
          <p:cNvSpPr txBox="1"/>
          <p:nvPr/>
        </p:nvSpPr>
        <p:spPr>
          <a:xfrm>
            <a:off x="533399" y="728069"/>
            <a:ext cx="11116884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OTTIMIZZAZIONI NEL CODICE</a:t>
            </a:r>
          </a:p>
          <a:p>
            <a:pPr algn="just">
              <a:spcAft>
                <a:spcPts val="600"/>
              </a:spcAft>
            </a:pPr>
            <a:r>
              <a:rPr lang="it-IT" sz="3200" b="1" dirty="0"/>
              <a:t>Esempio: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6319D31D-B86D-A671-A9FD-B58A29151BFC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41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A05C4942-8E67-39E3-0B14-08ABE296E39C}"/>
              </a:ext>
            </a:extLst>
          </p:cNvPr>
          <p:cNvSpPr/>
          <p:nvPr/>
        </p:nvSpPr>
        <p:spPr>
          <a:xfrm>
            <a:off x="533399" y="2836700"/>
            <a:ext cx="10161229" cy="204511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/>
              <a:t>Sebbene l’idea sia la stessa, rimuovere dall’insieme degli archi la stella uscente da un vertice ogni volta che questo viene inserito nella cover è subottimale rispetto a decrementare semplicemente il contatore degli archi.</a:t>
            </a:r>
          </a:p>
        </p:txBody>
      </p:sp>
    </p:spTree>
    <p:extLst>
      <p:ext uri="{BB962C8B-B14F-4D97-AF65-F5344CB8AC3E}">
        <p14:creationId xmlns:p14="http://schemas.microsoft.com/office/powerpoint/2010/main" val="2158829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BA0B6-56B2-ED72-FE07-969126030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CE28C53A-CE24-0C52-8B35-936207B8EA53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F691086-7FB8-C41B-CF61-19EC0FF1D182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D0AAD23F-8931-BDC5-F213-74BA6BF7A06E}"/>
              </a:ext>
            </a:extLst>
          </p:cNvPr>
          <p:cNvSpPr txBox="1"/>
          <p:nvPr/>
        </p:nvSpPr>
        <p:spPr>
          <a:xfrm>
            <a:off x="533399" y="728069"/>
            <a:ext cx="11116884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OTTIMIZZAZIONI NEL CODICE</a:t>
            </a:r>
          </a:p>
          <a:p>
            <a:pPr algn="just">
              <a:spcAft>
                <a:spcPts val="600"/>
              </a:spcAft>
            </a:pPr>
            <a:r>
              <a:rPr lang="it-IT" sz="3200" b="1" dirty="0"/>
              <a:t>Esempio:</a:t>
            </a:r>
          </a:p>
          <a:p>
            <a:pPr algn="just">
              <a:spcAft>
                <a:spcPts val="600"/>
              </a:spcAft>
            </a:pPr>
            <a:r>
              <a:rPr lang="it-IT" sz="3200" dirty="0"/>
              <a:t>Nella generazione delle </a:t>
            </a:r>
            <a:r>
              <a:rPr lang="it-IT" sz="3200" dirty="0" err="1"/>
              <a:t>odd</a:t>
            </a:r>
            <a:r>
              <a:rPr lang="it-IT" sz="3200" dirty="0"/>
              <a:t> </a:t>
            </a:r>
            <a:r>
              <a:rPr lang="it-IT" sz="3200" dirty="0" err="1"/>
              <a:t>cycle</a:t>
            </a:r>
            <a:r>
              <a:rPr lang="it-IT" sz="3200" dirty="0"/>
              <a:t> </a:t>
            </a:r>
            <a:r>
              <a:rPr lang="it-IT" sz="3200" dirty="0" err="1"/>
              <a:t>inequalities</a:t>
            </a:r>
            <a:endParaRPr lang="it-IT" sz="3200" dirty="0"/>
          </a:p>
          <a:p>
            <a:pPr algn="just">
              <a:spcAft>
                <a:spcPts val="600"/>
              </a:spcAft>
            </a:pPr>
            <a:endParaRPr lang="it-IT" sz="3200" dirty="0"/>
          </a:p>
          <a:p>
            <a:pPr algn="just">
              <a:spcAft>
                <a:spcPts val="600"/>
              </a:spcAft>
            </a:pPr>
            <a:endParaRPr lang="it-IT" sz="3200" dirty="0"/>
          </a:p>
          <a:p>
            <a:pPr algn="just">
              <a:spcAft>
                <a:spcPts val="600"/>
              </a:spcAft>
            </a:pPr>
            <a:endParaRPr lang="it-IT" sz="3200" dirty="0"/>
          </a:p>
          <a:p>
            <a:pPr algn="just">
              <a:spcAft>
                <a:spcPts val="600"/>
              </a:spcAft>
            </a:pPr>
            <a:r>
              <a:rPr lang="it-IT" sz="3200" dirty="0"/>
              <a:t>Sebbene matematicamente andrebbe inserito il &lt; 2, si è osservato che la tolleranza del solver è di 6 cifre decimali, per evitare loop dovuti a quantità trascurabili si è deciso di considerarne solo 3.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DE4ED579-F613-05A2-8948-3E925E1A2E53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42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9742655C-F841-B06C-B25D-B332E1EB7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612" y="2992378"/>
            <a:ext cx="8131191" cy="873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8068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E9A20-E43A-1F21-F073-B9D10212B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A0923138-EA1C-CF47-4D3D-FA3AC08BC8F4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E974C6CF-998E-A198-8C28-F87E9FA0A84C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58C0C367-5681-6726-7023-4E3E2B71F786}"/>
              </a:ext>
            </a:extLst>
          </p:cNvPr>
          <p:cNvSpPr txBox="1"/>
          <p:nvPr/>
        </p:nvSpPr>
        <p:spPr>
          <a:xfrm>
            <a:off x="533399" y="728069"/>
            <a:ext cx="11116884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GENERAZIONE DELLE ISTANZE</a:t>
            </a:r>
          </a:p>
          <a:p>
            <a:pPr algn="just">
              <a:spcAft>
                <a:spcPts val="600"/>
              </a:spcAft>
            </a:pPr>
            <a:r>
              <a:rPr lang="it-IT" sz="3200" b="1" dirty="0"/>
              <a:t>Vertex cover non pesato</a:t>
            </a:r>
            <a:r>
              <a:rPr lang="it-IT" sz="3200" b="1" dirty="0">
                <a:solidFill>
                  <a:srgbClr val="990000"/>
                </a:solidFill>
              </a:rPr>
              <a:t> </a:t>
            </a:r>
            <a:endParaRPr lang="it-IT" sz="3200" b="1" dirty="0"/>
          </a:p>
          <a:p>
            <a:pPr algn="just">
              <a:spcAft>
                <a:spcPts val="600"/>
              </a:spcAft>
            </a:pPr>
            <a:endParaRPr lang="it-IT" sz="4000" b="1" dirty="0">
              <a:solidFill>
                <a:srgbClr val="990000"/>
              </a:solidFill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EB6B7461-15DE-E844-8522-129FFD123F12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43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E7F3EFA6-900E-C300-954D-8C209DBD8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99" y="2197879"/>
            <a:ext cx="8596847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3977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3DC49-E87D-7159-1108-EEE967279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7EE10947-101A-9954-5F52-530C06919244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250597A4-2145-11C4-FD8B-59CCB9214858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6E24D50B-B149-D6B4-3DA7-56CBC7ABD6AE}"/>
              </a:ext>
            </a:extLst>
          </p:cNvPr>
          <p:cNvSpPr txBox="1"/>
          <p:nvPr/>
        </p:nvSpPr>
        <p:spPr>
          <a:xfrm>
            <a:off x="533399" y="728069"/>
            <a:ext cx="11116884" cy="4231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GENERAZIONE DELLE ISTANZE</a:t>
            </a:r>
          </a:p>
          <a:p>
            <a:pPr algn="just">
              <a:spcAft>
                <a:spcPts val="600"/>
              </a:spcAft>
            </a:pPr>
            <a:r>
              <a:rPr lang="it-IT" sz="3200" b="1" dirty="0"/>
              <a:t>Vertex cover non pesato – Istruzioni che vale la pena commentare: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2800" dirty="0" err="1">
                <a:latin typeface="Consolas" panose="020B0609020204030204" pitchFamily="49" charset="0"/>
              </a:rPr>
              <a:t>np.round</a:t>
            </a:r>
            <a:r>
              <a:rPr lang="it-IT" sz="2800" dirty="0">
                <a:latin typeface="Consolas" panose="020B0609020204030204" pitchFamily="49" charset="0"/>
              </a:rPr>
              <a:t>(</a:t>
            </a:r>
            <a:r>
              <a:rPr lang="it-IT" sz="2800" dirty="0" err="1">
                <a:latin typeface="Consolas" panose="020B0609020204030204" pitchFamily="49" charset="0"/>
              </a:rPr>
              <a:t>gradi_float</a:t>
            </a:r>
            <a:r>
              <a:rPr lang="it-IT" sz="2800" dirty="0">
                <a:latin typeface="Consolas" panose="020B0609020204030204" pitchFamily="49" charset="0"/>
              </a:rPr>
              <a:t>).</a:t>
            </a:r>
            <a:r>
              <a:rPr lang="it-IT" sz="2800" dirty="0" err="1">
                <a:latin typeface="Consolas" panose="020B0609020204030204" pitchFamily="49" charset="0"/>
              </a:rPr>
              <a:t>astype</a:t>
            </a:r>
            <a:r>
              <a:rPr lang="it-IT" sz="2800" dirty="0">
                <a:latin typeface="Consolas" panose="020B0609020204030204" pitchFamily="49" charset="0"/>
              </a:rPr>
              <a:t>(</a:t>
            </a:r>
            <a:r>
              <a:rPr lang="it-IT" sz="2800" dirty="0" err="1">
                <a:latin typeface="Consolas" panose="020B0609020204030204" pitchFamily="49" charset="0"/>
              </a:rPr>
              <a:t>int</a:t>
            </a:r>
            <a:r>
              <a:rPr lang="it-IT" sz="2800" dirty="0">
                <a:latin typeface="Consolas" panose="020B0609020204030204" pitchFamily="49" charset="0"/>
              </a:rPr>
              <a:t>)</a:t>
            </a:r>
          </a:p>
          <a:p>
            <a:pPr marL="914400" lvl="1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2800" dirty="0"/>
              <a:t>Arrotonda gli eventuali gradi decimali.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2800" dirty="0" err="1">
                <a:latin typeface="Consolas" panose="020B0609020204030204" pitchFamily="49" charset="0"/>
              </a:rPr>
              <a:t>np.clip</a:t>
            </a:r>
            <a:r>
              <a:rPr lang="it-IT" sz="2800" dirty="0">
                <a:latin typeface="Consolas" panose="020B0609020204030204" pitchFamily="49" charset="0"/>
              </a:rPr>
              <a:t>(</a:t>
            </a:r>
            <a:r>
              <a:rPr lang="it-IT" sz="2800" dirty="0" err="1">
                <a:latin typeface="Consolas" panose="020B0609020204030204" pitchFamily="49" charset="0"/>
              </a:rPr>
              <a:t>gradi_int</a:t>
            </a:r>
            <a:r>
              <a:rPr lang="it-IT" sz="2800" dirty="0">
                <a:latin typeface="Consolas" panose="020B0609020204030204" pitchFamily="49" charset="0"/>
              </a:rPr>
              <a:t>, 0, n - 1)</a:t>
            </a:r>
          </a:p>
          <a:p>
            <a:pPr marL="914400" lvl="1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2800" dirty="0"/>
              <a:t>Forza il grado di ogni nodo ad assumere un valore compreso tra 0 e |V|- 1.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56605BC1-0C80-8FDB-BE3C-2BF0DB2EF73E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9924821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F77FF-6A6E-B053-68F9-33D6A2635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89307781-5909-5C06-9E77-BB842D1F2FE7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63A2BF1B-6C74-0E58-96C3-211D96473089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F6CBDE75-193D-27BA-0D5B-A4D963F627A7}"/>
              </a:ext>
            </a:extLst>
          </p:cNvPr>
          <p:cNvSpPr txBox="1"/>
          <p:nvPr/>
        </p:nvSpPr>
        <p:spPr>
          <a:xfrm>
            <a:off x="533399" y="728069"/>
            <a:ext cx="11116884" cy="5032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GENERAZIONE DELLE ISTANZE</a:t>
            </a:r>
          </a:p>
          <a:p>
            <a:pPr algn="just">
              <a:spcAft>
                <a:spcPts val="600"/>
              </a:spcAft>
            </a:pPr>
            <a:r>
              <a:rPr lang="it-IT" sz="3200" b="1" dirty="0"/>
              <a:t>Vertex cover non pesato – Istruzioni che vale la pena commentare:</a:t>
            </a:r>
          </a:p>
          <a:p>
            <a:pPr algn="just">
              <a:spcAft>
                <a:spcPts val="600"/>
              </a:spcAft>
            </a:pPr>
            <a:endParaRPr lang="it-IT" sz="3200" b="1" dirty="0"/>
          </a:p>
          <a:p>
            <a:pPr algn="just">
              <a:spcAft>
                <a:spcPts val="600"/>
              </a:spcAft>
            </a:pPr>
            <a:endParaRPr lang="it-IT" sz="3200" b="1" dirty="0"/>
          </a:p>
          <a:p>
            <a:pPr algn="just">
              <a:spcAft>
                <a:spcPts val="600"/>
              </a:spcAft>
            </a:pPr>
            <a:endParaRPr lang="it-IT" sz="3200" b="1" dirty="0"/>
          </a:p>
          <a:p>
            <a:pPr algn="just">
              <a:spcAft>
                <a:spcPts val="600"/>
              </a:spcAft>
            </a:pPr>
            <a:r>
              <a:rPr lang="it-IT" sz="3200" dirty="0"/>
              <a:t>Se si sono generati dei gradi incompatibili con l’</a:t>
            </a:r>
            <a:r>
              <a:rPr lang="it-IT" sz="3200" dirty="0" err="1"/>
              <a:t>Handshaking</a:t>
            </a:r>
            <a:r>
              <a:rPr lang="it-IT" sz="3200" dirty="0"/>
              <a:t> Lemma si prende un vertice qualsiasi e se ne modifica </a:t>
            </a:r>
            <a:r>
              <a:rPr lang="it-IT" sz="3200"/>
              <a:t>il grado di 1.</a:t>
            </a:r>
            <a:endParaRPr lang="it-IT" sz="3200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E21C58B9-94E0-9144-0FAE-70F14FEA01CF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45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6A92D987-9E64-491B-BF0C-C11065775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99" y="2706849"/>
            <a:ext cx="10636681" cy="1444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1946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7F99D-A595-5AB1-5CF8-A49CDC337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B7DBA301-ABF0-401A-692D-F8501E7B7256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634363F1-FF69-78DF-20A6-434E37259588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136B604C-2121-753C-FD74-CD61E84AC794}"/>
              </a:ext>
            </a:extLst>
          </p:cNvPr>
          <p:cNvSpPr txBox="1"/>
          <p:nvPr/>
        </p:nvSpPr>
        <p:spPr>
          <a:xfrm>
            <a:off x="533399" y="728069"/>
            <a:ext cx="11116884" cy="4539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GENERAZIONE DELLE ISTANZE</a:t>
            </a:r>
          </a:p>
          <a:p>
            <a:pPr algn="just">
              <a:spcAft>
                <a:spcPts val="600"/>
              </a:spcAft>
            </a:pPr>
            <a:r>
              <a:rPr lang="it-IT" sz="3200" b="1" dirty="0"/>
              <a:t>Vertex cover non pesato – Istruzioni che vale la pena commentare:</a:t>
            </a:r>
          </a:p>
          <a:p>
            <a:pPr algn="just">
              <a:spcAft>
                <a:spcPts val="600"/>
              </a:spcAft>
            </a:pPr>
            <a:endParaRPr lang="it-IT" sz="3200" b="1" dirty="0"/>
          </a:p>
          <a:p>
            <a:pPr algn="just">
              <a:spcAft>
                <a:spcPts val="600"/>
              </a:spcAft>
            </a:pPr>
            <a:endParaRPr lang="it-IT" sz="3200" b="1" dirty="0"/>
          </a:p>
          <a:p>
            <a:pPr algn="just">
              <a:spcAft>
                <a:spcPts val="600"/>
              </a:spcAft>
            </a:pPr>
            <a:endParaRPr lang="it-IT" sz="3200" b="1" dirty="0"/>
          </a:p>
          <a:p>
            <a:pPr algn="just">
              <a:spcAft>
                <a:spcPts val="600"/>
              </a:spcAft>
            </a:pPr>
            <a:r>
              <a:rPr lang="it-IT" sz="3200" dirty="0"/>
              <a:t>Si costruisce il </a:t>
            </a:r>
            <a:r>
              <a:rPr lang="it-IT" sz="3200" dirty="0" err="1"/>
              <a:t>multigrafo</a:t>
            </a:r>
            <a:r>
              <a:rPr lang="it-IT" sz="3200" dirty="0"/>
              <a:t> in base ai gradi generati, si rimuovono gli archi duplicati e i self loop.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8D0A8CDE-8214-9E22-360A-045AFF5BF392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46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9CDC0678-81E1-63DE-BCC0-6BEABFAC5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99" y="2532708"/>
            <a:ext cx="8410736" cy="1422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108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0FF01-38AB-BF5A-9E88-BAAD0364B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F86A96D0-CAF4-C273-C765-4A46E9D2C93D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66FE574-6776-F4BD-CD56-5DCABEB010CE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2C2C3A32-E256-E9B3-BC30-0186A1010A0A}"/>
              </a:ext>
            </a:extLst>
          </p:cNvPr>
          <p:cNvSpPr txBox="1"/>
          <p:nvPr/>
        </p:nvSpPr>
        <p:spPr>
          <a:xfrm>
            <a:off x="533399" y="728069"/>
            <a:ext cx="11116884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GENERAZIONE DELLE ISTANZE</a:t>
            </a:r>
          </a:p>
          <a:p>
            <a:pPr algn="just">
              <a:spcAft>
                <a:spcPts val="600"/>
              </a:spcAft>
            </a:pPr>
            <a:r>
              <a:rPr lang="it-IT" sz="3200" b="1" dirty="0"/>
              <a:t>Vertex cover non pesato</a:t>
            </a:r>
            <a:r>
              <a:rPr lang="it-IT" sz="3200" b="1" dirty="0">
                <a:solidFill>
                  <a:srgbClr val="990000"/>
                </a:solidFill>
              </a:rPr>
              <a:t> </a:t>
            </a:r>
            <a:endParaRPr lang="it-IT" sz="3200" b="1" dirty="0"/>
          </a:p>
          <a:p>
            <a:pPr algn="just">
              <a:spcAft>
                <a:spcPts val="600"/>
              </a:spcAft>
            </a:pPr>
            <a:endParaRPr lang="it-IT" sz="4000" b="1" dirty="0">
              <a:solidFill>
                <a:srgbClr val="990000"/>
              </a:solidFill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053D62D5-FE43-A6F4-2EBA-0FD584BE0140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47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33ABDD6E-A179-B13F-D76E-9DAC10CB63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140"/>
          <a:stretch>
            <a:fillRect/>
          </a:stretch>
        </p:blipFill>
        <p:spPr>
          <a:xfrm>
            <a:off x="533399" y="1974106"/>
            <a:ext cx="9397182" cy="3823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3085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D8080-B743-2B78-AC09-5BA7DD720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00626E60-66BA-F808-C30F-92A951636DD8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06D154A-DABC-05E1-8835-62E9671A85F1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C37A410F-54BA-AD42-9426-5EF5B3E5EB9C}"/>
              </a:ext>
            </a:extLst>
          </p:cNvPr>
          <p:cNvSpPr txBox="1"/>
          <p:nvPr/>
        </p:nvSpPr>
        <p:spPr>
          <a:xfrm>
            <a:off x="533399" y="728069"/>
            <a:ext cx="11116884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GENERAZIONE DELLE ISTANZE</a:t>
            </a:r>
          </a:p>
          <a:p>
            <a:pPr algn="just">
              <a:spcAft>
                <a:spcPts val="600"/>
              </a:spcAft>
            </a:pPr>
            <a:r>
              <a:rPr lang="it-IT" sz="3200" b="1" dirty="0"/>
              <a:t>Vertex cover non pesato</a:t>
            </a:r>
            <a:r>
              <a:rPr lang="it-IT" sz="3200" b="1" dirty="0">
                <a:solidFill>
                  <a:srgbClr val="990000"/>
                </a:solidFill>
              </a:rPr>
              <a:t> </a:t>
            </a:r>
            <a:endParaRPr lang="it-IT" sz="4000" b="1" dirty="0">
              <a:solidFill>
                <a:srgbClr val="990000"/>
              </a:solidFill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A4DBC72A-860D-A0AC-B162-252165AD586F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48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5ECF66FD-530E-E959-DA32-EDBB5A48A0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7169"/>
          <a:stretch>
            <a:fillRect/>
          </a:stretch>
        </p:blipFill>
        <p:spPr>
          <a:xfrm>
            <a:off x="533399" y="2078682"/>
            <a:ext cx="10793496" cy="331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1901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86A4D-DE3D-A16A-9AF9-7374B86DB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1BCD9D98-CFBB-70FF-140F-E428D4D2BE9B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61088094-58BF-08BC-A232-ADB0B7BE2F53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82B6AD42-8CE8-E1E9-65E4-36C6A868C57B}"/>
                  </a:ext>
                </a:extLst>
              </p:cNvPr>
              <p:cNvSpPr txBox="1"/>
              <p:nvPr/>
            </p:nvSpPr>
            <p:spPr>
              <a:xfrm>
                <a:off x="533399" y="728069"/>
                <a:ext cx="11116884" cy="47257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it-IT" sz="4000" b="1" dirty="0">
                    <a:solidFill>
                      <a:srgbClr val="990000"/>
                    </a:solidFill>
                  </a:rPr>
                  <a:t>GENERAZIONE DELLE ISTANZE</a:t>
                </a:r>
              </a:p>
              <a:p>
                <a:pPr algn="just">
                  <a:spcAft>
                    <a:spcPts val="600"/>
                  </a:spcAft>
                </a:pPr>
                <a:r>
                  <a:rPr lang="it-IT" sz="3200" b="1" dirty="0"/>
                  <a:t>Vertex cover non pesato – Istruzioni che vale la pena commentare:</a:t>
                </a:r>
              </a:p>
              <a:p>
                <a:pPr marL="457200" indent="-45720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it-IT" sz="2800" dirty="0" err="1">
                    <a:latin typeface="Consolas" panose="020B0609020204030204" pitchFamily="49" charset="0"/>
                  </a:rPr>
                  <a:t>k_medio_atteso</a:t>
                </a:r>
                <a:r>
                  <a:rPr lang="it-IT" sz="2800" dirty="0">
                    <a:latin typeface="Consolas" panose="020B0609020204030204" pitchFamily="49" charset="0"/>
                  </a:rPr>
                  <a:t> = </a:t>
                </a:r>
                <a:r>
                  <a:rPr lang="it-IT" sz="2800" dirty="0" err="1">
                    <a:latin typeface="Consolas" panose="020B0609020204030204" pitchFamily="49" charset="0"/>
                  </a:rPr>
                  <a:t>densita_target</a:t>
                </a:r>
                <a:r>
                  <a:rPr lang="it-IT" sz="2800" dirty="0">
                    <a:latin typeface="Consolas" panose="020B0609020204030204" pitchFamily="49" charset="0"/>
                  </a:rPr>
                  <a:t> * (n - 1)</a:t>
                </a:r>
              </a:p>
              <a:p>
                <a:pPr marL="914400" lvl="1" indent="-45720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it-IT" sz="2800" dirty="0"/>
                  <a:t>Se la densità è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t-IT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2|</m:t>
                        </m:r>
                        <m:r>
                          <m:rPr>
                            <m:sty m:val="p"/>
                          </m:rPr>
                          <a:rPr lang="it-IT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  <m:r>
                          <a:rPr lang="it-IT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it-IT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it-IT" sz="28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V</m:t>
                            </m:r>
                          </m:e>
                        </m:d>
                        <m:r>
                          <a:rPr lang="it-IT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it-IT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it-IT" sz="28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V</m:t>
                            </m:r>
                          </m:e>
                        </m:d>
                        <m:r>
                          <a:rPr lang="it-IT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−1)</m:t>
                        </m:r>
                      </m:den>
                    </m:f>
                  </m:oMath>
                </a14:m>
                <a:r>
                  <a:rPr lang="it-IT" sz="2800" dirty="0">
                    <a:ea typeface="Cambria Math" panose="02040503050406030204" pitchFamily="18" charset="0"/>
                  </a:rPr>
                  <a:t> </a:t>
                </a:r>
              </a:p>
              <a:p>
                <a:pPr marL="914400" lvl="1" indent="-45720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it-IT" sz="2800" dirty="0">
                    <a:ea typeface="Cambria Math" panose="02040503050406030204" pitchFamily="18" charset="0"/>
                  </a:rPr>
                  <a:t>La moltiplicazione per |V|-1 restituisce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t-IT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2|</m:t>
                        </m:r>
                        <m:r>
                          <m:rPr>
                            <m:sty m:val="p"/>
                          </m:rPr>
                          <a:rPr lang="it-IT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  <m:r>
                          <a:rPr lang="it-IT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it-IT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it-IT" sz="28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V</m:t>
                            </m:r>
                          </m:e>
                        </m:d>
                      </m:den>
                    </m:f>
                  </m:oMath>
                </a14:m>
                <a:endParaRPr lang="it-IT" sz="2800" dirty="0">
                  <a:ea typeface="Cambria Math" panose="02040503050406030204" pitchFamily="18" charset="0"/>
                </a:endParaRPr>
              </a:p>
              <a:p>
                <a:pPr marL="914400" lvl="1" indent="-45720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it-IT" sz="2800" dirty="0">
                    <a:ea typeface="Cambria Math" panose="02040503050406030204" pitchFamily="18" charset="0"/>
                  </a:rPr>
                  <a:t>Per l’</a:t>
                </a:r>
                <a:r>
                  <a:rPr lang="it-IT" sz="2800" dirty="0" err="1">
                    <a:ea typeface="Cambria Math" panose="02040503050406030204" pitchFamily="18" charset="0"/>
                  </a:rPr>
                  <a:t>Handshaking</a:t>
                </a:r>
                <a:r>
                  <a:rPr lang="it-IT" sz="2800" dirty="0">
                    <a:ea typeface="Cambria Math" panose="02040503050406030204" pitchFamily="18" charset="0"/>
                  </a:rPr>
                  <a:t> Lemma la somma dei gradi di tutti i vertici è esattamente 2|E|, pertanto il rapporto ottenuto è il grado medio.</a:t>
                </a:r>
                <a:endParaRPr lang="it-IT" sz="3200" b="1" dirty="0"/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82B6AD42-8CE8-E1E9-65E4-36C6A868C5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399" y="728069"/>
                <a:ext cx="11116884" cy="4725781"/>
              </a:xfrm>
              <a:prstGeom prst="rect">
                <a:avLst/>
              </a:prstGeom>
              <a:blipFill>
                <a:blip r:embed="rId2"/>
                <a:stretch>
                  <a:fillRect l="-1919" t="-2320" r="-1371" b="-257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asellaDiTesto 1">
            <a:extLst>
              <a:ext uri="{FF2B5EF4-FFF2-40B4-BE49-F238E27FC236}">
                <a16:creationId xmlns:a16="http://schemas.microsoft.com/office/drawing/2014/main" id="{6A6BAE02-12A7-DB65-A526-F078DBFE15E6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35384590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A09D4-D117-28D9-6253-B4DA12CE8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2FF8ADEB-9A3A-CD51-F4BC-E122302BF66A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6D0880C7-8535-68E7-8EA0-476753782CC2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9163504A-B561-395B-8F3E-2414883E45B5}"/>
              </a:ext>
            </a:extLst>
          </p:cNvPr>
          <p:cNvSpPr txBox="1"/>
          <p:nvPr/>
        </p:nvSpPr>
        <p:spPr>
          <a:xfrm>
            <a:off x="533399" y="728069"/>
            <a:ext cx="11116884" cy="52783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GENERAZIONE DELLE ISTANZE</a:t>
            </a:r>
          </a:p>
          <a:p>
            <a:pPr algn="just">
              <a:spcAft>
                <a:spcPts val="600"/>
              </a:spcAft>
            </a:pPr>
            <a:r>
              <a:rPr lang="it-IT" sz="3200" b="1" dirty="0"/>
              <a:t>Vertex cover non pesato – Istruzioni che vale la pena commentare:</a:t>
            </a:r>
          </a:p>
          <a:p>
            <a:pPr algn="just">
              <a:spcAft>
                <a:spcPts val="600"/>
              </a:spcAft>
            </a:pPr>
            <a:endParaRPr lang="it-IT" sz="3200" b="1" dirty="0"/>
          </a:p>
          <a:p>
            <a:pPr algn="just">
              <a:spcAft>
                <a:spcPts val="600"/>
              </a:spcAft>
            </a:pPr>
            <a:endParaRPr lang="it-IT" sz="3200" b="1" dirty="0"/>
          </a:p>
          <a:p>
            <a:pPr algn="just">
              <a:spcAft>
                <a:spcPts val="600"/>
              </a:spcAft>
            </a:pPr>
            <a:endParaRPr lang="it-IT" sz="3200" b="1" dirty="0"/>
          </a:p>
          <a:p>
            <a:pPr algn="just">
              <a:spcAft>
                <a:spcPts val="600"/>
              </a:spcAft>
            </a:pPr>
            <a:r>
              <a:rPr lang="it-IT" sz="2800" dirty="0"/>
              <a:t>Se è si sta considerando un rapporto grado massimo/grado medio di 1 (classe 0) allora si usa la primitiva che genera un grafo di n vertici, tutti con stesso grado, pari al valore medio trovato. Da notare l’arrotondamento e la modifica del grado se si viola l’</a:t>
            </a:r>
            <a:r>
              <a:rPr lang="it-IT" sz="2800" dirty="0" err="1"/>
              <a:t>Handshaking</a:t>
            </a:r>
            <a:r>
              <a:rPr lang="it-IT" sz="2800" dirty="0"/>
              <a:t> Lemma.</a:t>
            </a:r>
            <a:endParaRPr lang="it-IT" sz="3200" b="1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7111EB55-7D1F-1CCA-AFCF-E1275C20BAB7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50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1D4A719A-1DFB-9E51-2B0F-E6AFCF2D07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266" b="70581"/>
          <a:stretch>
            <a:fillRect/>
          </a:stretch>
        </p:blipFill>
        <p:spPr>
          <a:xfrm>
            <a:off x="533399" y="2529465"/>
            <a:ext cx="10127598" cy="1462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3745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03C0D-6076-EDDA-DA62-3FFD560D3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20DA4FF2-7B5D-EDBE-99E5-1CC39E1E32F6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2A63AD9D-B169-C12A-2A0C-144AF23F63FC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D028465C-1A6E-7D80-5C6C-3E04F17A1A6B}"/>
              </a:ext>
            </a:extLst>
          </p:cNvPr>
          <p:cNvSpPr txBox="1"/>
          <p:nvPr/>
        </p:nvSpPr>
        <p:spPr>
          <a:xfrm>
            <a:off x="533399" y="728069"/>
            <a:ext cx="11116884" cy="5032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GENERAZIONE DELLE ISTANZE</a:t>
            </a:r>
          </a:p>
          <a:p>
            <a:pPr algn="just">
              <a:spcAft>
                <a:spcPts val="600"/>
              </a:spcAft>
            </a:pPr>
            <a:r>
              <a:rPr lang="it-IT" sz="3200" b="1" dirty="0"/>
              <a:t>Vertex cover non pesato – Istruzioni che vale la pena commentare:</a:t>
            </a:r>
          </a:p>
          <a:p>
            <a:pPr algn="just">
              <a:spcAft>
                <a:spcPts val="600"/>
              </a:spcAft>
            </a:pPr>
            <a:endParaRPr lang="it-IT" sz="3200" b="1" dirty="0"/>
          </a:p>
          <a:p>
            <a:pPr algn="just">
              <a:spcAft>
                <a:spcPts val="600"/>
              </a:spcAft>
            </a:pPr>
            <a:endParaRPr lang="it-IT" sz="3200" b="1" dirty="0"/>
          </a:p>
          <a:p>
            <a:pPr algn="just">
              <a:spcAft>
                <a:spcPts val="600"/>
              </a:spcAft>
            </a:pPr>
            <a:endParaRPr lang="it-IT" sz="3200" b="1" dirty="0"/>
          </a:p>
          <a:p>
            <a:pPr algn="just">
              <a:spcAft>
                <a:spcPts val="600"/>
              </a:spcAft>
            </a:pPr>
            <a:r>
              <a:rPr lang="it-IT" sz="3200" dirty="0"/>
              <a:t>Si utilizza una normale perché è una variabile aleatoria la cui varianza non si ottiene in modo matematico a partire dalla media (si può modificare a piacimento mantenendo la media fissa).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BB63DFD3-C9E3-9EFF-F47F-CFF1391A6858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51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C1D6FA59-3C57-891A-8CE1-008016D91F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7356" b="5339"/>
          <a:stretch>
            <a:fillRect/>
          </a:stretch>
        </p:blipFill>
        <p:spPr>
          <a:xfrm>
            <a:off x="533399" y="2445773"/>
            <a:ext cx="8708924" cy="1785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1899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19B3B-FB8E-C5A6-9BDE-D35B59838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DCB98510-44D4-2C4B-8DD1-C758BCCE5735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94CDE8D-B5A2-F3F2-7BD8-9B307A68CA19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0272D098-FA51-5710-8EA5-BB43608A9639}"/>
                  </a:ext>
                </a:extLst>
              </p:cNvPr>
              <p:cNvSpPr txBox="1"/>
              <p:nvPr/>
            </p:nvSpPr>
            <p:spPr>
              <a:xfrm>
                <a:off x="533399" y="728069"/>
                <a:ext cx="11116884" cy="56577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it-IT" sz="4000" b="1" dirty="0">
                    <a:solidFill>
                      <a:srgbClr val="990000"/>
                    </a:solidFill>
                  </a:rPr>
                  <a:t>GENERAZIONE DELLE ISTANZE</a:t>
                </a:r>
              </a:p>
              <a:p>
                <a:pPr algn="just">
                  <a:spcAft>
                    <a:spcPts val="600"/>
                  </a:spcAft>
                </a:pPr>
                <a:r>
                  <a:rPr lang="it-IT" sz="3200" b="1" dirty="0"/>
                  <a:t>Vertex cover non pesato – Istruzioni che vale la pena commentare:</a:t>
                </a:r>
              </a:p>
              <a:p>
                <a:pPr marL="457200" indent="-45720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it-IT" sz="2800" dirty="0" err="1">
                    <a:latin typeface="Consolas" panose="020B0609020204030204" pitchFamily="49" charset="0"/>
                  </a:rPr>
                  <a:t>std_dev</a:t>
                </a:r>
                <a:r>
                  <a:rPr lang="it-IT" sz="2800" dirty="0">
                    <a:latin typeface="Consolas" panose="020B0609020204030204" pitchFamily="49" charset="0"/>
                  </a:rPr>
                  <a:t> = </a:t>
                </a:r>
                <a:r>
                  <a:rPr lang="it-IT" sz="2800" dirty="0" err="1">
                    <a:latin typeface="Consolas" panose="020B0609020204030204" pitchFamily="49" charset="0"/>
                  </a:rPr>
                  <a:t>k_medio_atteso</a:t>
                </a:r>
                <a:r>
                  <a:rPr lang="it-IT" sz="2800" dirty="0">
                    <a:latin typeface="Consolas" panose="020B0609020204030204" pitchFamily="49" charset="0"/>
                  </a:rPr>
                  <a:t> * </a:t>
                </a:r>
                <a:r>
                  <a:rPr lang="it-IT" sz="2800" dirty="0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0.14</a:t>
                </a:r>
                <a:endParaRPr lang="it-IT" sz="3200" b="1" dirty="0">
                  <a:solidFill>
                    <a:srgbClr val="FF0000"/>
                  </a:solidFill>
                  <a:latin typeface="Consolas" panose="020B0609020204030204" pitchFamily="49" charset="0"/>
                </a:endParaRPr>
              </a:p>
              <a:p>
                <a:pPr marL="914400" lvl="1" indent="-45720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it-IT" sz="2800" dirty="0"/>
                  <a:t>H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t-IT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it-IT" sz="2800" b="0" i="0" smtClean="0">
                            <a:latin typeface="Cambria Math" panose="02040503050406030204" pitchFamily="18" charset="0"/>
                          </a:rPr>
                          <m:t>deg</m:t>
                        </m:r>
                        <m:r>
                          <a:rPr lang="it-IT" sz="2800" b="0" i="0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m:rPr>
                            <m:sty m:val="p"/>
                          </m:rPr>
                          <a:rPr lang="it-IT" sz="2800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it-IT" sz="2800" b="0" i="0" smtClean="0">
                            <a:latin typeface="Cambria Math" panose="02040503050406030204" pitchFamily="18" charset="0"/>
                          </a:rPr>
                          <m:t>deg</m:t>
                        </m:r>
                        <m:r>
                          <a:rPr lang="it-IT" sz="2800" b="0" i="0" smtClean="0">
                            <a:latin typeface="Cambria Math" panose="02040503050406030204" pitchFamily="18" charset="0"/>
                          </a:rPr>
                          <m:t>⁡_</m:t>
                        </m:r>
                        <m:r>
                          <m:rPr>
                            <m:sty m:val="p"/>
                          </m:rPr>
                          <a:rPr lang="it-IT" sz="2800" b="0" i="0" smtClean="0">
                            <a:latin typeface="Cambria Math" panose="02040503050406030204" pitchFamily="18" charset="0"/>
                          </a:rPr>
                          <m:t>medio</m:t>
                        </m:r>
                      </m:den>
                    </m:f>
                  </m:oMath>
                </a14:m>
                <a:endParaRPr lang="it-IT" sz="2800" dirty="0"/>
              </a:p>
              <a:p>
                <a:pPr marL="914400" lvl="1" indent="-45720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it-IT" sz="2800" dirty="0"/>
                  <a:t>Per una normale: </a:t>
                </a:r>
                <a:r>
                  <a:rPr lang="it-IT" sz="2800" dirty="0" err="1"/>
                  <a:t>val_max</a:t>
                </a:r>
                <a14:m>
                  <m:oMath xmlns:m="http://schemas.openxmlformats.org/officeDocument/2006/math">
                    <m:r>
                      <a:rPr lang="it-IT" sz="28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sz="2800" dirty="0" smtClean="0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it-IT" sz="2800" dirty="0"/>
                  <a:t> </a:t>
                </a:r>
                <a14:m>
                  <m:oMath xmlns:m="http://schemas.openxmlformats.org/officeDocument/2006/math">
                    <m:r>
                      <a:rPr lang="it-IT" sz="2800" i="1" dirty="0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it-IT" sz="2800" dirty="0"/>
                  <a:t> + 3 </a:t>
                </a:r>
                <a14:m>
                  <m:oMath xmlns:m="http://schemas.openxmlformats.org/officeDocument/2006/math">
                    <m:r>
                      <a:rPr lang="it-IT" sz="2800" i="1" dirty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endParaRPr lang="it-IT" sz="2800" dirty="0"/>
              </a:p>
              <a:p>
                <a:pPr marL="914400" lvl="1" indent="-45720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it-IT" sz="2800" dirty="0"/>
                  <a:t>Quindi H </a:t>
                </a:r>
                <a14:m>
                  <m:oMath xmlns:m="http://schemas.openxmlformats.org/officeDocument/2006/math">
                    <m:r>
                      <a:rPr lang="it-IT" sz="2800" dirty="0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it-IT" sz="28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t-IT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2800" i="1" dirty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m:rPr>
                            <m:nor/>
                          </m:rPr>
                          <a:rPr lang="it-IT" sz="2800" dirty="0"/>
                          <m:t> + 3 </m:t>
                        </m:r>
                        <m:r>
                          <a:rPr lang="it-IT" sz="2800" i="1" dirty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m:rPr>
                            <m:nor/>
                          </m:rPr>
                          <a:rPr lang="it-IT" sz="2800" dirty="0"/>
                          <m:t> </m:t>
                        </m:r>
                      </m:num>
                      <m:den>
                        <m:r>
                          <a:rPr lang="it-IT" sz="2800" i="1" dirty="0">
                            <a:latin typeface="Cambria Math" panose="02040503050406030204" pitchFamily="18" charset="0"/>
                          </a:rPr>
                          <m:t>𝜇</m:t>
                        </m:r>
                      </m:den>
                    </m:f>
                  </m:oMath>
                </a14:m>
                <a:endParaRPr lang="it-IT" sz="2800" dirty="0"/>
              </a:p>
              <a:p>
                <a:pPr marL="914400" lvl="1" indent="-45720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it-IT" sz="2800" dirty="0"/>
                  <a:t>Si è imposto H </a:t>
                </a:r>
                <a14:m>
                  <m:oMath xmlns:m="http://schemas.openxmlformats.org/officeDocument/2006/math">
                    <m:r>
                      <a:rPr lang="it-IT" sz="2800" b="1" dirty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it-IT" sz="2800" dirty="0"/>
                  <a:t> [1.2, 1.6], si considera H </a:t>
                </a:r>
                <a14:m>
                  <m:oMath xmlns:m="http://schemas.openxmlformats.org/officeDocument/2006/math">
                    <m:r>
                      <a:rPr lang="it-IT" sz="2800" dirty="0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it-IT" sz="28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t-IT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2800" b="0" i="1" dirty="0" smtClean="0">
                            <a:latin typeface="Cambria Math" panose="02040503050406030204" pitchFamily="18" charset="0"/>
                          </a:rPr>
                          <m:t>1.2+1.6</m:t>
                        </m:r>
                      </m:num>
                      <m:den>
                        <m:r>
                          <a:rPr lang="it-IT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it-IT" sz="2800" dirty="0"/>
                  <a:t> = 1.4</a:t>
                </a:r>
              </a:p>
              <a:p>
                <a:pPr marL="914400" lvl="1" indent="-45720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it-IT" sz="2800" dirty="0"/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0272D098-FA51-5710-8EA5-BB43608A96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399" y="728069"/>
                <a:ext cx="11116884" cy="5657767"/>
              </a:xfrm>
              <a:prstGeom prst="rect">
                <a:avLst/>
              </a:prstGeom>
              <a:blipFill>
                <a:blip r:embed="rId2"/>
                <a:stretch>
                  <a:fillRect l="-1919" t="-1938" r="-137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asellaDiTesto 1">
            <a:extLst>
              <a:ext uri="{FF2B5EF4-FFF2-40B4-BE49-F238E27FC236}">
                <a16:creationId xmlns:a16="http://schemas.microsoft.com/office/drawing/2014/main" id="{6FD05DB3-C970-D1A6-1AE7-6910833E8DAE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14430488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8CAAF-8AC0-1F66-6FDD-CF4A06019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CFE13DA3-D080-7D60-EE6C-6566E6968653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51781592-AD6A-FC20-E465-50DCAC4D1939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77519B35-4563-80FB-0B61-1A3B42A9069F}"/>
                  </a:ext>
                </a:extLst>
              </p:cNvPr>
              <p:cNvSpPr txBox="1"/>
              <p:nvPr/>
            </p:nvSpPr>
            <p:spPr>
              <a:xfrm>
                <a:off x="533399" y="728069"/>
                <a:ext cx="11116884" cy="35873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it-IT" sz="4000" b="1" dirty="0">
                    <a:solidFill>
                      <a:srgbClr val="990000"/>
                    </a:solidFill>
                  </a:rPr>
                  <a:t>GENERAZIONE DELLE ISTANZE</a:t>
                </a:r>
              </a:p>
              <a:p>
                <a:pPr algn="just">
                  <a:spcAft>
                    <a:spcPts val="600"/>
                  </a:spcAft>
                </a:pPr>
                <a:r>
                  <a:rPr lang="it-IT" sz="3200" b="1" dirty="0"/>
                  <a:t>Vertex cover non pesato – Istruzioni che vale la pena commentare:</a:t>
                </a:r>
              </a:p>
              <a:p>
                <a:pPr marL="457200" indent="-45720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it-IT" sz="2800" dirty="0" err="1">
                    <a:latin typeface="Consolas" panose="020B0609020204030204" pitchFamily="49" charset="0"/>
                  </a:rPr>
                  <a:t>std_dev</a:t>
                </a:r>
                <a:r>
                  <a:rPr lang="it-IT" sz="2800" dirty="0">
                    <a:latin typeface="Consolas" panose="020B0609020204030204" pitchFamily="49" charset="0"/>
                  </a:rPr>
                  <a:t> = </a:t>
                </a:r>
                <a:r>
                  <a:rPr lang="it-IT" sz="2800" dirty="0" err="1">
                    <a:latin typeface="Consolas" panose="020B0609020204030204" pitchFamily="49" charset="0"/>
                  </a:rPr>
                  <a:t>k_medio_atteso</a:t>
                </a:r>
                <a:r>
                  <a:rPr lang="it-IT" sz="2800" dirty="0">
                    <a:latin typeface="Consolas" panose="020B0609020204030204" pitchFamily="49" charset="0"/>
                  </a:rPr>
                  <a:t> * </a:t>
                </a:r>
                <a:r>
                  <a:rPr lang="it-IT" sz="2800" dirty="0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0.14</a:t>
                </a:r>
                <a:endParaRPr lang="it-IT" sz="3200" b="1" dirty="0">
                  <a:solidFill>
                    <a:srgbClr val="FF0000"/>
                  </a:solidFill>
                  <a:latin typeface="Consolas" panose="020B0609020204030204" pitchFamily="49" charset="0"/>
                </a:endParaRPr>
              </a:p>
              <a:p>
                <a:pPr marL="914400" lvl="1" indent="-45720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it-IT" sz="2800" dirty="0"/>
                  <a:t>H </a:t>
                </a:r>
                <a14:m>
                  <m:oMath xmlns:m="http://schemas.openxmlformats.org/officeDocument/2006/math">
                    <m:r>
                      <a:rPr lang="it-IT" sz="2800" dirty="0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it-IT" sz="28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t-IT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2800" i="1" dirty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m:rPr>
                            <m:nor/>
                          </m:rPr>
                          <a:rPr lang="it-IT" sz="2800" dirty="0"/>
                          <m:t> + 3 </m:t>
                        </m:r>
                        <m:r>
                          <a:rPr lang="it-IT" sz="2800" i="1" dirty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m:rPr>
                            <m:nor/>
                          </m:rPr>
                          <a:rPr lang="it-IT" sz="2800" dirty="0"/>
                          <m:t> </m:t>
                        </m:r>
                      </m:num>
                      <m:den>
                        <m:r>
                          <a:rPr lang="it-IT" sz="2800" i="1" dirty="0">
                            <a:latin typeface="Cambria Math" panose="02040503050406030204" pitchFamily="18" charset="0"/>
                          </a:rPr>
                          <m:t>𝜇</m:t>
                        </m:r>
                      </m:den>
                    </m:f>
                  </m:oMath>
                </a14:m>
                <a:r>
                  <a:rPr lang="it-IT" sz="2800" dirty="0"/>
                  <a:t> = 1.4</a:t>
                </a:r>
              </a:p>
              <a:p>
                <a:pPr marL="914400" lvl="1" indent="-45720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it-IT" sz="2800" dirty="0"/>
                  <a:t>Si ottiene </a:t>
                </a:r>
                <a14:m>
                  <m:oMath xmlns:m="http://schemas.openxmlformats.org/officeDocument/2006/math">
                    <m:r>
                      <a:rPr lang="it-IT" sz="2800" i="1" dirty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it-IT" sz="2800" dirty="0"/>
                  <a:t> = 0.1333 </a:t>
                </a:r>
                <a14:m>
                  <m:oMath xmlns:m="http://schemas.openxmlformats.org/officeDocument/2006/math">
                    <m:r>
                      <a:rPr lang="it-IT" sz="2800" i="1" dirty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it-IT" sz="28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sz="2800" dirty="0" smtClean="0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it-IT" sz="2800" dirty="0"/>
                  <a:t> 0.14 </a:t>
                </a:r>
                <a14:m>
                  <m:oMath xmlns:m="http://schemas.openxmlformats.org/officeDocument/2006/math">
                    <m:r>
                      <a:rPr lang="it-IT" sz="2800" i="1" dirty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endParaRPr lang="it-IT" sz="2800" dirty="0"/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77519B35-4563-80FB-0B61-1A3B42A906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399" y="728069"/>
                <a:ext cx="11116884" cy="3587392"/>
              </a:xfrm>
              <a:prstGeom prst="rect">
                <a:avLst/>
              </a:prstGeom>
              <a:blipFill>
                <a:blip r:embed="rId2"/>
                <a:stretch>
                  <a:fillRect l="-1919" t="-3056" r="-1371" b="-390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asellaDiTesto 1">
            <a:extLst>
              <a:ext uri="{FF2B5EF4-FFF2-40B4-BE49-F238E27FC236}">
                <a16:creationId xmlns:a16="http://schemas.microsoft.com/office/drawing/2014/main" id="{B93A321C-4C89-1EE5-C483-DCA41D2EA5E7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53</a:t>
            </a:r>
          </a:p>
        </p:txBody>
      </p:sp>
    </p:spTree>
    <p:extLst>
      <p:ext uri="{BB962C8B-B14F-4D97-AF65-F5344CB8AC3E}">
        <p14:creationId xmlns:p14="http://schemas.microsoft.com/office/powerpoint/2010/main" val="32047288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96480-952B-64F4-A6F1-2A3C6F4AF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655701AC-B281-177B-E34B-2D05E1DFD5CF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9F5DA2ED-1184-EC35-4B8F-852A10EDD915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A346F00-067E-6B6F-D477-6B170BC95B03}"/>
              </a:ext>
            </a:extLst>
          </p:cNvPr>
          <p:cNvSpPr txBox="1"/>
          <p:nvPr/>
        </p:nvSpPr>
        <p:spPr>
          <a:xfrm>
            <a:off x="533399" y="728069"/>
            <a:ext cx="11116884" cy="5032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GENERAZIONE DELLE ISTANZE</a:t>
            </a:r>
          </a:p>
          <a:p>
            <a:pPr algn="just">
              <a:spcAft>
                <a:spcPts val="600"/>
              </a:spcAft>
            </a:pPr>
            <a:r>
              <a:rPr lang="it-IT" sz="3200" b="1" dirty="0"/>
              <a:t>Vertex cover non pesato – Istruzioni che vale la pena commentare:</a:t>
            </a:r>
          </a:p>
          <a:p>
            <a:pPr algn="just">
              <a:spcAft>
                <a:spcPts val="600"/>
              </a:spcAft>
            </a:pPr>
            <a:endParaRPr lang="it-IT" sz="3200" b="1" dirty="0"/>
          </a:p>
          <a:p>
            <a:pPr algn="just">
              <a:spcAft>
                <a:spcPts val="600"/>
              </a:spcAft>
            </a:pPr>
            <a:endParaRPr lang="it-IT" sz="3200" b="1" dirty="0"/>
          </a:p>
          <a:p>
            <a:pPr algn="just">
              <a:spcAft>
                <a:spcPts val="600"/>
              </a:spcAft>
            </a:pPr>
            <a:endParaRPr lang="it-IT" sz="3200" b="1" dirty="0"/>
          </a:p>
          <a:p>
            <a:pPr algn="just">
              <a:spcAft>
                <a:spcPts val="600"/>
              </a:spcAft>
            </a:pPr>
            <a:r>
              <a:rPr lang="it-IT" sz="3200" dirty="0"/>
              <a:t>H è il rapporto tra grado massimo e grado medio, ci si assicura che sia effettivamente nel range desiderato prima di restituire il grafo, altrimenti si ritenta.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182D39D7-BAD0-50EA-E118-D87D27BBF023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54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B83BE23E-BF05-CA6D-375F-E427BDA761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7356" b="5339"/>
          <a:stretch>
            <a:fillRect/>
          </a:stretch>
        </p:blipFill>
        <p:spPr>
          <a:xfrm>
            <a:off x="533399" y="2445773"/>
            <a:ext cx="8708924" cy="1785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979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CFB16-CD44-8F68-68CD-C5E1B269C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60A8AE32-0780-7822-6118-D31FEAD5BB75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FD9FC11-2826-F6C8-6EA5-657B39AF2FCA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83DB7FBF-CD28-FD5C-D5FA-07B80298E5EF}"/>
                  </a:ext>
                </a:extLst>
              </p:cNvPr>
              <p:cNvSpPr txBox="1"/>
              <p:nvPr/>
            </p:nvSpPr>
            <p:spPr>
              <a:xfrm>
                <a:off x="533399" y="728069"/>
                <a:ext cx="11116884" cy="51398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it-IT" sz="4000" b="1" dirty="0">
                    <a:solidFill>
                      <a:srgbClr val="990000"/>
                    </a:solidFill>
                  </a:rPr>
                  <a:t>GENERAZIONE DELLE ISTANZE</a:t>
                </a:r>
              </a:p>
              <a:p>
                <a:pPr algn="just">
                  <a:spcAft>
                    <a:spcPts val="600"/>
                  </a:spcAft>
                </a:pPr>
                <a:r>
                  <a:rPr lang="it-IT" sz="3200" b="1" dirty="0"/>
                  <a:t>Vertex cover non pesato – Istruzioni che vale la pena commentare:</a:t>
                </a:r>
              </a:p>
              <a:p>
                <a:pPr algn="just">
                  <a:spcAft>
                    <a:spcPts val="600"/>
                  </a:spcAft>
                </a:pPr>
                <a:endParaRPr lang="it-IT" sz="3200" b="1" dirty="0"/>
              </a:p>
              <a:p>
                <a:pPr algn="just">
                  <a:spcAft>
                    <a:spcPts val="600"/>
                  </a:spcAft>
                </a:pPr>
                <a:endParaRPr lang="it-IT" sz="3200" b="1" dirty="0"/>
              </a:p>
              <a:p>
                <a:pPr algn="just">
                  <a:spcAft>
                    <a:spcPts val="600"/>
                  </a:spcAft>
                </a:pPr>
                <a:r>
                  <a:rPr lang="it-IT" sz="2800" dirty="0"/>
                  <a:t>Si usa una </a:t>
                </a:r>
                <a:r>
                  <a:rPr lang="it-IT" sz="2800" dirty="0" err="1"/>
                  <a:t>lognormale</a:t>
                </a:r>
                <a:r>
                  <a:rPr lang="it-IT" sz="2800" dirty="0"/>
                  <a:t> perché ha una heavy </a:t>
                </a:r>
                <a:r>
                  <a:rPr lang="it-IT" sz="2800" dirty="0" err="1"/>
                  <a:t>tail</a:t>
                </a:r>
                <a:r>
                  <a:rPr lang="it-IT" sz="2800" dirty="0"/>
                  <a:t> e permette di «sbilanciare» il grafo (alternando vertici di grado molto alto a vertici di grado molto basso). </a:t>
                </a:r>
                <a14:m>
                  <m:oMath xmlns:m="http://schemas.openxmlformats.org/officeDocument/2006/math">
                    <m:r>
                      <a:rPr lang="it-IT" sz="2800" i="1" dirty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it-IT" sz="2800" dirty="0"/>
                  <a:t> = 1 è stato ritenuto un valore coerente per evitare la formazione di pochissimi vertici con altissimo grado ma senza generare valori troppo simili a quelli di una normale.</a:t>
                </a:r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83DB7FBF-CD28-FD5C-D5FA-07B80298E5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399" y="728069"/>
                <a:ext cx="11116884" cy="5139869"/>
              </a:xfrm>
              <a:prstGeom prst="rect">
                <a:avLst/>
              </a:prstGeom>
              <a:blipFill>
                <a:blip r:embed="rId2"/>
                <a:stretch>
                  <a:fillRect l="-1919" t="-2133" r="-1371" b="-237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asellaDiTesto 1">
            <a:extLst>
              <a:ext uri="{FF2B5EF4-FFF2-40B4-BE49-F238E27FC236}">
                <a16:creationId xmlns:a16="http://schemas.microsoft.com/office/drawing/2014/main" id="{379393B7-D253-A9F9-8D4E-08595C2D48FC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55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114A99AA-BDB9-0BEF-31E4-180CBE2590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5609" b="21897"/>
          <a:stretch>
            <a:fillRect/>
          </a:stretch>
        </p:blipFill>
        <p:spPr>
          <a:xfrm>
            <a:off x="533399" y="2462740"/>
            <a:ext cx="10793496" cy="966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3501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DD297-4470-38E5-2AB5-46E50A8A5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BE7810D1-FD17-8745-1333-FB2E63E1402D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56B6016E-1A12-F162-DB81-0A7989F5AE58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D517088-8C50-9170-EE17-60CA7032B409}"/>
              </a:ext>
            </a:extLst>
          </p:cNvPr>
          <p:cNvSpPr txBox="1"/>
          <p:nvPr/>
        </p:nvSpPr>
        <p:spPr>
          <a:xfrm>
            <a:off x="533399" y="728069"/>
            <a:ext cx="11116884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GENERAZIONE DELLE ISTANZE</a:t>
            </a:r>
          </a:p>
          <a:p>
            <a:pPr algn="just">
              <a:spcAft>
                <a:spcPts val="600"/>
              </a:spcAft>
            </a:pPr>
            <a:r>
              <a:rPr lang="it-IT" sz="3200" b="1" dirty="0"/>
              <a:t>Vertex cover pesato</a:t>
            </a:r>
            <a:r>
              <a:rPr lang="it-IT" sz="3200" b="1" dirty="0">
                <a:solidFill>
                  <a:srgbClr val="990000"/>
                </a:solidFill>
              </a:rPr>
              <a:t> </a:t>
            </a:r>
            <a:endParaRPr lang="it-IT" sz="3200" b="1" dirty="0"/>
          </a:p>
          <a:p>
            <a:pPr algn="just">
              <a:spcAft>
                <a:spcPts val="600"/>
              </a:spcAft>
            </a:pPr>
            <a:endParaRPr lang="it-IT" sz="4000" b="1" dirty="0">
              <a:solidFill>
                <a:srgbClr val="990000"/>
              </a:solidFill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A38AC24C-30E3-D110-5D00-A726F93EFEE8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56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A5ED1FB0-DF7D-A100-B675-CF9D15B1B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99" y="2089879"/>
            <a:ext cx="10065843" cy="37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2554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6B634-8209-CA46-78B9-2EF8E66CF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F3191355-EE95-7DC9-8606-E0398443B33F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E226EC6-94C2-2211-5A8F-0DC7EE7EC4F8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19A9EFCB-3909-4B0F-9FBA-62628197E7F7}"/>
              </a:ext>
            </a:extLst>
          </p:cNvPr>
          <p:cNvSpPr txBox="1"/>
          <p:nvPr/>
        </p:nvSpPr>
        <p:spPr>
          <a:xfrm>
            <a:off x="533399" y="728069"/>
            <a:ext cx="11116884" cy="5093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GENERAZIONE DELLE ISTANZE</a:t>
            </a:r>
          </a:p>
          <a:p>
            <a:pPr algn="just">
              <a:spcAft>
                <a:spcPts val="600"/>
              </a:spcAft>
            </a:pPr>
            <a:r>
              <a:rPr lang="it-IT" sz="3200" b="1" dirty="0"/>
              <a:t>Vertex cover pesato – Istruzioni che vale la pena commentare: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2800" dirty="0" err="1">
                <a:latin typeface="Consolas" panose="020B0609020204030204" pitchFamily="49" charset="0"/>
              </a:rPr>
              <a:t>nx.erdos_renyi_graph</a:t>
            </a:r>
            <a:r>
              <a:rPr lang="it-IT" sz="2800" dirty="0">
                <a:latin typeface="Consolas" panose="020B0609020204030204" pitchFamily="49" charset="0"/>
              </a:rPr>
              <a:t>(n, p=</a:t>
            </a:r>
            <a:r>
              <a:rPr lang="it-IT" sz="2800" dirty="0" err="1">
                <a:latin typeface="Consolas" panose="020B0609020204030204" pitchFamily="49" charset="0"/>
              </a:rPr>
              <a:t>densita_target</a:t>
            </a:r>
            <a:r>
              <a:rPr lang="it-IT" sz="2800" dirty="0">
                <a:latin typeface="Consolas" panose="020B0609020204030204" pitchFamily="49" charset="0"/>
              </a:rPr>
              <a:t>)</a:t>
            </a:r>
          </a:p>
          <a:p>
            <a:pPr marL="914400" lvl="1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2800" dirty="0"/>
              <a:t>Genera un grafo dato il numero di vertici e la densità; usa la densità come probabilità per generare gli archi.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2800" dirty="0" err="1">
                <a:latin typeface="Consolas" panose="020B0609020204030204" pitchFamily="49" charset="0"/>
              </a:rPr>
              <a:t>np.random.randint</a:t>
            </a:r>
            <a:r>
              <a:rPr lang="it-IT" sz="2800" dirty="0">
                <a:latin typeface="Consolas" panose="020B0609020204030204" pitchFamily="49" charset="0"/>
              </a:rPr>
              <a:t>(1, </a:t>
            </a:r>
            <a:r>
              <a:rPr lang="it-IT" sz="2800" dirty="0" err="1">
                <a:latin typeface="Consolas" panose="020B0609020204030204" pitchFamily="49" charset="0"/>
              </a:rPr>
              <a:t>variabilita_peso</a:t>
            </a:r>
            <a:r>
              <a:rPr lang="it-IT" sz="2800" dirty="0">
                <a:latin typeface="Consolas" panose="020B0609020204030204" pitchFamily="49" charset="0"/>
              </a:rPr>
              <a:t> + 1, size=n)</a:t>
            </a:r>
          </a:p>
          <a:p>
            <a:pPr marL="914400" lvl="1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2800" dirty="0"/>
              <a:t>Estrae valori da una variabile aleatoria uniforme; è stato necessario aumentare di 1 il valore del secondo parametro perché la funzione genera nativamente valori nell’intervallo [</a:t>
            </a:r>
            <a:r>
              <a:rPr lang="it-IT" sz="2800" dirty="0" err="1"/>
              <a:t>primo_parametro</a:t>
            </a:r>
            <a:r>
              <a:rPr lang="it-IT" sz="2800" dirty="0"/>
              <a:t>, </a:t>
            </a:r>
            <a:r>
              <a:rPr lang="it-IT" sz="2800" dirty="0" err="1"/>
              <a:t>secondo_parametro</a:t>
            </a:r>
            <a:r>
              <a:rPr lang="it-IT" sz="2800" dirty="0"/>
              <a:t>).</a:t>
            </a:r>
            <a:r>
              <a:rPr lang="it-IT" sz="2800" b="1" dirty="0">
                <a:solidFill>
                  <a:srgbClr val="990000"/>
                </a:solidFill>
              </a:rPr>
              <a:t> 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F5434FF3-51BA-3ED6-F46B-5DACAE28896C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57</a:t>
            </a:r>
          </a:p>
        </p:txBody>
      </p:sp>
    </p:spTree>
    <p:extLst>
      <p:ext uri="{BB962C8B-B14F-4D97-AF65-F5344CB8AC3E}">
        <p14:creationId xmlns:p14="http://schemas.microsoft.com/office/powerpoint/2010/main" val="28456426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AFE9A-BCC8-70C1-496F-54B85336A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3820DDA9-78A9-0ABF-27D4-33F55C4EE0C0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ECC10BB-DD57-0ABC-E3E8-FF4533EBF85B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FDA3B9C9-BFB8-5291-FB1C-266AC197D900}"/>
              </a:ext>
            </a:extLst>
          </p:cNvPr>
          <p:cNvSpPr txBox="1"/>
          <p:nvPr/>
        </p:nvSpPr>
        <p:spPr>
          <a:xfrm>
            <a:off x="533399" y="728069"/>
            <a:ext cx="11116884" cy="4385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SVOLGIMENTO - 1</a:t>
            </a:r>
          </a:p>
          <a:p>
            <a:pPr algn="just">
              <a:spcAft>
                <a:spcPts val="600"/>
              </a:spcAft>
            </a:pPr>
            <a:r>
              <a:rPr lang="it-IT" sz="3200" b="1" dirty="0"/>
              <a:t>Classi di istanze da testare: </a:t>
            </a:r>
            <a:r>
              <a:rPr lang="it-IT" sz="3200" dirty="0"/>
              <a:t>incrociando i criteri di partizionamento precedentemente definiti (densità, eterogeneità del grado, ecc.), si ottengono per combinazione tutte le classi di test oggetto del progetto.</a:t>
            </a:r>
          </a:p>
          <a:p>
            <a:pPr algn="just">
              <a:spcAft>
                <a:spcPts val="600"/>
              </a:spcAft>
            </a:pPr>
            <a:endParaRPr lang="it-IT" sz="3200" b="1" dirty="0"/>
          </a:p>
          <a:p>
            <a:pPr algn="just">
              <a:spcAft>
                <a:spcPts val="600"/>
              </a:spcAft>
            </a:pPr>
            <a:r>
              <a:rPr lang="it-IT" sz="3200" b="1" dirty="0"/>
              <a:t>Solver scelto: </a:t>
            </a:r>
            <a:r>
              <a:rPr lang="it-IT" sz="3200" dirty="0" err="1"/>
              <a:t>Gurobi</a:t>
            </a:r>
            <a:r>
              <a:rPr lang="it-IT" sz="3200" dirty="0"/>
              <a:t> con licenza accademica (ritenuto il migliore per problemi relativi ai grafi).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02010BFE-F1F0-B80A-85F5-0DD977A3E3E2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>
                <a:solidFill>
                  <a:schemeClr val="bg1"/>
                </a:solidFill>
              </a:rPr>
              <a:t>58</a:t>
            </a:r>
            <a:endParaRPr lang="it-IT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98407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3D5EB-EF7B-B42C-69A7-AED0A5595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E45B9468-C1AC-3F27-EB52-EB26565F6EFE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26DFD405-25E8-BFFF-24BB-DD64D4D83813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9C5482D-671B-017A-9987-1A9C9FF6E3DF}"/>
              </a:ext>
            </a:extLst>
          </p:cNvPr>
          <p:cNvSpPr txBox="1"/>
          <p:nvPr/>
        </p:nvSpPr>
        <p:spPr>
          <a:xfrm>
            <a:off x="533399" y="728069"/>
            <a:ext cx="11116884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SVOLGIMENTO - 2</a:t>
            </a:r>
          </a:p>
          <a:p>
            <a:pPr algn="just">
              <a:spcAft>
                <a:spcPts val="600"/>
              </a:spcAft>
            </a:pPr>
            <a:r>
              <a:rPr lang="it-IT" sz="3200" b="1" dirty="0"/>
              <a:t>Risultati effettivamente riportati: </a:t>
            </a:r>
            <a:r>
              <a:rPr lang="it-IT" sz="3200" dirty="0"/>
              <a:t>di seguito solo i risultati più interessanti osservati. Per l’elenco completo dei risultati:</a:t>
            </a:r>
          </a:p>
          <a:p>
            <a:pPr algn="just">
              <a:spcAft>
                <a:spcPts val="600"/>
              </a:spcAft>
            </a:pPr>
            <a:r>
              <a:rPr lang="it-IT" sz="3200" dirty="0">
                <a:hlinkClick r:id="rId2"/>
              </a:rPr>
              <a:t>https://github.com/gianpaolo-pestilli/amod_project.git</a:t>
            </a:r>
            <a:endParaRPr lang="it-IT" sz="3200" dirty="0"/>
          </a:p>
          <a:p>
            <a:pPr algn="just">
              <a:spcAft>
                <a:spcPts val="600"/>
              </a:spcAft>
            </a:pPr>
            <a:endParaRPr lang="it-IT" sz="3200" dirty="0"/>
          </a:p>
          <a:p>
            <a:pPr algn="just">
              <a:spcAft>
                <a:spcPts val="600"/>
              </a:spcAft>
            </a:pPr>
            <a:r>
              <a:rPr lang="it-IT" sz="3200" b="1" dirty="0"/>
              <a:t>Risoluzione del </a:t>
            </a:r>
            <a:r>
              <a:rPr lang="it-IT" sz="3200" b="1" dirty="0" err="1"/>
              <a:t>timeout</a:t>
            </a:r>
            <a:r>
              <a:rPr lang="it-IT" sz="3200" b="1" dirty="0"/>
              <a:t>: </a:t>
            </a:r>
            <a:r>
              <a:rPr lang="it-IT" sz="3200" dirty="0"/>
              <a:t>se il solver va in </a:t>
            </a:r>
            <a:r>
              <a:rPr lang="it-IT" sz="3200" dirty="0" err="1"/>
              <a:t>timeout</a:t>
            </a:r>
            <a:r>
              <a:rPr lang="it-IT" sz="3200" dirty="0"/>
              <a:t> prima di trovare l’ottimo, si seleziona il miglior </a:t>
            </a:r>
            <a:r>
              <a:rPr lang="it-IT" sz="3200" dirty="0" err="1"/>
              <a:t>lower</a:t>
            </a:r>
            <a:r>
              <a:rPr lang="it-IT" sz="3200" dirty="0"/>
              <a:t> </a:t>
            </a:r>
            <a:r>
              <a:rPr lang="it-IT" sz="3200" dirty="0" err="1"/>
              <a:t>bound</a:t>
            </a:r>
            <a:r>
              <a:rPr lang="it-IT" sz="3200" dirty="0"/>
              <a:t> trovato fino a quel momento e si usa per calcolare il rapporto di approssimazione.</a:t>
            </a:r>
            <a:endParaRPr lang="it-IT" sz="3200" b="1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15E4C33C-FB28-CF64-1D70-D12796DBEE6E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59</a:t>
            </a:r>
          </a:p>
        </p:txBody>
      </p:sp>
    </p:spTree>
    <p:extLst>
      <p:ext uri="{BB962C8B-B14F-4D97-AF65-F5344CB8AC3E}">
        <p14:creationId xmlns:p14="http://schemas.microsoft.com/office/powerpoint/2010/main" val="25917651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184BD-10B8-CC69-B8C5-E971F13D1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4510E97F-1506-132C-BD5D-A8BC8AFA8A03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FC7D1CBE-94E2-289D-4D0D-F3B4BFF7FC3B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6260B967-6C8B-5C2A-DEE9-91DFF8F492A5}"/>
              </a:ext>
            </a:extLst>
          </p:cNvPr>
          <p:cNvSpPr txBox="1"/>
          <p:nvPr/>
        </p:nvSpPr>
        <p:spPr>
          <a:xfrm>
            <a:off x="533399" y="728069"/>
            <a:ext cx="11116884" cy="4539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SVOLGIMENTO - 3</a:t>
            </a:r>
          </a:p>
          <a:p>
            <a:pPr algn="just">
              <a:spcAft>
                <a:spcPts val="600"/>
              </a:spcAft>
            </a:pPr>
            <a:r>
              <a:rPr lang="it-IT" sz="3200" b="1" dirty="0"/>
              <a:t>Crash del solver nel calcolo dell’ottimo: </a:t>
            </a:r>
            <a:r>
              <a:rPr lang="it-IT" sz="3200" dirty="0"/>
              <a:t>se </a:t>
            </a:r>
            <a:r>
              <a:rPr lang="it-IT" sz="3200" dirty="0" err="1"/>
              <a:t>Gurobi</a:t>
            </a:r>
            <a:r>
              <a:rPr lang="it-IT" sz="3200" dirty="0"/>
              <a:t> riporta errori su una specifica istanza, quella viene ignorata poiché non si ha a disposizione alcun </a:t>
            </a:r>
            <a:r>
              <a:rPr lang="it-IT" sz="3200" dirty="0" err="1"/>
              <a:t>lower</a:t>
            </a:r>
            <a:r>
              <a:rPr lang="it-IT" sz="3200" dirty="0"/>
              <a:t> </a:t>
            </a:r>
            <a:r>
              <a:rPr lang="it-IT" sz="3200" dirty="0" err="1"/>
              <a:t>bound</a:t>
            </a:r>
            <a:r>
              <a:rPr lang="it-IT" sz="3200" dirty="0"/>
              <a:t> con cui fare confronti.</a:t>
            </a:r>
          </a:p>
          <a:p>
            <a:pPr algn="just">
              <a:spcAft>
                <a:spcPts val="600"/>
              </a:spcAft>
            </a:pPr>
            <a:endParaRPr lang="it-IT" sz="3200" b="1" dirty="0"/>
          </a:p>
          <a:p>
            <a:pPr algn="just">
              <a:spcAft>
                <a:spcPts val="600"/>
              </a:spcAft>
            </a:pPr>
            <a:r>
              <a:rPr lang="it-IT" sz="3200" b="1" dirty="0"/>
              <a:t>Algoritmi valutati in base a: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dirty="0"/>
              <a:t>Rapporto di approssimazione medio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dirty="0"/>
              <a:t>Tempo di esecuzione medio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047F045E-E3BE-105B-C090-80A0859C6FDF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60</a:t>
            </a:r>
          </a:p>
        </p:txBody>
      </p:sp>
    </p:spTree>
    <p:extLst>
      <p:ext uri="{BB962C8B-B14F-4D97-AF65-F5344CB8AC3E}">
        <p14:creationId xmlns:p14="http://schemas.microsoft.com/office/powerpoint/2010/main" val="11038607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97DAE-7B63-5582-F2C5-339D6A6B0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748F845C-0435-A0EE-4D7C-19672E023A68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C1DC0766-ED2D-BFAD-D552-8566708B9EC6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7D0D917D-2196-CE14-4DA5-96EA3F3E3C18}"/>
              </a:ext>
            </a:extLst>
          </p:cNvPr>
          <p:cNvSpPr txBox="1"/>
          <p:nvPr/>
        </p:nvSpPr>
        <p:spPr>
          <a:xfrm>
            <a:off x="533399" y="728069"/>
            <a:ext cx="11116884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RUN EFFETTUATI</a:t>
            </a:r>
          </a:p>
          <a:p>
            <a:pPr algn="just">
              <a:spcAft>
                <a:spcPts val="600"/>
              </a:spcAft>
            </a:pPr>
            <a:endParaRPr lang="it-IT" sz="4000" b="1" dirty="0">
              <a:solidFill>
                <a:srgbClr val="990000"/>
              </a:solidFill>
            </a:endParaRP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b="1" dirty="0"/>
              <a:t>Minimum vertex cover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it-IT" sz="3200" dirty="0">
              <a:solidFill>
                <a:schemeClr val="bg2">
                  <a:lumMod val="75000"/>
                </a:schemeClr>
              </a:solidFill>
            </a:endParaRP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dirty="0">
                <a:solidFill>
                  <a:schemeClr val="bg2">
                    <a:lumMod val="75000"/>
                  </a:schemeClr>
                </a:solidFill>
              </a:rPr>
              <a:t>Minimum </a:t>
            </a:r>
            <a:r>
              <a:rPr lang="it-IT" sz="3200" dirty="0" err="1">
                <a:solidFill>
                  <a:schemeClr val="bg2">
                    <a:lumMod val="75000"/>
                  </a:schemeClr>
                </a:solidFill>
              </a:rPr>
              <a:t>weighted</a:t>
            </a:r>
            <a:r>
              <a:rPr lang="it-IT" sz="3200" dirty="0">
                <a:solidFill>
                  <a:schemeClr val="bg2">
                    <a:lumMod val="75000"/>
                  </a:schemeClr>
                </a:solidFill>
              </a:rPr>
              <a:t> vertex cover</a:t>
            </a:r>
          </a:p>
          <a:p>
            <a:pPr algn="just">
              <a:spcAft>
                <a:spcPts val="600"/>
              </a:spcAft>
            </a:pPr>
            <a:endParaRPr lang="it-IT" sz="4000" b="1" dirty="0">
              <a:solidFill>
                <a:srgbClr val="990000"/>
              </a:solidFill>
            </a:endParaRPr>
          </a:p>
          <a:p>
            <a:pPr algn="just">
              <a:spcAft>
                <a:spcPts val="600"/>
              </a:spcAft>
            </a:pPr>
            <a:endParaRPr lang="it-IT" sz="3200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46ECBCA9-2B20-553D-F449-15060720BF50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61</a:t>
            </a:r>
          </a:p>
        </p:txBody>
      </p:sp>
    </p:spTree>
    <p:extLst>
      <p:ext uri="{BB962C8B-B14F-4D97-AF65-F5344CB8AC3E}">
        <p14:creationId xmlns:p14="http://schemas.microsoft.com/office/powerpoint/2010/main" val="12585134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2C9C5-88A1-56F0-C8BA-8A4DD4B5F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3A30E389-3B9D-580D-6DBA-A0369FCC5C50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E3E2399C-6BB6-7791-AD27-0720DC07BBAE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57B80BE9-BD33-79DB-B81E-D9CA90C81F40}"/>
              </a:ext>
            </a:extLst>
          </p:cNvPr>
          <p:cNvSpPr txBox="1"/>
          <p:nvPr/>
        </p:nvSpPr>
        <p:spPr>
          <a:xfrm>
            <a:off x="533399" y="728069"/>
            <a:ext cx="11116884" cy="4816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RUN EFFETTUATI</a:t>
            </a:r>
          </a:p>
          <a:p>
            <a:pPr algn="just">
              <a:spcAft>
                <a:spcPts val="600"/>
              </a:spcAft>
            </a:pPr>
            <a:endParaRPr lang="it-IT" sz="4000" b="1" dirty="0">
              <a:solidFill>
                <a:srgbClr val="990000"/>
              </a:solidFill>
            </a:endParaRP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b="1" dirty="0"/>
              <a:t>Minimum vertex cover</a:t>
            </a:r>
          </a:p>
          <a:p>
            <a:pPr marL="914400" lvl="1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dirty="0"/>
              <a:t>5*3*3 = 45 classi</a:t>
            </a:r>
          </a:p>
          <a:p>
            <a:pPr marL="914400" lvl="1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dirty="0"/>
              <a:t>Per ogni istanza il solver viene utilizzato in 3 algoritmi</a:t>
            </a:r>
          </a:p>
          <a:p>
            <a:pPr marL="914400" lvl="1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dirty="0"/>
              <a:t>Tempo limite del solver = 10 secondi</a:t>
            </a:r>
          </a:p>
          <a:p>
            <a:pPr marL="914400" lvl="1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dirty="0"/>
              <a:t>Numero di istanze per classe = 10</a:t>
            </a:r>
          </a:p>
          <a:p>
            <a:pPr marL="914400" lvl="1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b="1" dirty="0"/>
              <a:t>Tempo di esecuzione massimo = 3.75 ore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F7604CC7-FA10-27F0-D4DF-A673A29EF4A7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62</a:t>
            </a:r>
          </a:p>
        </p:txBody>
      </p:sp>
    </p:spTree>
    <p:extLst>
      <p:ext uri="{BB962C8B-B14F-4D97-AF65-F5344CB8AC3E}">
        <p14:creationId xmlns:p14="http://schemas.microsoft.com/office/powerpoint/2010/main" val="834088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A479A-F8C1-B361-8772-43A2D73ED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BB021700-35B8-295E-04D8-19174D8F3E75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369D210-CB63-6E87-3FE9-641B7377E342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5BF36DBE-2D84-91EB-7D80-D2D80E6CB8CF}"/>
              </a:ext>
            </a:extLst>
          </p:cNvPr>
          <p:cNvSpPr txBox="1"/>
          <p:nvPr/>
        </p:nvSpPr>
        <p:spPr>
          <a:xfrm>
            <a:off x="533399" y="728069"/>
            <a:ext cx="11116884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RUN EFFETTUATI</a:t>
            </a:r>
          </a:p>
          <a:p>
            <a:pPr algn="just">
              <a:spcAft>
                <a:spcPts val="600"/>
              </a:spcAft>
            </a:pPr>
            <a:endParaRPr lang="it-IT" sz="4000" b="1" dirty="0">
              <a:solidFill>
                <a:srgbClr val="990000"/>
              </a:solidFill>
            </a:endParaRP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dirty="0">
                <a:solidFill>
                  <a:schemeClr val="bg2">
                    <a:lumMod val="75000"/>
                  </a:schemeClr>
                </a:solidFill>
              </a:rPr>
              <a:t>Minimum vertex cover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it-IT" sz="3200" dirty="0">
              <a:solidFill>
                <a:schemeClr val="bg2">
                  <a:lumMod val="75000"/>
                </a:schemeClr>
              </a:solidFill>
            </a:endParaRP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b="1" dirty="0"/>
              <a:t>Minimum </a:t>
            </a:r>
            <a:r>
              <a:rPr lang="it-IT" sz="3200" b="1" dirty="0" err="1"/>
              <a:t>weighted</a:t>
            </a:r>
            <a:r>
              <a:rPr lang="it-IT" sz="3200" b="1" dirty="0"/>
              <a:t> vertex cover</a:t>
            </a:r>
          </a:p>
          <a:p>
            <a:pPr algn="just">
              <a:spcAft>
                <a:spcPts val="600"/>
              </a:spcAft>
            </a:pPr>
            <a:endParaRPr lang="it-IT" sz="4000" b="1" dirty="0">
              <a:solidFill>
                <a:srgbClr val="990000"/>
              </a:solidFill>
            </a:endParaRPr>
          </a:p>
          <a:p>
            <a:pPr algn="just">
              <a:spcAft>
                <a:spcPts val="600"/>
              </a:spcAft>
            </a:pPr>
            <a:endParaRPr lang="it-IT" sz="3200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4F78CFB0-18ED-04AD-C364-68EEF0468F40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63</a:t>
            </a:r>
          </a:p>
        </p:txBody>
      </p:sp>
    </p:spTree>
    <p:extLst>
      <p:ext uri="{BB962C8B-B14F-4D97-AF65-F5344CB8AC3E}">
        <p14:creationId xmlns:p14="http://schemas.microsoft.com/office/powerpoint/2010/main" val="12878162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5CE42-95C7-AA13-0447-86CAF1838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A09C54FD-077F-2B74-0B9B-AF6F935E9DE3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816DA15-81D9-986F-FF17-F0FF310E86A4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2268238F-37A3-0EFE-F07D-BDAB5423B82D}"/>
              </a:ext>
            </a:extLst>
          </p:cNvPr>
          <p:cNvSpPr txBox="1"/>
          <p:nvPr/>
        </p:nvSpPr>
        <p:spPr>
          <a:xfrm>
            <a:off x="533399" y="728069"/>
            <a:ext cx="11116884" cy="46935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RUN EFFETTUATI</a:t>
            </a:r>
          </a:p>
          <a:p>
            <a:pPr algn="just">
              <a:spcAft>
                <a:spcPts val="600"/>
              </a:spcAft>
            </a:pPr>
            <a:endParaRPr lang="it-IT" sz="3200" dirty="0">
              <a:solidFill>
                <a:schemeClr val="bg2">
                  <a:lumMod val="75000"/>
                </a:schemeClr>
              </a:solidFill>
            </a:endParaRP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b="1" dirty="0"/>
              <a:t>Minimum </a:t>
            </a:r>
            <a:r>
              <a:rPr lang="it-IT" sz="3200" b="1" dirty="0" err="1"/>
              <a:t>weighted</a:t>
            </a:r>
            <a:r>
              <a:rPr lang="it-IT" sz="3200" b="1" dirty="0"/>
              <a:t> vertex cover</a:t>
            </a:r>
          </a:p>
          <a:p>
            <a:pPr marL="914400" lvl="1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dirty="0"/>
              <a:t>5*3*3*3 = 135 classi</a:t>
            </a:r>
          </a:p>
          <a:p>
            <a:pPr marL="914400" lvl="1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dirty="0"/>
              <a:t>Per ogni istanza il solver viene utilizzato in 3 algoritmi</a:t>
            </a:r>
          </a:p>
          <a:p>
            <a:pPr marL="914400" lvl="1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dirty="0"/>
              <a:t>Tempo limite del solver = 10 secondi</a:t>
            </a:r>
          </a:p>
          <a:p>
            <a:pPr marL="914400" lvl="1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dirty="0"/>
              <a:t>Numero di istanze per classe = 10</a:t>
            </a:r>
          </a:p>
          <a:p>
            <a:pPr marL="914400" lvl="1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b="1" dirty="0"/>
              <a:t>Tempo di esecuzione massimo = 11.25 ore</a:t>
            </a:r>
            <a:endParaRPr lang="it-IT" sz="3200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F847DB98-AC79-3297-FC14-19A26E7F2C75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64</a:t>
            </a:r>
          </a:p>
        </p:txBody>
      </p:sp>
    </p:spTree>
    <p:extLst>
      <p:ext uri="{BB962C8B-B14F-4D97-AF65-F5344CB8AC3E}">
        <p14:creationId xmlns:p14="http://schemas.microsoft.com/office/powerpoint/2010/main" val="16210164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02BE2-E06D-D91F-AC9A-80CB36043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26A17D8B-6B9E-E901-58A1-F15E2491108A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9BD4627B-FB63-61FF-1613-55BFDCF90351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C5588D0-DB41-7564-C5B5-0AD0BAA57F59}"/>
              </a:ext>
            </a:extLst>
          </p:cNvPr>
          <p:cNvSpPr txBox="1"/>
          <p:nvPr/>
        </p:nvSpPr>
        <p:spPr>
          <a:xfrm>
            <a:off x="533399" y="728069"/>
            <a:ext cx="11116884" cy="46935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RUN EFFETTUATI</a:t>
            </a:r>
          </a:p>
          <a:p>
            <a:pPr algn="just">
              <a:spcAft>
                <a:spcPts val="600"/>
              </a:spcAft>
            </a:pPr>
            <a:endParaRPr lang="it-IT" sz="3200" dirty="0">
              <a:solidFill>
                <a:schemeClr val="bg2">
                  <a:lumMod val="75000"/>
                </a:schemeClr>
              </a:solidFill>
            </a:endParaRP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b="1" dirty="0">
                <a:solidFill>
                  <a:schemeClr val="bg2">
                    <a:lumMod val="75000"/>
                  </a:schemeClr>
                </a:solidFill>
              </a:rPr>
              <a:t>Minimum </a:t>
            </a:r>
            <a:r>
              <a:rPr lang="it-IT" sz="3200" b="1" dirty="0" err="1">
                <a:solidFill>
                  <a:schemeClr val="bg2">
                    <a:lumMod val="75000"/>
                  </a:schemeClr>
                </a:solidFill>
              </a:rPr>
              <a:t>weighted</a:t>
            </a:r>
            <a:r>
              <a:rPr lang="it-IT" sz="3200" b="1" dirty="0">
                <a:solidFill>
                  <a:schemeClr val="bg2">
                    <a:lumMod val="75000"/>
                  </a:schemeClr>
                </a:solidFill>
              </a:rPr>
              <a:t> vertex cover</a:t>
            </a:r>
          </a:p>
          <a:p>
            <a:pPr marL="914400" lvl="1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dirty="0">
                <a:solidFill>
                  <a:schemeClr val="bg2">
                    <a:lumMod val="75000"/>
                  </a:schemeClr>
                </a:solidFill>
              </a:rPr>
              <a:t>5*3*3*3 = 135 classi</a:t>
            </a:r>
          </a:p>
          <a:p>
            <a:pPr marL="914400" lvl="1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dirty="0">
                <a:solidFill>
                  <a:schemeClr val="bg2">
                    <a:lumMod val="75000"/>
                  </a:schemeClr>
                </a:solidFill>
              </a:rPr>
              <a:t>Per ogni istanza il solver viene utilizzato in 3 algoritmi</a:t>
            </a:r>
          </a:p>
          <a:p>
            <a:pPr marL="914400" lvl="1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dirty="0">
                <a:solidFill>
                  <a:schemeClr val="bg2">
                    <a:lumMod val="75000"/>
                  </a:schemeClr>
                </a:solidFill>
              </a:rPr>
              <a:t>Tempo limite del solver = 10 secondi</a:t>
            </a:r>
          </a:p>
          <a:p>
            <a:pPr marL="914400" lvl="1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dirty="0">
                <a:solidFill>
                  <a:schemeClr val="bg2">
                    <a:lumMod val="75000"/>
                  </a:schemeClr>
                </a:solidFill>
              </a:rPr>
              <a:t>Numero di istanze per classe = 10</a:t>
            </a:r>
          </a:p>
          <a:p>
            <a:pPr marL="914400" lvl="1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b="1" dirty="0">
                <a:solidFill>
                  <a:schemeClr val="bg2">
                    <a:lumMod val="75000"/>
                  </a:schemeClr>
                </a:solidFill>
              </a:rPr>
              <a:t>Tempo di esecuzione massimo = 11.25 ore</a:t>
            </a:r>
            <a:endParaRPr lang="it-IT" sz="32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5A46B282-5C4E-6B55-FA82-2CFF73021B1B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64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5CFC2BE4-E700-C1D3-65C5-0066A691C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7136" y="1266387"/>
            <a:ext cx="5777728" cy="432522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2475378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B94CE-36B9-26F6-DA72-581DD1BFD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2F696904-4D25-05F1-DC1C-2FEC18E88505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57E7D35-03CC-488C-9909-0646866082A7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D10570F-E6E8-B4C5-8C92-43FF0DBBED13}"/>
              </a:ext>
            </a:extLst>
          </p:cNvPr>
          <p:cNvSpPr txBox="1"/>
          <p:nvPr/>
        </p:nvSpPr>
        <p:spPr>
          <a:xfrm>
            <a:off x="533399" y="728069"/>
            <a:ext cx="11116884" cy="46935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RUN </a:t>
            </a:r>
            <a:r>
              <a:rPr lang="it-IT" sz="4000" b="1" u="sng" dirty="0">
                <a:solidFill>
                  <a:srgbClr val="990000"/>
                </a:solidFill>
              </a:rPr>
              <a:t>REALMENTE</a:t>
            </a:r>
            <a:r>
              <a:rPr lang="it-IT" sz="4000" b="1" dirty="0">
                <a:solidFill>
                  <a:srgbClr val="990000"/>
                </a:solidFill>
              </a:rPr>
              <a:t> EFFETTUATI</a:t>
            </a:r>
          </a:p>
          <a:p>
            <a:pPr algn="just">
              <a:spcAft>
                <a:spcPts val="600"/>
              </a:spcAft>
            </a:pPr>
            <a:endParaRPr lang="it-IT" sz="3200" dirty="0">
              <a:solidFill>
                <a:schemeClr val="bg2">
                  <a:lumMod val="75000"/>
                </a:schemeClr>
              </a:solidFill>
            </a:endParaRP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b="1" dirty="0"/>
              <a:t>Minimum </a:t>
            </a:r>
            <a:r>
              <a:rPr lang="it-IT" sz="3200" b="1" dirty="0" err="1"/>
              <a:t>weighted</a:t>
            </a:r>
            <a:r>
              <a:rPr lang="it-IT" sz="3200" b="1" dirty="0"/>
              <a:t> vertex cover</a:t>
            </a:r>
          </a:p>
          <a:p>
            <a:pPr marL="914400" lvl="1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dirty="0"/>
              <a:t>5*3*3*3 = 135 classi</a:t>
            </a:r>
          </a:p>
          <a:p>
            <a:pPr marL="914400" lvl="1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dirty="0"/>
              <a:t>Per ogni istanza il solver viene utilizzato in 3 algoritmi</a:t>
            </a:r>
          </a:p>
          <a:p>
            <a:pPr marL="914400" lvl="1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dirty="0"/>
              <a:t>Tempo limite del solver</a:t>
            </a:r>
          </a:p>
          <a:p>
            <a:pPr marL="1371600" lvl="2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dirty="0"/>
              <a:t>8 secondi per PLI e PLI rilassato</a:t>
            </a:r>
          </a:p>
          <a:p>
            <a:pPr marL="1371600" lvl="2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dirty="0"/>
              <a:t>10 secondi per PLI rilassato + ODI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F98C689B-A4E7-65E2-AF3C-BF587539D5F0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65</a:t>
            </a:r>
          </a:p>
        </p:txBody>
      </p:sp>
    </p:spTree>
    <p:extLst>
      <p:ext uri="{BB962C8B-B14F-4D97-AF65-F5344CB8AC3E}">
        <p14:creationId xmlns:p14="http://schemas.microsoft.com/office/powerpoint/2010/main" val="37123897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F658D-7CA7-8237-F603-2B92D4A47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B8A7A7A8-ED7B-7E54-1999-623A40B8DF5E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5255EFEC-0641-8DE6-DB36-A7958E9628FA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6B03FA66-5549-20AB-EE38-900883B6822C}"/>
              </a:ext>
            </a:extLst>
          </p:cNvPr>
          <p:cNvSpPr txBox="1"/>
          <p:nvPr/>
        </p:nvSpPr>
        <p:spPr>
          <a:xfrm>
            <a:off x="533399" y="728069"/>
            <a:ext cx="11116884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RUN </a:t>
            </a:r>
            <a:r>
              <a:rPr lang="it-IT" sz="4000" b="1" u="sng" dirty="0">
                <a:solidFill>
                  <a:srgbClr val="990000"/>
                </a:solidFill>
              </a:rPr>
              <a:t>REALMENTE</a:t>
            </a:r>
            <a:r>
              <a:rPr lang="it-IT" sz="4000" b="1" dirty="0">
                <a:solidFill>
                  <a:srgbClr val="990000"/>
                </a:solidFill>
              </a:rPr>
              <a:t> EFFETTUATI</a:t>
            </a:r>
          </a:p>
          <a:p>
            <a:pPr algn="just">
              <a:spcAft>
                <a:spcPts val="600"/>
              </a:spcAft>
            </a:pPr>
            <a:endParaRPr lang="it-IT" sz="3200" dirty="0">
              <a:solidFill>
                <a:schemeClr val="bg2">
                  <a:lumMod val="75000"/>
                </a:schemeClr>
              </a:solidFill>
            </a:endParaRP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b="1" dirty="0"/>
              <a:t>Minimum </a:t>
            </a:r>
            <a:r>
              <a:rPr lang="it-IT" sz="3200" b="1" dirty="0" err="1"/>
              <a:t>weighted</a:t>
            </a:r>
            <a:r>
              <a:rPr lang="it-IT" sz="3200" b="1" dirty="0"/>
              <a:t> vertex cover</a:t>
            </a:r>
          </a:p>
          <a:p>
            <a:pPr marL="914400" lvl="1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dirty="0"/>
              <a:t>Numero di istanze per classe = 5</a:t>
            </a:r>
          </a:p>
          <a:p>
            <a:pPr marL="914400" lvl="1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b="1" dirty="0"/>
              <a:t>Tempo di esecuzione massimo = 4.875 ore</a:t>
            </a:r>
            <a:endParaRPr lang="it-IT" sz="3200" dirty="0"/>
          </a:p>
          <a:p>
            <a:pPr marL="914400" lvl="1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it-IT" sz="3200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47E34FEA-9108-B4A1-F6FD-97489D888A67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66</a:t>
            </a:r>
          </a:p>
        </p:txBody>
      </p:sp>
    </p:spTree>
    <p:extLst>
      <p:ext uri="{BB962C8B-B14F-4D97-AF65-F5344CB8AC3E}">
        <p14:creationId xmlns:p14="http://schemas.microsoft.com/office/powerpoint/2010/main" val="18326209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E6247-1EE7-B5C1-1976-172487843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8350D116-EDC0-371D-70D6-83414BB8CFD4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A4FE780-3F5E-FFE3-D1D7-F3E8A487D953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C77EF20B-FD82-8F62-32DB-D30E95ABD318}"/>
              </a:ext>
            </a:extLst>
          </p:cNvPr>
          <p:cNvSpPr txBox="1"/>
          <p:nvPr/>
        </p:nvSpPr>
        <p:spPr>
          <a:xfrm>
            <a:off x="533399" y="728069"/>
            <a:ext cx="11116884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RUN </a:t>
            </a:r>
            <a:r>
              <a:rPr lang="it-IT" sz="4000" b="1" u="sng" dirty="0">
                <a:solidFill>
                  <a:srgbClr val="990000"/>
                </a:solidFill>
              </a:rPr>
              <a:t>REALMENTE</a:t>
            </a:r>
            <a:r>
              <a:rPr lang="it-IT" sz="4000" b="1" dirty="0">
                <a:solidFill>
                  <a:srgbClr val="990000"/>
                </a:solidFill>
              </a:rPr>
              <a:t> EFFETTUATI</a:t>
            </a:r>
          </a:p>
          <a:p>
            <a:pPr algn="just">
              <a:spcAft>
                <a:spcPts val="600"/>
              </a:spcAft>
            </a:pPr>
            <a:endParaRPr lang="it-IT" sz="3200" dirty="0">
              <a:solidFill>
                <a:schemeClr val="bg2">
                  <a:lumMod val="75000"/>
                </a:schemeClr>
              </a:solidFill>
            </a:endParaRP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b="1" dirty="0">
                <a:solidFill>
                  <a:schemeClr val="bg2">
                    <a:lumMod val="75000"/>
                  </a:schemeClr>
                </a:solidFill>
              </a:rPr>
              <a:t>Minimum </a:t>
            </a:r>
            <a:r>
              <a:rPr lang="it-IT" sz="3200" b="1" dirty="0" err="1">
                <a:solidFill>
                  <a:schemeClr val="bg2">
                    <a:lumMod val="75000"/>
                  </a:schemeClr>
                </a:solidFill>
              </a:rPr>
              <a:t>weighted</a:t>
            </a:r>
            <a:r>
              <a:rPr lang="it-IT" sz="3200" b="1" dirty="0">
                <a:solidFill>
                  <a:schemeClr val="bg2">
                    <a:lumMod val="75000"/>
                  </a:schemeClr>
                </a:solidFill>
              </a:rPr>
              <a:t> vertex cover</a:t>
            </a:r>
          </a:p>
          <a:p>
            <a:pPr marL="914400" lvl="1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dirty="0">
                <a:solidFill>
                  <a:schemeClr val="bg2">
                    <a:lumMod val="75000"/>
                  </a:schemeClr>
                </a:solidFill>
              </a:rPr>
              <a:t>Numero di istanze per classe = 5</a:t>
            </a:r>
          </a:p>
          <a:p>
            <a:pPr marL="914400" lvl="1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b="1" dirty="0">
                <a:solidFill>
                  <a:schemeClr val="bg2">
                    <a:lumMod val="75000"/>
                  </a:schemeClr>
                </a:solidFill>
              </a:rPr>
              <a:t>Tempo di esecuzione massimo = 4.875 ore</a:t>
            </a:r>
            <a:endParaRPr lang="it-IT" sz="3200" dirty="0">
              <a:solidFill>
                <a:schemeClr val="bg2">
                  <a:lumMod val="75000"/>
                </a:schemeClr>
              </a:solidFill>
            </a:endParaRPr>
          </a:p>
          <a:p>
            <a:pPr marL="914400" lvl="1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it-IT" sz="3200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D778367F-C340-616F-6C8F-25B5A15F16AD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66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F6FE0F1F-F6BD-6B0E-1CF5-FE51084DEDDC}"/>
              </a:ext>
            </a:extLst>
          </p:cNvPr>
          <p:cNvSpPr/>
          <p:nvPr/>
        </p:nvSpPr>
        <p:spPr>
          <a:xfrm>
            <a:off x="581332" y="2234380"/>
            <a:ext cx="11029336" cy="273090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it-IT" sz="3200" b="1" dirty="0">
                <a:solidFill>
                  <a:srgbClr val="FF0000"/>
                </a:solidFill>
              </a:rPr>
              <a:t>Conseguenze: </a:t>
            </a:r>
            <a:r>
              <a:rPr lang="it-IT" sz="3200" dirty="0">
                <a:solidFill>
                  <a:schemeClr val="tx1"/>
                </a:solidFill>
              </a:rPr>
              <a:t>il numero ridotto di istanze </a:t>
            </a:r>
            <a:r>
              <a:rPr lang="it-IT" sz="3200">
                <a:solidFill>
                  <a:schemeClr val="tx1"/>
                </a:solidFill>
              </a:rPr>
              <a:t>potrebbe produrre </a:t>
            </a:r>
            <a:r>
              <a:rPr lang="it-IT" sz="3200" dirty="0">
                <a:solidFill>
                  <a:schemeClr val="tx1"/>
                </a:solidFill>
              </a:rPr>
              <a:t>risultati meno significativi.</a:t>
            </a:r>
          </a:p>
        </p:txBody>
      </p:sp>
    </p:spTree>
    <p:extLst>
      <p:ext uri="{BB962C8B-B14F-4D97-AF65-F5344CB8AC3E}">
        <p14:creationId xmlns:p14="http://schemas.microsoft.com/office/powerpoint/2010/main" val="31236503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65D1A-04F5-5727-829C-05895AB53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20C72289-038C-E986-0911-EAD726F141EF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232E49B-7DAF-27E4-9C49-E3EAA1553AC8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6EFD740-A237-AA49-D0D5-5E546C7F9C2B}"/>
              </a:ext>
            </a:extLst>
          </p:cNvPr>
          <p:cNvSpPr txBox="1"/>
          <p:nvPr/>
        </p:nvSpPr>
        <p:spPr>
          <a:xfrm>
            <a:off x="533399" y="728069"/>
            <a:ext cx="6304281" cy="43249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>
                <a:solidFill>
                  <a:srgbClr val="990000"/>
                </a:solidFill>
              </a:rPr>
              <a:t>ROADMAP: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it-IT" sz="3200" dirty="0">
                <a:solidFill>
                  <a:schemeClr val="bg2">
                    <a:lumMod val="75000"/>
                  </a:schemeClr>
                </a:solidFill>
              </a:rPr>
              <a:t>IDEA DEL PROGETTO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it-IT" sz="3200" dirty="0">
                <a:solidFill>
                  <a:schemeClr val="bg2">
                    <a:lumMod val="75000"/>
                  </a:schemeClr>
                </a:solidFill>
              </a:rPr>
              <a:t>ALGORITMI CONFRONTATI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it-IT" sz="3200" dirty="0">
                <a:solidFill>
                  <a:schemeClr val="bg2">
                    <a:lumMod val="75000"/>
                  </a:schemeClr>
                </a:solidFill>
              </a:rPr>
              <a:t>METODOLOGIA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it-IT" sz="3200" b="1" dirty="0"/>
              <a:t>RISULTATI PIÙ SIGNIFICATIVI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it-IT" sz="3200" dirty="0">
                <a:solidFill>
                  <a:schemeClr val="bg2">
                    <a:lumMod val="75000"/>
                  </a:schemeClr>
                </a:solidFill>
              </a:rPr>
              <a:t>CONCLUSIONI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BC20DB87-1305-3C8E-BC41-AC87E5411D55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67</a:t>
            </a:r>
          </a:p>
        </p:txBody>
      </p:sp>
    </p:spTree>
    <p:extLst>
      <p:ext uri="{BB962C8B-B14F-4D97-AF65-F5344CB8AC3E}">
        <p14:creationId xmlns:p14="http://schemas.microsoft.com/office/powerpoint/2010/main" val="9987561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8C47B-CCFF-01DA-5C5A-E248B1AB4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1E7219C2-AA34-CE2E-7A4A-463F259EEEE6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022BB71-A4BC-3330-247F-08F0656A9CFA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B671853E-6C02-060C-F120-65BB96E60B4C}"/>
              </a:ext>
            </a:extLst>
          </p:cNvPr>
          <p:cNvSpPr txBox="1"/>
          <p:nvPr/>
        </p:nvSpPr>
        <p:spPr>
          <a:xfrm>
            <a:off x="533399" y="728069"/>
            <a:ext cx="11116884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RISULTATI OTTENUTI – VERTEX COVER NON PESATO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b="1" dirty="0"/>
              <a:t>Miglior algoritmo</a:t>
            </a:r>
          </a:p>
          <a:p>
            <a:pPr marL="914400" lvl="1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dirty="0"/>
              <a:t>Algoritmo basato sul duale</a:t>
            </a:r>
          </a:p>
          <a:p>
            <a:pPr marL="914400" lvl="1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dirty="0"/>
              <a:t>Rapporto di approssimazione medio sempre &lt; 1.25</a:t>
            </a:r>
          </a:p>
          <a:p>
            <a:pPr marL="914400" lvl="1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dirty="0"/>
              <a:t>Eccelle per classi con eterogeneità 2</a:t>
            </a:r>
          </a:p>
          <a:p>
            <a:pPr marL="1371600" lvl="2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dirty="0"/>
              <a:t>Sbilanciamento evidente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63B6912E-24BE-0E8F-AB0E-6B086C8666FF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>
                <a:solidFill>
                  <a:schemeClr val="bg1"/>
                </a:solidFill>
              </a:rPr>
              <a:t>68</a:t>
            </a:r>
            <a:endParaRPr lang="it-IT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15156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F3706-6486-73D9-E019-B89A1E665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29AF70C0-5674-EE55-CC13-338095488876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E28968B-87B3-283C-3064-B04F14EB17A2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F1A2074A-7DF2-CEA7-EFFB-7850F39C14B2}"/>
              </a:ext>
            </a:extLst>
          </p:cNvPr>
          <p:cNvSpPr txBox="1"/>
          <p:nvPr/>
        </p:nvSpPr>
        <p:spPr>
          <a:xfrm>
            <a:off x="533399" y="728069"/>
            <a:ext cx="11116884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RISULTATI OTTENUTI – VERTEX COVER NON PESATO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b="1" dirty="0"/>
              <a:t>Miglior algoritmo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E631ACE0-87AB-5BD8-DAD5-33134CAA922D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69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B501656-43AB-D733-1444-B0CBDCFC1B17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649090" y="2005342"/>
            <a:ext cx="864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9488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3BDD9-F54D-82E1-F511-C8CD102CE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DB8C4970-77DB-34F3-9B7D-A02A032EEF03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18352F9-8201-4E03-D7F8-31121053F15A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BCE2BD02-764A-12CB-23FB-118BCDBC1C76}"/>
              </a:ext>
            </a:extLst>
          </p:cNvPr>
          <p:cNvSpPr txBox="1"/>
          <p:nvPr/>
        </p:nvSpPr>
        <p:spPr>
          <a:xfrm>
            <a:off x="533399" y="728069"/>
            <a:ext cx="11116884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RISULTATI OTTENUTI – VERTEX COVER NON PESATO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b="1" dirty="0"/>
              <a:t>Miglior algoritmo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9EB6E57B-3320-3652-6F07-4DC5BA408D83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70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E702AA2D-5943-4376-2CBF-10B563DEDDC0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771841" y="2005342"/>
            <a:ext cx="864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0732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21085-D138-DFEF-29CE-AC0F6F304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226958E3-B925-D574-CB42-88A5F4160DFA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5F5462E8-0484-4E78-B6C1-5DD4E73B491A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0C5585CE-5A0E-B0D7-F3B9-2DB0919102AD}"/>
              </a:ext>
            </a:extLst>
          </p:cNvPr>
          <p:cNvSpPr txBox="1"/>
          <p:nvPr/>
        </p:nvSpPr>
        <p:spPr>
          <a:xfrm>
            <a:off x="533399" y="728069"/>
            <a:ext cx="11116884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RISULTATI OTTENUTI – VERTEX COVER NON PESATO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b="1" dirty="0"/>
              <a:t>Miglior algoritmo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4FAF9AB0-4C9D-2687-CE2A-0C8C30D61ED1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>
                <a:solidFill>
                  <a:schemeClr val="bg1"/>
                </a:solidFill>
              </a:rPr>
              <a:t>71</a:t>
            </a:r>
            <a:endParaRPr lang="it-IT" sz="2000" b="1" dirty="0">
              <a:solidFill>
                <a:schemeClr val="bg1"/>
              </a:solidFill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C06F82B1-F682-139A-AE3B-FDCDD5E96C2A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771841" y="2005342"/>
            <a:ext cx="864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7252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AA9E8-70B8-2F95-A0F2-1F972B49D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B4CA73A2-0DB1-6A8A-E2CD-54AF4DF9E44C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81F9EC24-B5EB-3C2B-E96A-053FF1DDE66F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79A53264-516D-D48D-DF63-75D8DAAADC0E}"/>
              </a:ext>
            </a:extLst>
          </p:cNvPr>
          <p:cNvSpPr txBox="1"/>
          <p:nvPr/>
        </p:nvSpPr>
        <p:spPr>
          <a:xfrm>
            <a:off x="533399" y="728069"/>
            <a:ext cx="11116884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RISULTATI OTTENUTI – VERTEX COVER NON PESATO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b="1" dirty="0"/>
              <a:t>Miglior algoritmo (anche in caso di </a:t>
            </a:r>
            <a:r>
              <a:rPr lang="it-IT" sz="3200" b="1" dirty="0" err="1"/>
              <a:t>timeout</a:t>
            </a:r>
            <a:r>
              <a:rPr lang="it-IT" sz="3200" b="1" dirty="0"/>
              <a:t>)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7D4333B6-8C6E-F99C-54F2-FEE9FAF7F2E8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>
                <a:solidFill>
                  <a:schemeClr val="bg1"/>
                </a:solidFill>
              </a:rPr>
              <a:t>72</a:t>
            </a:r>
            <a:endParaRPr lang="it-IT" sz="2000" b="1" dirty="0">
              <a:solidFill>
                <a:schemeClr val="bg1"/>
              </a:solidFill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161BF36A-EFC9-E0E5-1B85-680858692892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841" y="2005342"/>
            <a:ext cx="8640000" cy="3570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425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7ED58-B565-B4A8-71B1-E7BE0EE3D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1680A486-26BC-30DF-4AB7-BFC32EF0629C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2D70E56C-1978-E36E-F3BA-533505870A8D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B6932DA6-8FFA-7DF2-25AE-251ADC84AA9C}"/>
              </a:ext>
            </a:extLst>
          </p:cNvPr>
          <p:cNvSpPr txBox="1"/>
          <p:nvPr/>
        </p:nvSpPr>
        <p:spPr>
          <a:xfrm>
            <a:off x="533399" y="728069"/>
            <a:ext cx="11116884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RISULTATI OTTENUTI – VERTEX COVER NON PESATO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b="1" dirty="0"/>
              <a:t>Miglior algoritmo (anche in caso di </a:t>
            </a:r>
            <a:r>
              <a:rPr lang="it-IT" sz="3200" b="1" dirty="0" err="1"/>
              <a:t>timeout</a:t>
            </a:r>
            <a:r>
              <a:rPr lang="it-IT" sz="3200" b="1" dirty="0"/>
              <a:t>)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BCBC3098-E8CF-0529-5EAB-FD8895F56535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>
                <a:solidFill>
                  <a:schemeClr val="bg1"/>
                </a:solidFill>
              </a:rPr>
              <a:t>73</a:t>
            </a:r>
            <a:endParaRPr lang="it-IT" sz="2000" b="1" dirty="0">
              <a:solidFill>
                <a:schemeClr val="bg1"/>
              </a:solidFill>
            </a:endParaRP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B48AB7D0-611C-DC9E-5293-5DB70AD4D3BA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771841" y="2005342"/>
            <a:ext cx="864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2174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6E924-8B67-6485-C199-F5C85BF49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BD8E21E9-8600-2CD0-A60C-97352730C911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CC9C658C-A2C0-8567-DF43-B6F26D304B32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285D050-0778-CF16-D32E-BD9251C18C85}"/>
              </a:ext>
            </a:extLst>
          </p:cNvPr>
          <p:cNvSpPr txBox="1"/>
          <p:nvPr/>
        </p:nvSpPr>
        <p:spPr>
          <a:xfrm>
            <a:off x="533399" y="728069"/>
            <a:ext cx="11116884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RISULTATI OTTENUTI – VERTEX COVER NON PESATO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b="1" dirty="0"/>
              <a:t>Algoritmo 1 (parte da un vertice qualsiasi): peggiore?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F2F4EEC8-FF18-5033-DD16-B97A3CE3871D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>
                <a:solidFill>
                  <a:schemeClr val="bg1"/>
                </a:solidFill>
              </a:rPr>
              <a:t>74</a:t>
            </a:r>
            <a:endParaRPr lang="it-IT" sz="2000" b="1" dirty="0">
              <a:solidFill>
                <a:schemeClr val="bg1"/>
              </a:solidFill>
            </a:endParaRP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6E478D9B-3260-A3E8-4C4B-D6A8ACE0BF61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771841" y="2005342"/>
            <a:ext cx="864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5363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E1896-FBF3-630C-8794-50887ED27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182234C9-970E-FE9D-9BA0-5BD6F7554F52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83CAE8AB-79B5-F9DA-55AC-B33951A02D9F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928B3389-0316-CD5E-9DD6-B8709E41077D}"/>
              </a:ext>
            </a:extLst>
          </p:cNvPr>
          <p:cNvSpPr txBox="1"/>
          <p:nvPr/>
        </p:nvSpPr>
        <p:spPr>
          <a:xfrm>
            <a:off x="533399" y="728069"/>
            <a:ext cx="11116884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RISULTATI OTTENUTI – VERTEX COVER NON PESATO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b="1" dirty="0"/>
              <a:t>Algoritmo 1 (parte da un vertice qualsiasi): peggiore?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6ED59555-9A15-8206-E108-342407F0AAD5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>
                <a:solidFill>
                  <a:schemeClr val="bg1"/>
                </a:solidFill>
              </a:rPr>
              <a:t>75</a:t>
            </a:r>
            <a:endParaRPr lang="it-IT" sz="2000" b="1" dirty="0">
              <a:solidFill>
                <a:schemeClr val="bg1"/>
              </a:solidFill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9305094D-8B23-64AE-5291-26CFA9280863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841" y="2005342"/>
            <a:ext cx="8640000" cy="3667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0862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B1353-539A-4BF7-68E4-F669A2C3F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0263BF7C-27EE-1EE9-27A9-2534158EA3A5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3A96C616-9287-E158-5D4A-278A32E50C04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D523C315-3705-B722-DC12-A3223DF3CC75}"/>
              </a:ext>
            </a:extLst>
          </p:cNvPr>
          <p:cNvSpPr txBox="1"/>
          <p:nvPr/>
        </p:nvSpPr>
        <p:spPr>
          <a:xfrm>
            <a:off x="533399" y="728069"/>
            <a:ext cx="11116884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RISULTATI OTTENUTI – VERTEX COVER NON PESATO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b="1" dirty="0"/>
              <a:t>Algoritmo 1 (parte da un vertice qualsiasi): peggiore?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8376C898-FFB5-2C08-29AE-50FA8F2D7C74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75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94236727-EDB5-3506-EA05-7DA9692C2B49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771841" y="2005342"/>
            <a:ext cx="8640000" cy="3667552"/>
          </a:xfrm>
          <a:prstGeom prst="rect">
            <a:avLst/>
          </a:prstGeom>
        </p:spPr>
      </p:pic>
      <p:sp>
        <p:nvSpPr>
          <p:cNvPr id="3" name="Rettangolo 2">
            <a:extLst>
              <a:ext uri="{FF2B5EF4-FFF2-40B4-BE49-F238E27FC236}">
                <a16:creationId xmlns:a16="http://schemas.microsoft.com/office/drawing/2014/main" id="{A330EA84-EF82-75D6-0EA8-8386492DAD26}"/>
              </a:ext>
            </a:extLst>
          </p:cNvPr>
          <p:cNvSpPr/>
          <p:nvPr/>
        </p:nvSpPr>
        <p:spPr>
          <a:xfrm>
            <a:off x="668594" y="2998839"/>
            <a:ext cx="10412361" cy="162232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3200" b="1" dirty="0"/>
              <a:t>No se il grafo è molto denso e ha molti vertici.</a:t>
            </a:r>
          </a:p>
        </p:txBody>
      </p:sp>
    </p:spTree>
    <p:extLst>
      <p:ext uri="{BB962C8B-B14F-4D97-AF65-F5344CB8AC3E}">
        <p14:creationId xmlns:p14="http://schemas.microsoft.com/office/powerpoint/2010/main" val="22565828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CB79B-C0EE-E8C1-C4F8-2B3B1C8BC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0B6370BD-1747-70CE-1997-9CF84E07D309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5A597B50-AA7E-955C-7C9A-FAAFD064FEC5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39D938BB-B3EF-EDB7-18CF-0384EFD53F6D}"/>
              </a:ext>
            </a:extLst>
          </p:cNvPr>
          <p:cNvSpPr txBox="1"/>
          <p:nvPr/>
        </p:nvSpPr>
        <p:spPr>
          <a:xfrm>
            <a:off x="533399" y="728069"/>
            <a:ext cx="11116884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RISULTATI OTTENUTI – VERTEX COVER NON PESATO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b="1" dirty="0"/>
              <a:t>Grafo denso, con molti vertici e «mediamente eterogeneo»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64ABD704-8C9F-2C11-D78E-1A9551D927CB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>
                <a:solidFill>
                  <a:schemeClr val="bg1"/>
                </a:solidFill>
              </a:rPr>
              <a:t>7</a:t>
            </a:r>
            <a:r>
              <a:rPr lang="it-IT" sz="2000" b="1" dirty="0">
                <a:solidFill>
                  <a:schemeClr val="bg1"/>
                </a:solidFill>
              </a:rPr>
              <a:t>6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D4FA5920-E78A-108F-596A-DD8A9C699FD3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841" y="2005342"/>
            <a:ext cx="8640000" cy="358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2605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214F9-B2FB-3F37-EB6F-C72BC7692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3BFBF999-E741-2545-7D0F-CD9EFBAE3337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C7D1E20B-CF4C-EA6C-7FB9-852E07F2047A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FE4F299-D073-B3A6-0FCD-F7AA76BCF7D7}"/>
              </a:ext>
            </a:extLst>
          </p:cNvPr>
          <p:cNvSpPr txBox="1"/>
          <p:nvPr/>
        </p:nvSpPr>
        <p:spPr>
          <a:xfrm>
            <a:off x="533399" y="728069"/>
            <a:ext cx="11116884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RISULTATI OTTENUTI – VERTEX COVER NON PESATO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b="1" dirty="0"/>
              <a:t>Grafo denso, con molti vertici e «mediamente eterogeneo»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73116163-F217-24EB-EC16-A7FA71FFA548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77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8034BF34-3375-1247-6DD7-4EA9E42449BE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841" y="2005342"/>
            <a:ext cx="8640000" cy="3661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1216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D1C2A-89E1-9046-89F3-7867D1664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F43C2B34-E340-0ABF-F2CF-D0AC32DA8E25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F605CF45-7C31-BE36-D4AE-8B5198EC0B25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1F294568-DA13-CC7D-ED2E-07A340ABE763}"/>
              </a:ext>
            </a:extLst>
          </p:cNvPr>
          <p:cNvSpPr txBox="1"/>
          <p:nvPr/>
        </p:nvSpPr>
        <p:spPr>
          <a:xfrm>
            <a:off x="533399" y="728069"/>
            <a:ext cx="11116884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RISULTATI OTTENUTI – VERTEX COVER NON PESATO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b="1" dirty="0"/>
              <a:t>Grafo denso, con molti vertici e «mediamente eterogeneo»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FC97C29F-5590-21CA-5661-2F94585DD6E4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>
                <a:solidFill>
                  <a:schemeClr val="bg1"/>
                </a:solidFill>
              </a:rPr>
              <a:t>77</a:t>
            </a:r>
            <a:endParaRPr lang="it-IT" sz="2000" b="1" dirty="0">
              <a:solidFill>
                <a:schemeClr val="bg1"/>
              </a:solidFill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8F95BB5D-A063-E9C4-7D65-30B5E77AD07D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554774" y="2005342"/>
            <a:ext cx="8640000" cy="3661856"/>
          </a:xfrm>
          <a:prstGeom prst="rect">
            <a:avLst/>
          </a:prstGeom>
        </p:spPr>
      </p:pic>
      <p:sp>
        <p:nvSpPr>
          <p:cNvPr id="3" name="Rettangolo 2">
            <a:extLst>
              <a:ext uri="{FF2B5EF4-FFF2-40B4-BE49-F238E27FC236}">
                <a16:creationId xmlns:a16="http://schemas.microsoft.com/office/drawing/2014/main" id="{04F77B15-2003-452B-220D-42F13CF9F58C}"/>
              </a:ext>
            </a:extLst>
          </p:cNvPr>
          <p:cNvSpPr/>
          <p:nvPr/>
        </p:nvSpPr>
        <p:spPr>
          <a:xfrm>
            <a:off x="668594" y="2998839"/>
            <a:ext cx="10412361" cy="162232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3200" b="1" dirty="0"/>
              <a:t>Rapporti di approssimazione simili, sono da preferire gli algoritmi che non utilizzano solver</a:t>
            </a:r>
          </a:p>
        </p:txBody>
      </p:sp>
    </p:spTree>
    <p:extLst>
      <p:ext uri="{BB962C8B-B14F-4D97-AF65-F5344CB8AC3E}">
        <p14:creationId xmlns:p14="http://schemas.microsoft.com/office/powerpoint/2010/main" val="4574691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1F003-C5A6-6C23-8AFA-A335BE6B9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44FB96E6-3CD0-AB66-7BE5-715791E932BE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9C360D6D-D6F2-0C1D-258D-33314EAA8275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06FDDD4E-A3E8-BDFD-803E-02E794E69434}"/>
              </a:ext>
            </a:extLst>
          </p:cNvPr>
          <p:cNvSpPr txBox="1"/>
          <p:nvPr/>
        </p:nvSpPr>
        <p:spPr>
          <a:xfrm>
            <a:off x="533399" y="728069"/>
            <a:ext cx="11116884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RISULTATI OTTENUTI – VERTEX COVER NON PESATO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b="1" dirty="0" err="1"/>
              <a:t>Timeout</a:t>
            </a:r>
            <a:r>
              <a:rPr lang="it-IT" sz="3200" b="1" dirty="0"/>
              <a:t> del Solver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A348AF08-2740-3604-BD3E-75D21BC5EEFD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>
                <a:solidFill>
                  <a:schemeClr val="bg1"/>
                </a:solidFill>
              </a:rPr>
              <a:t>78</a:t>
            </a:r>
            <a:endParaRPr lang="it-IT" sz="2000" b="1" dirty="0">
              <a:solidFill>
                <a:schemeClr val="bg1"/>
              </a:solidFill>
            </a:endParaRP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034C5E69-AC61-2BE2-9FF8-1FB13A6FC503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771841" y="2005342"/>
            <a:ext cx="864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7343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D9B6A-F7A4-FD65-8331-7FFAD78B2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1CD012B1-E544-FA96-5649-C4D6EFD0B86F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C9A41082-BB2A-0C63-239F-73C21CB64C3D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A42D87B-3A3A-D045-F411-8DD80DF5F590}"/>
              </a:ext>
            </a:extLst>
          </p:cNvPr>
          <p:cNvSpPr txBox="1"/>
          <p:nvPr/>
        </p:nvSpPr>
        <p:spPr>
          <a:xfrm>
            <a:off x="533399" y="728069"/>
            <a:ext cx="11116884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RISULTATI OTTENUTI – VERTEX COVER NON PESATO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b="1" dirty="0" err="1"/>
              <a:t>Timeout</a:t>
            </a:r>
            <a:r>
              <a:rPr lang="it-IT" sz="3200" b="1" dirty="0"/>
              <a:t> del Solver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3173F626-48A0-7D9F-7EB3-BC4CD131BF10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>
                <a:solidFill>
                  <a:schemeClr val="bg1"/>
                </a:solidFill>
              </a:rPr>
              <a:t>78</a:t>
            </a:r>
            <a:endParaRPr lang="it-IT" sz="2000" b="1" dirty="0">
              <a:solidFill>
                <a:schemeClr val="bg1"/>
              </a:solidFill>
            </a:endParaRP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566A0DD6-83F2-D3C2-9F35-60ABD644E6D9}"/>
              </a:ext>
            </a:extLst>
          </p:cNvPr>
          <p:cNvPicPr>
            <a:picLocks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771841" y="2005342"/>
            <a:ext cx="8640000" cy="3600000"/>
          </a:xfrm>
          <a:prstGeom prst="rect">
            <a:avLst/>
          </a:prstGeom>
        </p:spPr>
      </p:pic>
      <p:sp>
        <p:nvSpPr>
          <p:cNvPr id="3" name="Rettangolo 2">
            <a:extLst>
              <a:ext uri="{FF2B5EF4-FFF2-40B4-BE49-F238E27FC236}">
                <a16:creationId xmlns:a16="http://schemas.microsoft.com/office/drawing/2014/main" id="{159CE294-3D60-ADC8-4698-43246F4A8D84}"/>
              </a:ext>
            </a:extLst>
          </p:cNvPr>
          <p:cNvSpPr/>
          <p:nvPr/>
        </p:nvSpPr>
        <p:spPr>
          <a:xfrm>
            <a:off x="668594" y="2998839"/>
            <a:ext cx="10412361" cy="162232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3200" b="1" dirty="0"/>
              <a:t>Sempre per più di 400 vertici</a:t>
            </a:r>
          </a:p>
        </p:txBody>
      </p:sp>
    </p:spTree>
    <p:extLst>
      <p:ext uri="{BB962C8B-B14F-4D97-AF65-F5344CB8AC3E}">
        <p14:creationId xmlns:p14="http://schemas.microsoft.com/office/powerpoint/2010/main" val="32215160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E6D34-D7AC-6651-628D-495F40B3A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44F27385-DE2B-BF65-FDF3-5737A1DCDBBA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8C426E36-B0F7-8F0E-C4ED-D4511A9577F5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75B96B7D-89D0-CD99-A47F-3D4F5060BF45}"/>
              </a:ext>
            </a:extLst>
          </p:cNvPr>
          <p:cNvSpPr txBox="1"/>
          <p:nvPr/>
        </p:nvSpPr>
        <p:spPr>
          <a:xfrm>
            <a:off x="533399" y="728069"/>
            <a:ext cx="11116884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RISULTATI OTTENUTI – VERTEX COVER PESATO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b="1" dirty="0"/>
              <a:t>Miglior algoritmo</a:t>
            </a:r>
          </a:p>
          <a:p>
            <a:pPr marL="914400" lvl="1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dirty="0"/>
              <a:t>Algoritmo basato sul duale</a:t>
            </a:r>
          </a:p>
          <a:p>
            <a:pPr marL="914400" lvl="1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dirty="0"/>
              <a:t>Rapporto di approssimazione medio sempre &lt; 1.25</a:t>
            </a:r>
          </a:p>
          <a:p>
            <a:pPr marL="914400" lvl="1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dirty="0"/>
              <a:t>Eccelle per classi con pochi vertici e preferibilmente con coefficiente di Spearman non nullo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EA9C13A8-DED1-935B-C641-F30D36F5190E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7</a:t>
            </a:r>
            <a:r>
              <a:rPr lang="it-IT" sz="2000" b="1">
                <a:solidFill>
                  <a:schemeClr val="bg1"/>
                </a:solidFill>
              </a:rPr>
              <a:t>9</a:t>
            </a:r>
            <a:endParaRPr lang="it-IT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3848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D197F-33C1-E1FC-D53E-6DF22690C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C7DF7D95-ED49-78FF-948E-5FF477C4D5C2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9D62F9D-5B9E-1796-9B01-66D3A1DB6553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E56A103-685C-6C34-018D-D778F0C0DE12}"/>
              </a:ext>
            </a:extLst>
          </p:cNvPr>
          <p:cNvSpPr txBox="1"/>
          <p:nvPr/>
        </p:nvSpPr>
        <p:spPr>
          <a:xfrm>
            <a:off x="533399" y="728069"/>
            <a:ext cx="11116884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RISULTATI OTTENUTI – VERTEX COVER PESATO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b="1" dirty="0"/>
              <a:t>Miglior algoritmo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615E34DE-CC6C-516C-08F2-48A4F76B35B4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80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1A6A2399-36A1-C627-3B89-174C31F8C420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771841" y="2005342"/>
            <a:ext cx="864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3351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DF946-B9CD-7C5D-AB7C-6D683823E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DFCEC5EE-8229-A134-9AA1-E213CC992FA6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B3CE9E9-D789-458F-FF6B-0BC22D38CC02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A74ADAF1-B17C-A3D4-D52A-9371A10DCD9B}"/>
              </a:ext>
            </a:extLst>
          </p:cNvPr>
          <p:cNvSpPr txBox="1"/>
          <p:nvPr/>
        </p:nvSpPr>
        <p:spPr>
          <a:xfrm>
            <a:off x="533399" y="728069"/>
            <a:ext cx="11116884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RISULTATI OTTENUTI – VERTEX COVER PESATO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b="1" dirty="0"/>
              <a:t>Miglior algoritmo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610ECEE7-5094-BB4D-6DFD-71326A9B82B7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>
                <a:solidFill>
                  <a:schemeClr val="bg1"/>
                </a:solidFill>
              </a:rPr>
              <a:t>81</a:t>
            </a:r>
            <a:endParaRPr lang="it-IT" sz="2000" b="1" dirty="0">
              <a:solidFill>
                <a:schemeClr val="bg1"/>
              </a:solidFill>
            </a:endParaRP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023CFC12-0558-5D19-8DCD-1075B8B1F792}"/>
              </a:ext>
            </a:extLst>
          </p:cNvPr>
          <p:cNvPicPr>
            <a:picLocks/>
          </p:cNvPicPr>
          <p:nvPr/>
        </p:nvPicPr>
        <p:blipFill>
          <a:blip r:embed="rId2"/>
          <a:srcRect l="937"/>
          <a:stretch>
            <a:fillRect/>
          </a:stretch>
        </p:blipFill>
        <p:spPr>
          <a:xfrm>
            <a:off x="1771841" y="2005342"/>
            <a:ext cx="864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6387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3234D-0556-F4E3-B41C-416A906ED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ADAE6F80-EAA5-31EA-FC28-396A11649897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8F3C163E-DFD2-168F-65F5-0FE327D627B2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21E2ED5E-F460-5118-08A2-054BF86E0030}"/>
              </a:ext>
            </a:extLst>
          </p:cNvPr>
          <p:cNvSpPr txBox="1"/>
          <p:nvPr/>
        </p:nvSpPr>
        <p:spPr>
          <a:xfrm>
            <a:off x="533399" y="728069"/>
            <a:ext cx="11116884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RISULTATI OTTENUTI – VERTEX COVER PESATO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b="1" dirty="0"/>
              <a:t>Miglior algoritmo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5B4AF0F3-3DC9-323F-9B2D-AABCC0913E41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82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E82738D8-F9C5-58A5-368C-5D5CA1CA1CD8}"/>
              </a:ext>
            </a:extLst>
          </p:cNvPr>
          <p:cNvPicPr>
            <a:picLocks/>
          </p:cNvPicPr>
          <p:nvPr/>
        </p:nvPicPr>
        <p:blipFill>
          <a:blip r:embed="rId2"/>
          <a:srcRect l="2607" r="3892"/>
          <a:stretch>
            <a:fillRect/>
          </a:stretch>
        </p:blipFill>
        <p:spPr>
          <a:xfrm>
            <a:off x="1771841" y="2005342"/>
            <a:ext cx="864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3752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B612C-440B-8F89-1482-85835AB7B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B3FEEDC2-6C63-F06E-AE92-F12FA2DD6FF2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CD573351-3245-2D9F-C9A0-C6199A8002C7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28A7C20A-3EDB-5198-D621-4058CA3BCF3E}"/>
              </a:ext>
            </a:extLst>
          </p:cNvPr>
          <p:cNvSpPr txBox="1"/>
          <p:nvPr/>
        </p:nvSpPr>
        <p:spPr>
          <a:xfrm>
            <a:off x="533399" y="728069"/>
            <a:ext cx="11116884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RISULTATI OTTENUTI – VERTEX COVER PESATO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b="1" dirty="0"/>
              <a:t>Miglior algoritmo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4747325C-AE80-48D4-2029-95CCCF13BB43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83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88B2B309-A448-A6BD-5247-21C9F264FEAA}"/>
              </a:ext>
            </a:extLst>
          </p:cNvPr>
          <p:cNvPicPr>
            <a:picLocks/>
          </p:cNvPicPr>
          <p:nvPr/>
        </p:nvPicPr>
        <p:blipFill>
          <a:blip r:embed="rId2"/>
          <a:srcRect l="3134" r="3459"/>
          <a:stretch>
            <a:fillRect/>
          </a:stretch>
        </p:blipFill>
        <p:spPr>
          <a:xfrm>
            <a:off x="1771841" y="2005342"/>
            <a:ext cx="864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9536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26119-7303-D062-81B0-349170A8D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A078A05D-4E12-1F8B-5960-CBDC9C9D4ED8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20B63D4E-9AAB-8EB1-133B-E0D76D9FDFC3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41F16EB-61C1-11DA-F5BD-1D38C9CDD5FB}"/>
              </a:ext>
            </a:extLst>
          </p:cNvPr>
          <p:cNvSpPr txBox="1"/>
          <p:nvPr/>
        </p:nvSpPr>
        <p:spPr>
          <a:xfrm>
            <a:off x="533399" y="728069"/>
            <a:ext cx="11116884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RISULTATI OTTENUTI – VERTEX COVER PESATO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b="1" dirty="0"/>
              <a:t>Miglior algoritmo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06460D06-71DF-36D2-1B5F-49D79C2B0F39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>
                <a:solidFill>
                  <a:schemeClr val="bg1"/>
                </a:solidFill>
              </a:rPr>
              <a:t>84</a:t>
            </a:r>
            <a:endParaRPr lang="it-IT" sz="2000" b="1" dirty="0">
              <a:solidFill>
                <a:schemeClr val="bg1"/>
              </a:solidFill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19416516-D312-E475-9E64-E3E6C88B4436}"/>
              </a:ext>
            </a:extLst>
          </p:cNvPr>
          <p:cNvPicPr>
            <a:picLocks/>
          </p:cNvPicPr>
          <p:nvPr/>
        </p:nvPicPr>
        <p:blipFill rotWithShape="1">
          <a:blip r:embed="rId2"/>
          <a:srcRect l="2874" r="3746"/>
          <a:stretch>
            <a:fillRect/>
          </a:stretch>
        </p:blipFill>
        <p:spPr bwMode="auto">
          <a:xfrm>
            <a:off x="1771841" y="2005342"/>
            <a:ext cx="8640000" cy="3600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0855307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B25AE-673A-E7A1-C9F8-A22BEE8FD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E488BF4F-959E-214B-E44C-610FA24B6B76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72971B6-1CFB-BB8D-4DB8-110B5CD8A98E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C8CE16D8-6F93-D8E9-5CB0-97BA5CE3F466}"/>
              </a:ext>
            </a:extLst>
          </p:cNvPr>
          <p:cNvSpPr txBox="1"/>
          <p:nvPr/>
        </p:nvSpPr>
        <p:spPr>
          <a:xfrm>
            <a:off x="533399" y="728069"/>
            <a:ext cx="11116884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RISULTATI OTTENUTI – VERTEX COVER PESATO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b="1" dirty="0"/>
              <a:t>Miglior algoritmo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A9BF7679-7605-82D4-C432-0C9B2E88DD24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>
                <a:solidFill>
                  <a:schemeClr val="bg1"/>
                </a:solidFill>
              </a:rPr>
              <a:t>8</a:t>
            </a:r>
            <a:r>
              <a:rPr lang="it-IT" sz="2000" b="1" dirty="0">
                <a:solidFill>
                  <a:schemeClr val="bg1"/>
                </a:solidFill>
              </a:rPr>
              <a:t>5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541E02A1-21B6-4441-F2F8-41C58FBA21DD}"/>
              </a:ext>
            </a:extLst>
          </p:cNvPr>
          <p:cNvPicPr>
            <a:picLocks/>
          </p:cNvPicPr>
          <p:nvPr/>
        </p:nvPicPr>
        <p:blipFill rotWithShape="1">
          <a:blip r:embed="rId2"/>
          <a:srcRect l="2873" r="3550"/>
          <a:stretch>
            <a:fillRect/>
          </a:stretch>
        </p:blipFill>
        <p:spPr bwMode="auto">
          <a:xfrm>
            <a:off x="1771841" y="2005342"/>
            <a:ext cx="8640000" cy="3600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9049676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1B9B7-1482-8C69-39A6-9FA36D34E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ECA33A5D-7883-3636-3314-62CC183892F5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123EF88-5386-A05A-F8BF-4DCC7DCAA8D9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C67C0E72-278E-B517-0EA8-3E453470029E}"/>
              </a:ext>
            </a:extLst>
          </p:cNvPr>
          <p:cNvSpPr txBox="1"/>
          <p:nvPr/>
        </p:nvSpPr>
        <p:spPr>
          <a:xfrm>
            <a:off x="533399" y="728069"/>
            <a:ext cx="11116884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RISULTATI OTTENUTI – VERTEX COVER PESATO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b="1" dirty="0"/>
              <a:t>Miglior algoritmo (quando non  lo è)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4D529655-B162-C199-EC8B-DF5DA583C58E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86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5CC62D4C-FDBC-81A1-5B9F-E9AAD5FB9A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58" t="14100" r="777"/>
          <a:stretch>
            <a:fillRect/>
          </a:stretch>
        </p:blipFill>
        <p:spPr bwMode="auto">
          <a:xfrm>
            <a:off x="1771841" y="2005342"/>
            <a:ext cx="8640000" cy="384821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0423288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E3942-F7D6-C7DA-0FFF-98A861F0F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771277FC-BF4A-4F33-213A-EC70A4EAB47D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18CBFC4-6A6F-F6FB-0CC2-D8B9E844F336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04E6C509-AF1E-E7DA-BE0C-A60F25B84391}"/>
              </a:ext>
            </a:extLst>
          </p:cNvPr>
          <p:cNvSpPr txBox="1"/>
          <p:nvPr/>
        </p:nvSpPr>
        <p:spPr>
          <a:xfrm>
            <a:off x="533399" y="728069"/>
            <a:ext cx="11116884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RISULTATI OTTENUTI – VERTEX COVER PESATO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b="1" dirty="0"/>
              <a:t>Miglior algoritmo (quando non  lo è)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69EE3E77-9AE2-AC30-EC0A-4953A53CB1A4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87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E5520660-2928-15DA-DB61-6546412F2677}"/>
              </a:ext>
            </a:extLst>
          </p:cNvPr>
          <p:cNvPicPr>
            <a:picLocks/>
          </p:cNvPicPr>
          <p:nvPr/>
        </p:nvPicPr>
        <p:blipFill>
          <a:blip r:embed="rId2"/>
          <a:srcRect r="1322"/>
          <a:stretch>
            <a:fillRect/>
          </a:stretch>
        </p:blipFill>
        <p:spPr>
          <a:xfrm>
            <a:off x="1771841" y="2005342"/>
            <a:ext cx="864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7479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4C4E2-8DC6-E8C1-4163-369E0F15E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59637C6D-6628-02B6-3029-8B8EB1806F91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C49FF66-4121-EFB3-EBC7-34D5D50DA295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0B497444-5E9D-1F5A-3367-702212C9C2CA}"/>
              </a:ext>
            </a:extLst>
          </p:cNvPr>
          <p:cNvSpPr txBox="1"/>
          <p:nvPr/>
        </p:nvSpPr>
        <p:spPr>
          <a:xfrm>
            <a:off x="533399" y="728069"/>
            <a:ext cx="11116884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RISULTATI OTTENUTI – VERTEX COVER PESATO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b="1" dirty="0"/>
              <a:t>Miglior algoritmo (quando non  lo è)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E913BF6E-A100-C3D7-0D22-4311A84A0A8E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>
                <a:solidFill>
                  <a:schemeClr val="bg1"/>
                </a:solidFill>
              </a:rPr>
              <a:t>88</a:t>
            </a:r>
            <a:endParaRPr lang="it-IT" sz="2000" b="1" dirty="0">
              <a:solidFill>
                <a:schemeClr val="bg1"/>
              </a:solidFill>
            </a:endParaRP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A443BE6F-0FC8-688E-9B9F-2AB67F5B30AC}"/>
              </a:ext>
            </a:extLst>
          </p:cNvPr>
          <p:cNvPicPr>
            <a:picLocks/>
          </p:cNvPicPr>
          <p:nvPr/>
        </p:nvPicPr>
        <p:blipFill>
          <a:blip r:embed="rId2"/>
          <a:srcRect l="1000"/>
          <a:stretch>
            <a:fillRect/>
          </a:stretch>
        </p:blipFill>
        <p:spPr>
          <a:xfrm>
            <a:off x="1771841" y="2005342"/>
            <a:ext cx="864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8766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B01A4-E6FA-4395-43CE-CABC1B09E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C5ADA0D6-7A6C-DB17-2F03-EA9D8460B684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969F3D2A-40EA-B0AD-5710-6C281C5E88FA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CCB5352F-931B-625B-B76F-ABBA8589A069}"/>
              </a:ext>
            </a:extLst>
          </p:cNvPr>
          <p:cNvSpPr txBox="1"/>
          <p:nvPr/>
        </p:nvSpPr>
        <p:spPr>
          <a:xfrm>
            <a:off x="533399" y="728069"/>
            <a:ext cx="11116884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RISULTATI OTTENUTI – VERTEX COVER PESATO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b="1" dirty="0"/>
              <a:t>Miglior algoritmo (quando non  lo è)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94B2A803-82CE-373C-BEA2-F9E379945297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88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AFB80DEF-981C-1133-781A-3166ED98033E}"/>
              </a:ext>
            </a:extLst>
          </p:cNvPr>
          <p:cNvPicPr>
            <a:picLocks/>
          </p:cNvPicPr>
          <p:nvPr/>
        </p:nvPicPr>
        <p:blipFill>
          <a:blip r:embed="rId2">
            <a:alphaModFix amt="70000"/>
          </a:blip>
          <a:srcRect l="1000"/>
          <a:stretch>
            <a:fillRect/>
          </a:stretch>
        </p:blipFill>
        <p:spPr>
          <a:xfrm>
            <a:off x="1771841" y="2005342"/>
            <a:ext cx="8640000" cy="3600000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34DAD264-099B-650C-00BD-162B5B1A35DE}"/>
              </a:ext>
            </a:extLst>
          </p:cNvPr>
          <p:cNvSpPr/>
          <p:nvPr/>
        </p:nvSpPr>
        <p:spPr>
          <a:xfrm>
            <a:off x="668594" y="2998839"/>
            <a:ext cx="10412361" cy="162232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3200" b="1" dirty="0"/>
              <a:t>Grafi poco densi e con pochi vertici</a:t>
            </a:r>
          </a:p>
        </p:txBody>
      </p:sp>
    </p:spTree>
    <p:extLst>
      <p:ext uri="{BB962C8B-B14F-4D97-AF65-F5344CB8AC3E}">
        <p14:creationId xmlns:p14="http://schemas.microsoft.com/office/powerpoint/2010/main" val="3404179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373B5-1F05-99BF-E606-86E236AE1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145A66BB-0304-876E-BBF4-B1D14F3B0C13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5D394F60-1BB7-2064-CBE0-256CC3F94EE6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5E9EE1E7-D017-53CF-074D-D0F39F42CA87}"/>
              </a:ext>
            </a:extLst>
          </p:cNvPr>
          <p:cNvSpPr txBox="1"/>
          <p:nvPr/>
        </p:nvSpPr>
        <p:spPr>
          <a:xfrm>
            <a:off x="533399" y="728069"/>
            <a:ext cx="11116884" cy="5032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4000" b="1" dirty="0">
                <a:solidFill>
                  <a:srgbClr val="990000"/>
                </a:solidFill>
              </a:rPr>
              <a:t>RISULTATI OTTENUTI – VERTEX COVER PESATO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b="1" dirty="0"/>
              <a:t>Peggior algoritmo</a:t>
            </a:r>
          </a:p>
          <a:p>
            <a:pPr marL="914400" lvl="1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dirty="0"/>
              <a:t>Algoritmo basato sul </a:t>
            </a:r>
            <a:r>
              <a:rPr lang="it-IT" sz="3200" dirty="0" err="1"/>
              <a:t>doubling</a:t>
            </a:r>
            <a:r>
              <a:rPr lang="it-IT" sz="3200" dirty="0"/>
              <a:t> and </a:t>
            </a:r>
            <a:r>
              <a:rPr lang="it-IT" sz="3200" dirty="0" err="1"/>
              <a:t>rounding</a:t>
            </a:r>
            <a:r>
              <a:rPr lang="it-IT" sz="3200" dirty="0"/>
              <a:t> down</a:t>
            </a:r>
          </a:p>
          <a:p>
            <a:pPr marL="914400" lvl="1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dirty="0"/>
              <a:t>Rapporto di approssimazione medio sempre &lt; 1.75</a:t>
            </a:r>
          </a:p>
          <a:p>
            <a:pPr marL="914400" lvl="1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dirty="0"/>
              <a:t>La scelta di una soglia leggermente inferiore a 0.5 per inserire un vertice in cover potrebbe aver reso l’algoritmo troppo «generoso»</a:t>
            </a:r>
          </a:p>
          <a:p>
            <a:pPr marL="914400" lvl="1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dirty="0"/>
              <a:t>Soffre eccessivamente le istanze con alta variabilità del peso dei vertici</a:t>
            </a:r>
            <a:endParaRPr lang="it-IT" sz="4000" b="1" dirty="0">
              <a:solidFill>
                <a:srgbClr val="990000"/>
              </a:solidFill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E23FABD5-658C-6A51-D37B-79C9897AEBC3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89</a:t>
            </a:r>
          </a:p>
        </p:txBody>
      </p:sp>
    </p:spTree>
    <p:extLst>
      <p:ext uri="{BB962C8B-B14F-4D97-AF65-F5344CB8AC3E}">
        <p14:creationId xmlns:p14="http://schemas.microsoft.com/office/powerpoint/2010/main" val="18593466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FC44C-D4D1-7548-689B-66410DC27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C45A62EB-FD4E-2B6C-5E1E-CC52C3B8491B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6C311CFC-6E4C-54E6-0929-3385D383BA51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1F4BD8AB-8379-B086-A541-86BE9C16834F}"/>
              </a:ext>
            </a:extLst>
          </p:cNvPr>
          <p:cNvSpPr txBox="1"/>
          <p:nvPr/>
        </p:nvSpPr>
        <p:spPr>
          <a:xfrm>
            <a:off x="533399" y="728069"/>
            <a:ext cx="11116884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4000" b="1" dirty="0">
                <a:solidFill>
                  <a:srgbClr val="990000"/>
                </a:solidFill>
              </a:rPr>
              <a:t>RISULTATI OTTENUTI – VERTEX COVER PESATO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b="1" dirty="0">
                <a:solidFill>
                  <a:schemeClr val="bg2">
                    <a:lumMod val="75000"/>
                  </a:schemeClr>
                </a:solidFill>
              </a:rPr>
              <a:t>Peggior algoritmo</a:t>
            </a:r>
          </a:p>
          <a:p>
            <a:pPr marL="914400" lvl="1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dirty="0">
                <a:solidFill>
                  <a:schemeClr val="bg2">
                    <a:lumMod val="75000"/>
                  </a:schemeClr>
                </a:solidFill>
              </a:rPr>
              <a:t>Algoritmo basato sul </a:t>
            </a:r>
            <a:r>
              <a:rPr lang="it-IT" sz="3200" dirty="0" err="1">
                <a:solidFill>
                  <a:schemeClr val="bg2">
                    <a:lumMod val="75000"/>
                  </a:schemeClr>
                </a:solidFill>
              </a:rPr>
              <a:t>doubling</a:t>
            </a:r>
            <a:r>
              <a:rPr lang="it-IT" sz="3200" dirty="0">
                <a:solidFill>
                  <a:schemeClr val="bg2">
                    <a:lumMod val="75000"/>
                  </a:schemeClr>
                </a:solidFill>
              </a:rPr>
              <a:t> and </a:t>
            </a:r>
            <a:r>
              <a:rPr lang="it-IT" sz="3200" dirty="0" err="1">
                <a:solidFill>
                  <a:schemeClr val="bg2">
                    <a:lumMod val="75000"/>
                  </a:schemeClr>
                </a:solidFill>
              </a:rPr>
              <a:t>rounding</a:t>
            </a:r>
            <a:r>
              <a:rPr lang="it-IT" sz="3200" dirty="0">
                <a:solidFill>
                  <a:schemeClr val="bg2">
                    <a:lumMod val="75000"/>
                  </a:schemeClr>
                </a:solidFill>
              </a:rPr>
              <a:t> down</a:t>
            </a:r>
          </a:p>
          <a:p>
            <a:pPr marL="914400" lvl="1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dirty="0">
                <a:solidFill>
                  <a:schemeClr val="bg2">
                    <a:lumMod val="75000"/>
                  </a:schemeClr>
                </a:solidFill>
              </a:rPr>
              <a:t>Rapporto di approssimazione medio sempre &lt; 1.75</a:t>
            </a:r>
          </a:p>
          <a:p>
            <a:pPr marL="914400" lvl="1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dirty="0">
                <a:solidFill>
                  <a:schemeClr val="bg2">
                    <a:lumMod val="75000"/>
                  </a:schemeClr>
                </a:solidFill>
              </a:rPr>
              <a:t>La scelta di una soglia leggermente inferiore a 0.5 per inserire un vertice in cover potrebbe aver reso l’algoritmo troppo «generoso»</a:t>
            </a:r>
          </a:p>
          <a:p>
            <a:pPr algn="just">
              <a:spcAft>
                <a:spcPts val="600"/>
              </a:spcAft>
            </a:pPr>
            <a:endParaRPr lang="it-IT" sz="4000" b="1" dirty="0">
              <a:solidFill>
                <a:srgbClr val="990000"/>
              </a:solidFill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5BA2F0D9-F77F-4DCF-42BF-3DECCBA5B6A2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89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D60F0149-BA7F-9C6C-C3C8-82C067F005FF}"/>
              </a:ext>
            </a:extLst>
          </p:cNvPr>
          <p:cNvSpPr/>
          <p:nvPr/>
        </p:nvSpPr>
        <p:spPr>
          <a:xfrm>
            <a:off x="885660" y="2526891"/>
            <a:ext cx="10412361" cy="162232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3200" b="1" dirty="0"/>
              <a:t>Si è provato ad alzare la soglia ma sono state ottenute soluzioni non ammissibili</a:t>
            </a:r>
          </a:p>
        </p:txBody>
      </p:sp>
    </p:spTree>
    <p:extLst>
      <p:ext uri="{BB962C8B-B14F-4D97-AF65-F5344CB8AC3E}">
        <p14:creationId xmlns:p14="http://schemas.microsoft.com/office/powerpoint/2010/main" val="28932847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FDA67-8D17-F33B-FB9D-84CBCD2EA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C2C73294-5E5D-A3B5-7309-2DEDDB42FDA9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2D9439A3-BADB-C1B1-7DE9-4CC7EE88B84E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A6EE334B-38EB-BAFB-70C1-BD06BC84ED57}"/>
              </a:ext>
            </a:extLst>
          </p:cNvPr>
          <p:cNvSpPr txBox="1"/>
          <p:nvPr/>
        </p:nvSpPr>
        <p:spPr>
          <a:xfrm>
            <a:off x="533399" y="728069"/>
            <a:ext cx="11116884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RISULTATI OTTENUTI – VERTEX COVER PESATO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b="1" dirty="0"/>
              <a:t>Peggior algoritmo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EEDF8A68-4D21-A8DC-48D2-5E1F95CBEACB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90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1BEFBC8B-6CF9-6CAD-1EAC-AC34A56B6E00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771841" y="2005342"/>
            <a:ext cx="864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3889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F3569-5114-6094-BAE4-CDDAF7B26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AD72A2A2-B112-DB9E-29F6-8F4717F3748E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80AB5D9-A83A-C543-DDB1-CB079312B278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9F66A186-70BB-EDDA-737D-71556A2889D4}"/>
              </a:ext>
            </a:extLst>
          </p:cNvPr>
          <p:cNvSpPr txBox="1"/>
          <p:nvPr/>
        </p:nvSpPr>
        <p:spPr>
          <a:xfrm>
            <a:off x="533399" y="728069"/>
            <a:ext cx="11116884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RISULTATI OTTENUTI – VERTEX COVER PESATO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b="1" dirty="0"/>
              <a:t>Peggior algoritmo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5F7ED44C-CB8E-D848-EF53-DC515FB4B69D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>
                <a:solidFill>
                  <a:schemeClr val="bg1"/>
                </a:solidFill>
              </a:rPr>
              <a:t>9</a:t>
            </a:r>
            <a:r>
              <a:rPr lang="it-IT" sz="2000" b="1" dirty="0">
                <a:solidFill>
                  <a:schemeClr val="bg1"/>
                </a:solidFill>
              </a:rPr>
              <a:t>1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42DA2FDA-1378-09C5-F39F-9D0B3164D2E9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771841" y="2005342"/>
            <a:ext cx="864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2272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42935-A6FB-A5F7-F083-B5D7D78AA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5FEFD664-C8C6-842D-D559-3F1D5E81AB8B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349EFBC-B08B-4BF8-F67F-230118ECBA5D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91067F2A-7786-AC8F-99A0-917DFDAA58FC}"/>
              </a:ext>
            </a:extLst>
          </p:cNvPr>
          <p:cNvSpPr txBox="1"/>
          <p:nvPr/>
        </p:nvSpPr>
        <p:spPr>
          <a:xfrm>
            <a:off x="533399" y="728069"/>
            <a:ext cx="11116884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RISULTATI OTTENUTI – VERTEX COVER PESATO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b="1" dirty="0"/>
              <a:t>Peggior algoritmo (quando non lo è)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5BA18EFC-06C2-8386-4DB4-6DE3996B4FD1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92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1FF48C02-BC9F-8640-0E3C-774F9AED1267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771841" y="2005342"/>
            <a:ext cx="864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6032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71B02-CBAB-AF3B-F921-600DA6B4D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45A27730-5009-655B-C459-FAB94079805C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34D9496-DE25-C595-7D04-FDCF3D19B3DF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63CCB15-F815-2DF9-17AE-E8C173424A7C}"/>
              </a:ext>
            </a:extLst>
          </p:cNvPr>
          <p:cNvSpPr txBox="1"/>
          <p:nvPr/>
        </p:nvSpPr>
        <p:spPr>
          <a:xfrm>
            <a:off x="533399" y="728069"/>
            <a:ext cx="11116884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RISULTATI OTTENUTI – VERTEX COVER PESATO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b="1" dirty="0"/>
              <a:t>Peggior algoritmo (quando non lo è)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5D403CB7-421F-49AD-CC8D-44A8F99E0BA6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92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F2A69912-E135-7C25-B063-883CB8B6DA9E}"/>
              </a:ext>
            </a:extLst>
          </p:cNvPr>
          <p:cNvPicPr>
            <a:picLocks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771841" y="2005342"/>
            <a:ext cx="8640000" cy="3600000"/>
          </a:xfrm>
          <a:prstGeom prst="rect">
            <a:avLst/>
          </a:prstGeom>
        </p:spPr>
      </p:pic>
      <p:sp>
        <p:nvSpPr>
          <p:cNvPr id="3" name="Rettangolo 2">
            <a:extLst>
              <a:ext uri="{FF2B5EF4-FFF2-40B4-BE49-F238E27FC236}">
                <a16:creationId xmlns:a16="http://schemas.microsoft.com/office/drawing/2014/main" id="{03D05E01-C0F9-AEEF-E13B-D3912BB6D59B}"/>
              </a:ext>
            </a:extLst>
          </p:cNvPr>
          <p:cNvSpPr/>
          <p:nvPr/>
        </p:nvSpPr>
        <p:spPr>
          <a:xfrm>
            <a:off x="885660" y="2526891"/>
            <a:ext cx="10412361" cy="162232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3200" b="1" dirty="0"/>
              <a:t>L’elevata variabilità dei pesi mette in particolare difficoltà gli algoritmi basati su </a:t>
            </a:r>
            <a:r>
              <a:rPr lang="it-IT" sz="3200" b="1" dirty="0" err="1"/>
              <a:t>doubling</a:t>
            </a:r>
            <a:r>
              <a:rPr lang="it-IT" sz="3200" b="1" dirty="0"/>
              <a:t> and </a:t>
            </a:r>
            <a:r>
              <a:rPr lang="it-IT" sz="3200" b="1" dirty="0" err="1"/>
              <a:t>rounding</a:t>
            </a:r>
            <a:r>
              <a:rPr lang="it-IT" sz="3200" b="1" dirty="0"/>
              <a:t> down</a:t>
            </a:r>
          </a:p>
        </p:txBody>
      </p:sp>
    </p:spTree>
    <p:extLst>
      <p:ext uri="{BB962C8B-B14F-4D97-AF65-F5344CB8AC3E}">
        <p14:creationId xmlns:p14="http://schemas.microsoft.com/office/powerpoint/2010/main" val="882546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322CF-8E2A-6FAA-5B00-5C46540EC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8F086F79-B4F2-112D-9568-1A841C8CCCF1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3C03687-AD41-2580-8F42-A1DA7250ADCE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7461BA39-B630-74B5-F5AD-34EEDDED4704}"/>
              </a:ext>
            </a:extLst>
          </p:cNvPr>
          <p:cNvSpPr txBox="1"/>
          <p:nvPr/>
        </p:nvSpPr>
        <p:spPr>
          <a:xfrm>
            <a:off x="533399" y="728069"/>
            <a:ext cx="11116884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RISULTATI OTTENUTI – VERTEX COVER PESATO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b="1" dirty="0"/>
              <a:t>Peggior algoritmo (quando non lo è)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5DEB1582-E616-F49A-8F7B-9D5F9966E8D7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92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1C8EA2C2-33A7-E794-736D-13BBBEFC2872}"/>
              </a:ext>
            </a:extLst>
          </p:cNvPr>
          <p:cNvPicPr>
            <a:picLocks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771841" y="2005342"/>
            <a:ext cx="8640000" cy="3600000"/>
          </a:xfrm>
          <a:prstGeom prst="rect">
            <a:avLst/>
          </a:prstGeom>
        </p:spPr>
      </p:pic>
      <p:sp>
        <p:nvSpPr>
          <p:cNvPr id="3" name="Rettangolo 2">
            <a:extLst>
              <a:ext uri="{FF2B5EF4-FFF2-40B4-BE49-F238E27FC236}">
                <a16:creationId xmlns:a16="http://schemas.microsoft.com/office/drawing/2014/main" id="{B5C4E2A6-641D-685A-38EF-B9CDB3F21BA9}"/>
              </a:ext>
            </a:extLst>
          </p:cNvPr>
          <p:cNvSpPr/>
          <p:nvPr/>
        </p:nvSpPr>
        <p:spPr>
          <a:xfrm>
            <a:off x="885660" y="2526891"/>
            <a:ext cx="10412361" cy="162232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3200" b="1" dirty="0"/>
              <a:t>Grafi molto densi e con variabilità dei pesi molto alta hanno comunque messo in crisi tutti gli algoritmi</a:t>
            </a:r>
          </a:p>
        </p:txBody>
      </p:sp>
    </p:spTree>
    <p:extLst>
      <p:ext uri="{BB962C8B-B14F-4D97-AF65-F5344CB8AC3E}">
        <p14:creationId xmlns:p14="http://schemas.microsoft.com/office/powerpoint/2010/main" val="3100089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F502A-C892-D9D3-9D7A-0BF5F5FC2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FBE0FB29-24CB-3293-05BF-2C7A52C1E0FD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677C5D8E-583D-66EC-866A-5CB337B0F451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1FED8597-2635-CB4B-E1C9-6A5FC11434CB}"/>
              </a:ext>
            </a:extLst>
          </p:cNvPr>
          <p:cNvSpPr txBox="1"/>
          <p:nvPr/>
        </p:nvSpPr>
        <p:spPr>
          <a:xfrm>
            <a:off x="533399" y="728069"/>
            <a:ext cx="11116884" cy="3216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RISULTATI OTTENUTI – VERTEX COVER PESATO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b="1" dirty="0"/>
              <a:t>Algoritmo 1 (parte dal vertice che pesa meno): ha risentito della correlazione?</a:t>
            </a:r>
          </a:p>
          <a:p>
            <a:pPr marL="914400" lvl="1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2800" dirty="0"/>
              <a:t>Ci si aspettavano performance migliori quando il vertice con peso minore coincideva con il vertice di grado maggiore.</a:t>
            </a:r>
          </a:p>
          <a:p>
            <a:pPr marL="1371600" lvl="2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2800" dirty="0"/>
              <a:t>Non è stato peggiore degli altri algoritmi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F75BFEFF-00AD-7B3B-1FE2-77DDC7D4225A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93</a:t>
            </a:r>
          </a:p>
        </p:txBody>
      </p:sp>
    </p:spTree>
    <p:extLst>
      <p:ext uri="{BB962C8B-B14F-4D97-AF65-F5344CB8AC3E}">
        <p14:creationId xmlns:p14="http://schemas.microsoft.com/office/powerpoint/2010/main" val="35127227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F89CC-1463-AE9E-C3FF-8484C8DD4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BD3270C7-397F-F05B-393E-C1F281932B73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39C196C-E0D3-902E-C6CC-FE797CF2F7E6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F9ECA83C-55DE-D753-3B95-EB3EBB7F8362}"/>
              </a:ext>
            </a:extLst>
          </p:cNvPr>
          <p:cNvSpPr txBox="1"/>
          <p:nvPr/>
        </p:nvSpPr>
        <p:spPr>
          <a:xfrm>
            <a:off x="533399" y="728069"/>
            <a:ext cx="11116884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RISULTATI OTTENUTI – VERTEX COVER PESATO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b="1" dirty="0"/>
              <a:t>Algoritmo 1 (parte dal vertice che pesa meno):</a:t>
            </a:r>
            <a:endParaRPr lang="it-IT" sz="2800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85D4A57C-BC41-EE4F-8733-C614742D819D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94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399598ED-B170-0A38-095B-66FFA9890936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771841" y="2005342"/>
            <a:ext cx="864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7015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2EA8E-639C-6D2E-56FA-17897DDB7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63CC3913-EBCE-383C-9C19-DCC8C84ED648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24330771-3261-7C9C-7C53-45E8ECD6D686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63C7551-3C8E-7FB1-B39B-43E937EB5A10}"/>
              </a:ext>
            </a:extLst>
          </p:cNvPr>
          <p:cNvSpPr txBox="1"/>
          <p:nvPr/>
        </p:nvSpPr>
        <p:spPr>
          <a:xfrm>
            <a:off x="533399" y="728069"/>
            <a:ext cx="1111688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RISULTATI OTTENUTI – VERTEX COVER PESATO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b="1" dirty="0"/>
              <a:t>Algoritmo 2 (parte dal vertice meno denso): ha risentito della correlazione?</a:t>
            </a:r>
          </a:p>
          <a:p>
            <a:pPr marL="914400" lvl="1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2800" dirty="0"/>
              <a:t>Non si comporta mai peggio dell’algoritmo 1 tranne quando ci sono grafi con pochi vertici e il coefficiente di Spearman è -1: l’algoritmo 1 è troppo favorito.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AC237308-8C6E-7AD0-2220-DFD1A463C750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95</a:t>
            </a:r>
          </a:p>
        </p:txBody>
      </p:sp>
    </p:spTree>
    <p:extLst>
      <p:ext uri="{BB962C8B-B14F-4D97-AF65-F5344CB8AC3E}">
        <p14:creationId xmlns:p14="http://schemas.microsoft.com/office/powerpoint/2010/main" val="5326630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5987C-AC89-2C78-5B1B-1AB53A3A7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CD875984-3E97-6A57-2D76-A94A6AB5290B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B51BF800-03D7-2A50-1C95-7F319A7D4CDF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4358F1-830B-60CF-B7F6-D3FAE181662D}"/>
              </a:ext>
            </a:extLst>
          </p:cNvPr>
          <p:cNvSpPr txBox="1"/>
          <p:nvPr/>
        </p:nvSpPr>
        <p:spPr>
          <a:xfrm>
            <a:off x="533399" y="728069"/>
            <a:ext cx="11116884" cy="1769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RISULTATI OTTENUTI – VERTEX COVER PESATO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b="1" dirty="0"/>
              <a:t>Algoritmo 2 (parte dal vertice meno denso): rispetto ad Algoritmo 1?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EC6AF686-89BD-F737-9B44-32ED62FB43D6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96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C6968002-DB12-F455-6A91-FB72EDED3A00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771841" y="2339415"/>
            <a:ext cx="864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2597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F52E1-A252-313B-31F5-18E59530F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29257223-4F46-DD12-2802-4CF81ABF6F74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5443B33F-0ED4-1A9E-EBF5-83D24F039BC1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03EE42C-28F3-5A86-4E21-A7C34C052275}"/>
              </a:ext>
            </a:extLst>
          </p:cNvPr>
          <p:cNvSpPr txBox="1"/>
          <p:nvPr/>
        </p:nvSpPr>
        <p:spPr>
          <a:xfrm>
            <a:off x="533399" y="728069"/>
            <a:ext cx="11116884" cy="1769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RISULTATI OTTENUTI – VERTEX COVER PESATO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b="1" dirty="0"/>
              <a:t>Algoritmo 2 (parte dal vertice meno denso): rispetto ad Algoritmo 1?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4718551B-1F4F-75F9-795D-C8738DB98E96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97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165470CB-B89D-F6A5-7FF2-E0B2EB1EC77F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771841" y="2339415"/>
            <a:ext cx="864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9901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1CC44-3230-E845-839B-EFCAC4BC3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9FE5A157-570F-EE16-0D44-FA863290ADFE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6BE432BF-3B4D-946E-7FE5-6F4EEEAFFEEF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0B53A-6E46-2F5C-B9B9-CC2127A14069}"/>
              </a:ext>
            </a:extLst>
          </p:cNvPr>
          <p:cNvSpPr txBox="1"/>
          <p:nvPr/>
        </p:nvSpPr>
        <p:spPr>
          <a:xfrm>
            <a:off x="533399" y="728069"/>
            <a:ext cx="11116884" cy="1769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RISULTATI OTTENUTI – VERTEX COVER PESATO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b="1" dirty="0"/>
              <a:t>Algoritmo 2 (parte dal vertice meno denso): rispetto ad Algoritmo 1?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92662F41-C854-FD78-0973-384BCB19A173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97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DB42CB42-CD26-95F3-6FF5-F12B3205F752}"/>
              </a:ext>
            </a:extLst>
          </p:cNvPr>
          <p:cNvPicPr>
            <a:picLocks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771841" y="2339415"/>
            <a:ext cx="8640000" cy="3600000"/>
          </a:xfrm>
          <a:prstGeom prst="rect">
            <a:avLst/>
          </a:prstGeom>
        </p:spPr>
      </p:pic>
      <p:sp>
        <p:nvSpPr>
          <p:cNvPr id="3" name="Rettangolo 2">
            <a:extLst>
              <a:ext uri="{FF2B5EF4-FFF2-40B4-BE49-F238E27FC236}">
                <a16:creationId xmlns:a16="http://schemas.microsoft.com/office/drawing/2014/main" id="{8F6E4294-8143-02BA-225E-5F070D2C70FE}"/>
              </a:ext>
            </a:extLst>
          </p:cNvPr>
          <p:cNvSpPr/>
          <p:nvPr/>
        </p:nvSpPr>
        <p:spPr>
          <a:xfrm>
            <a:off x="885660" y="3297969"/>
            <a:ext cx="10412361" cy="162232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3200" b="1" dirty="0"/>
              <a:t>In questo caso Sp = 1, l’Algoritmo 1 è pesantemente sfavorito </a:t>
            </a:r>
          </a:p>
        </p:txBody>
      </p:sp>
    </p:spTree>
    <p:extLst>
      <p:ext uri="{BB962C8B-B14F-4D97-AF65-F5344CB8AC3E}">
        <p14:creationId xmlns:p14="http://schemas.microsoft.com/office/powerpoint/2010/main" val="10889139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34A1A-6520-E63B-6B1A-89C39CA07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A3B5711A-C396-4425-D715-D9BC2AAABAF1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D57D5E8-7CF3-5B08-A15C-81A640972CF8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A2821FC8-A23A-B10C-D255-7C6FE4BED43C}"/>
              </a:ext>
            </a:extLst>
          </p:cNvPr>
          <p:cNvSpPr txBox="1"/>
          <p:nvPr/>
        </p:nvSpPr>
        <p:spPr>
          <a:xfrm>
            <a:off x="533399" y="728069"/>
            <a:ext cx="11116884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RISULTATI OTTENUTI – VERTEX COVER PESATO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b="1" dirty="0"/>
              <a:t>Rapporti di approssimazione simili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EB234348-5FB4-D998-9D95-7F0BD0D59AE1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98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332FBDEC-69EF-8136-4E59-A20FA00465C7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771841" y="2005342"/>
            <a:ext cx="864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3585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C38FE-24B8-9C4F-3A1D-8FA970789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442CF3D2-B4B8-35FC-B819-BFAF238DAB99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46C25CE-EC94-1EF3-207D-2FFE0B4CE7BC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ACD03FC1-9C8A-5A6F-01A7-82D5351DFBA4}"/>
              </a:ext>
            </a:extLst>
          </p:cNvPr>
          <p:cNvSpPr txBox="1"/>
          <p:nvPr/>
        </p:nvSpPr>
        <p:spPr>
          <a:xfrm>
            <a:off x="533399" y="728069"/>
            <a:ext cx="11116884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RISULTATI OTTENUTI – VERTEX COVER PESATO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b="1" dirty="0"/>
              <a:t>Rapporti di approssimazione simili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5C80FE6C-790B-5827-87F8-15C5C699C46A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>
                <a:solidFill>
                  <a:schemeClr val="bg1"/>
                </a:solidFill>
              </a:rPr>
              <a:t>9</a:t>
            </a:r>
            <a:r>
              <a:rPr lang="it-IT" sz="2000" b="1" dirty="0">
                <a:solidFill>
                  <a:schemeClr val="bg1"/>
                </a:solidFill>
              </a:rPr>
              <a:t>8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D2409FD6-7A7A-E4E5-DE98-57DF6DF8D867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771841" y="2005342"/>
            <a:ext cx="8640000" cy="3600000"/>
          </a:xfrm>
          <a:prstGeom prst="rect">
            <a:avLst/>
          </a:prstGeom>
        </p:spPr>
      </p:pic>
      <p:sp>
        <p:nvSpPr>
          <p:cNvPr id="3" name="Rettangolo 2">
            <a:extLst>
              <a:ext uri="{FF2B5EF4-FFF2-40B4-BE49-F238E27FC236}">
                <a16:creationId xmlns:a16="http://schemas.microsoft.com/office/drawing/2014/main" id="{A3EF71FD-44AC-1865-FB26-77C564D59A37}"/>
              </a:ext>
            </a:extLst>
          </p:cNvPr>
          <p:cNvSpPr/>
          <p:nvPr/>
        </p:nvSpPr>
        <p:spPr>
          <a:xfrm>
            <a:off x="885660" y="3297969"/>
            <a:ext cx="10412361" cy="162232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3200" b="1" dirty="0"/>
              <a:t>Se il grafo è molto denso o ha molti vertici, gli algoritmi offrono risultati mediamente simili</a:t>
            </a:r>
          </a:p>
        </p:txBody>
      </p:sp>
    </p:spTree>
    <p:extLst>
      <p:ext uri="{BB962C8B-B14F-4D97-AF65-F5344CB8AC3E}">
        <p14:creationId xmlns:p14="http://schemas.microsoft.com/office/powerpoint/2010/main" val="28578717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C9AB5-B991-E3F1-ED99-D21DC2F6D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9BB006A6-9DA6-1B9D-7FEE-1D7E50183D51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C5F8271A-7223-AE16-A61A-84D6A6FC4400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95D4D48D-7A0C-DB0E-1CF2-9C108A9FA5EE}"/>
              </a:ext>
            </a:extLst>
          </p:cNvPr>
          <p:cNvSpPr txBox="1"/>
          <p:nvPr/>
        </p:nvSpPr>
        <p:spPr>
          <a:xfrm>
            <a:off x="533399" y="728069"/>
            <a:ext cx="11116884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RISULTATI OTTENUTI – VERTEX COVER PESATO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b="1" dirty="0"/>
              <a:t>Rapporti di approssimazione simili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282B7174-975F-58BA-7B79-5FCBFB802A60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98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F326ADDE-8E95-37FC-9564-731FC782CECF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771841" y="2005342"/>
            <a:ext cx="8640000" cy="3600000"/>
          </a:xfrm>
          <a:prstGeom prst="rect">
            <a:avLst/>
          </a:prstGeom>
        </p:spPr>
      </p:pic>
      <p:sp>
        <p:nvSpPr>
          <p:cNvPr id="3" name="Rettangolo 2">
            <a:extLst>
              <a:ext uri="{FF2B5EF4-FFF2-40B4-BE49-F238E27FC236}">
                <a16:creationId xmlns:a16="http://schemas.microsoft.com/office/drawing/2014/main" id="{D691A059-294D-0639-53FD-5D4A5B8B2B6A}"/>
              </a:ext>
            </a:extLst>
          </p:cNvPr>
          <p:cNvSpPr/>
          <p:nvPr/>
        </p:nvSpPr>
        <p:spPr>
          <a:xfrm>
            <a:off x="885660" y="3297969"/>
            <a:ext cx="10412361" cy="162232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3200" b="1" dirty="0"/>
              <a:t>Meglio preferire algoritmi che non impiegano solver</a:t>
            </a:r>
          </a:p>
        </p:txBody>
      </p:sp>
    </p:spTree>
    <p:extLst>
      <p:ext uri="{BB962C8B-B14F-4D97-AF65-F5344CB8AC3E}">
        <p14:creationId xmlns:p14="http://schemas.microsoft.com/office/powerpoint/2010/main" val="36923277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50B76-B628-5960-7F89-7CED87BAB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4FE31AE6-F096-083A-AA75-7448F80CE4FF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231DE354-62DC-EE34-4683-EEF9D5C3AEB8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74616B25-5E42-0294-2B27-AF4B68637E73}"/>
              </a:ext>
            </a:extLst>
          </p:cNvPr>
          <p:cNvSpPr txBox="1"/>
          <p:nvPr/>
        </p:nvSpPr>
        <p:spPr>
          <a:xfrm>
            <a:off x="533399" y="728069"/>
            <a:ext cx="11116884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RISULTATI OTTENUTI – VERTEX COVER PESATO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b="1" dirty="0" err="1"/>
              <a:t>Timeout</a:t>
            </a:r>
            <a:r>
              <a:rPr lang="it-IT" sz="3200" b="1" dirty="0"/>
              <a:t> del Solver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495E7678-224C-F764-CBDC-C2EC953BD6FA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99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64004622-B01A-F591-78A7-72D6A1DAB19D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771841" y="2005342"/>
            <a:ext cx="864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9253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DC9DF-D152-5BF8-36BD-F93EC1206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D48D8CE4-394A-BDBD-E859-38F13C5D6D3E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9179ADF-B41D-1508-0C8F-55A7DD8A6EF6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B2300FBE-2BCE-09C7-87D8-5762EF42EBD3}"/>
              </a:ext>
            </a:extLst>
          </p:cNvPr>
          <p:cNvSpPr txBox="1"/>
          <p:nvPr/>
        </p:nvSpPr>
        <p:spPr>
          <a:xfrm>
            <a:off x="533399" y="728069"/>
            <a:ext cx="11116884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RISULTATI OTTENUTI – VERTEX COVER PESATO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b="1" dirty="0" err="1"/>
              <a:t>Timeout</a:t>
            </a:r>
            <a:r>
              <a:rPr lang="it-IT" sz="3200" b="1" dirty="0"/>
              <a:t> del Solver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2C883D55-22CA-5DEF-6CC4-44242420ECC6}"/>
              </a:ext>
            </a:extLst>
          </p:cNvPr>
          <p:cNvSpPr txBox="1"/>
          <p:nvPr/>
        </p:nvSpPr>
        <p:spPr>
          <a:xfrm>
            <a:off x="11434917" y="6222490"/>
            <a:ext cx="49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99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7CBA6E7E-FB44-9D14-DC8D-1ECCD5D96C91}"/>
              </a:ext>
            </a:extLst>
          </p:cNvPr>
          <p:cNvPicPr>
            <a:picLocks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771841" y="2005342"/>
            <a:ext cx="8640000" cy="3600000"/>
          </a:xfrm>
          <a:prstGeom prst="rect">
            <a:avLst/>
          </a:prstGeom>
        </p:spPr>
      </p:pic>
      <p:sp>
        <p:nvSpPr>
          <p:cNvPr id="3" name="Rettangolo 2">
            <a:extLst>
              <a:ext uri="{FF2B5EF4-FFF2-40B4-BE49-F238E27FC236}">
                <a16:creationId xmlns:a16="http://schemas.microsoft.com/office/drawing/2014/main" id="{B43A01F0-DD80-D1E3-658E-FF6C372B1679}"/>
              </a:ext>
            </a:extLst>
          </p:cNvPr>
          <p:cNvSpPr/>
          <p:nvPr/>
        </p:nvSpPr>
        <p:spPr>
          <a:xfrm>
            <a:off x="668594" y="2998839"/>
            <a:ext cx="10412361" cy="162232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3200" b="1" dirty="0"/>
              <a:t>Sempre per più di 400 vertici</a:t>
            </a:r>
          </a:p>
        </p:txBody>
      </p:sp>
    </p:spTree>
    <p:extLst>
      <p:ext uri="{BB962C8B-B14F-4D97-AF65-F5344CB8AC3E}">
        <p14:creationId xmlns:p14="http://schemas.microsoft.com/office/powerpoint/2010/main" val="928712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5BB0C-C140-4B80-8260-942B835A4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4A505E94-3907-AFB2-CEE5-C4D4AE21F192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B7FE5FF7-0241-9A66-F316-A3D61D4BC6B2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B18706A5-79F2-208B-E2C2-0A8B05D0A7A2}"/>
              </a:ext>
            </a:extLst>
          </p:cNvPr>
          <p:cNvSpPr txBox="1"/>
          <p:nvPr/>
        </p:nvSpPr>
        <p:spPr>
          <a:xfrm>
            <a:off x="11307097" y="6222490"/>
            <a:ext cx="6051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bg1"/>
                </a:solidFill>
              </a:rPr>
              <a:t>100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36A1BC36-E1EA-D11F-D584-020819C1BC6A}"/>
              </a:ext>
            </a:extLst>
          </p:cNvPr>
          <p:cNvSpPr txBox="1"/>
          <p:nvPr/>
        </p:nvSpPr>
        <p:spPr>
          <a:xfrm>
            <a:off x="533399" y="728069"/>
            <a:ext cx="6304281" cy="43249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>
                <a:solidFill>
                  <a:srgbClr val="990000"/>
                </a:solidFill>
              </a:rPr>
              <a:t>ROADMAP: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it-IT" sz="3200" dirty="0">
                <a:solidFill>
                  <a:schemeClr val="bg2">
                    <a:lumMod val="75000"/>
                  </a:schemeClr>
                </a:solidFill>
              </a:rPr>
              <a:t>IDEA DEL PROGETTO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it-IT" sz="3200" dirty="0">
                <a:solidFill>
                  <a:schemeClr val="bg2">
                    <a:lumMod val="75000"/>
                  </a:schemeClr>
                </a:solidFill>
              </a:rPr>
              <a:t>ALGORITMI CONFRONTATI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it-IT" sz="3200" dirty="0">
                <a:solidFill>
                  <a:schemeClr val="bg2">
                    <a:lumMod val="75000"/>
                  </a:schemeClr>
                </a:solidFill>
              </a:rPr>
              <a:t>METODOLOGIA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it-IT" sz="3200" dirty="0">
                <a:solidFill>
                  <a:schemeClr val="bg2">
                    <a:lumMod val="75000"/>
                  </a:schemeClr>
                </a:solidFill>
              </a:rPr>
              <a:t>RISULTATI PIÙ SIGNIFICATIVI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it-IT" sz="3200" b="1" dirty="0"/>
              <a:t>CONCLUSIONI</a:t>
            </a:r>
          </a:p>
        </p:txBody>
      </p:sp>
    </p:spTree>
    <p:extLst>
      <p:ext uri="{BB962C8B-B14F-4D97-AF65-F5344CB8AC3E}">
        <p14:creationId xmlns:p14="http://schemas.microsoft.com/office/powerpoint/2010/main" val="22046480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3DDBA-5513-EB7F-715F-5CB86C303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6727F1C3-E4E3-0106-AAD8-7D119743209E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90ABB001-AC40-0227-8DEB-860F304CBB65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3EFED939-047A-7038-1C22-E0867BAA5AEB}"/>
              </a:ext>
            </a:extLst>
          </p:cNvPr>
          <p:cNvSpPr txBox="1"/>
          <p:nvPr/>
        </p:nvSpPr>
        <p:spPr>
          <a:xfrm>
            <a:off x="533399" y="728069"/>
            <a:ext cx="11116884" cy="3739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CONCLUSIONI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dirty="0"/>
              <a:t>Gli algoritmi esaminati hanno mostrato come l’utilizzo di </a:t>
            </a:r>
            <a:r>
              <a:rPr lang="it-IT" sz="3200" b="1" dirty="0"/>
              <a:t>solver</a:t>
            </a:r>
            <a:r>
              <a:rPr lang="it-IT" sz="3200" dirty="0"/>
              <a:t> sembri più raccomandato per </a:t>
            </a:r>
            <a:r>
              <a:rPr lang="it-IT" sz="3200" b="1" dirty="0"/>
              <a:t>istanze piccole</a:t>
            </a:r>
            <a:r>
              <a:rPr lang="it-IT" sz="3200" dirty="0"/>
              <a:t>, mentre l’impiego di algoritmi euristici potrebbe essere più indicato per istanze di grandi dimensioni. Per grafi con molti vertici e con grado «uniforme», le euristiche propongono risultati molto vicini all’ottimo e con tempi di esecuzione decisamente ridotti.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62CDBC9F-2AE9-4CAF-449C-DF4AA6C85D27}"/>
              </a:ext>
            </a:extLst>
          </p:cNvPr>
          <p:cNvSpPr txBox="1"/>
          <p:nvPr/>
        </p:nvSpPr>
        <p:spPr>
          <a:xfrm>
            <a:off x="11307097" y="6222490"/>
            <a:ext cx="6051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bg1"/>
                </a:solidFill>
              </a:rPr>
              <a:t>101</a:t>
            </a:r>
          </a:p>
        </p:txBody>
      </p:sp>
    </p:spTree>
    <p:extLst>
      <p:ext uri="{BB962C8B-B14F-4D97-AF65-F5344CB8AC3E}">
        <p14:creationId xmlns:p14="http://schemas.microsoft.com/office/powerpoint/2010/main" val="20099502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3FD21-6428-DC38-D0B4-CF2DB718F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C1299EA1-71DD-9203-782C-71D004D10866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444772B3-BA95-7984-9142-91910DC0CC14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8373220-E648-2CFA-319B-7DBAFF0B4EAE}"/>
              </a:ext>
            </a:extLst>
          </p:cNvPr>
          <p:cNvSpPr txBox="1"/>
          <p:nvPr/>
        </p:nvSpPr>
        <p:spPr>
          <a:xfrm>
            <a:off x="533399" y="728069"/>
            <a:ext cx="11116884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CONCLUSIONI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dirty="0"/>
              <a:t>Gli algoritmi basati su </a:t>
            </a:r>
            <a:r>
              <a:rPr lang="it-IT" sz="3200" dirty="0" err="1"/>
              <a:t>doubling</a:t>
            </a:r>
            <a:r>
              <a:rPr lang="it-IT" sz="3200" dirty="0"/>
              <a:t> and </a:t>
            </a:r>
            <a:r>
              <a:rPr lang="it-IT" sz="3200" dirty="0" err="1"/>
              <a:t>rounding</a:t>
            </a:r>
            <a:r>
              <a:rPr lang="it-IT" sz="3200" dirty="0"/>
              <a:t> down hanno inserito </a:t>
            </a:r>
            <a:r>
              <a:rPr lang="it-IT" sz="3200" b="1" dirty="0"/>
              <a:t>in cover più vertici di quelli che avrebbero dovuto</a:t>
            </a:r>
            <a:r>
              <a:rPr lang="it-IT" sz="3200" dirty="0"/>
              <a:t>, soffrendo l’elevata variabilità (di grado nel caso non pesato e di peso nel caso pesato) in modo evidente. 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dirty="0"/>
              <a:t>Utilizzare le </a:t>
            </a:r>
            <a:r>
              <a:rPr lang="it-IT" sz="3200" dirty="0" err="1"/>
              <a:t>odd</a:t>
            </a:r>
            <a:r>
              <a:rPr lang="it-IT" sz="3200" dirty="0"/>
              <a:t> </a:t>
            </a:r>
            <a:r>
              <a:rPr lang="it-IT" sz="3200" dirty="0" err="1"/>
              <a:t>cycle</a:t>
            </a:r>
            <a:r>
              <a:rPr lang="it-IT" sz="3200" dirty="0"/>
              <a:t> </a:t>
            </a:r>
            <a:r>
              <a:rPr lang="it-IT" sz="3200" dirty="0" err="1"/>
              <a:t>inequalities</a:t>
            </a:r>
            <a:r>
              <a:rPr lang="it-IT" sz="3200" dirty="0"/>
              <a:t> apporta un vantaggio significativo solo quando i </a:t>
            </a:r>
            <a:r>
              <a:rPr lang="it-IT" sz="3200" b="1" dirty="0"/>
              <a:t>triangoli sono facili da individuare </a:t>
            </a:r>
            <a:r>
              <a:rPr lang="it-IT" sz="3200" dirty="0"/>
              <a:t>(pochi vertici con grado basso = meno possibilità da esplorare)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93BC36CE-D454-C5BE-CC41-5C2C839DCB8A}"/>
              </a:ext>
            </a:extLst>
          </p:cNvPr>
          <p:cNvSpPr txBox="1"/>
          <p:nvPr/>
        </p:nvSpPr>
        <p:spPr>
          <a:xfrm>
            <a:off x="11307097" y="6222490"/>
            <a:ext cx="6051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bg1"/>
                </a:solidFill>
              </a:rPr>
              <a:t>102</a:t>
            </a:r>
          </a:p>
        </p:txBody>
      </p:sp>
    </p:spTree>
    <p:extLst>
      <p:ext uri="{BB962C8B-B14F-4D97-AF65-F5344CB8AC3E}">
        <p14:creationId xmlns:p14="http://schemas.microsoft.com/office/powerpoint/2010/main" val="9915127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61189-60AB-21BD-E0A9-485823799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9B01D2A4-A234-04B3-FFD1-5E47CA442A46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13BE514-F8B3-0D31-6E76-00A0C75605A7}"/>
              </a:ext>
            </a:extLst>
          </p:cNvPr>
          <p:cNvSpPr txBox="1"/>
          <p:nvPr/>
        </p:nvSpPr>
        <p:spPr>
          <a:xfrm>
            <a:off x="5086139" y="6222490"/>
            <a:ext cx="2019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91DBE872-EC38-3091-2FE5-018CE15E9CBE}"/>
              </a:ext>
            </a:extLst>
          </p:cNvPr>
          <p:cNvSpPr txBox="1"/>
          <p:nvPr/>
        </p:nvSpPr>
        <p:spPr>
          <a:xfrm>
            <a:off x="533399" y="728069"/>
            <a:ext cx="1111688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4000" b="1" dirty="0">
                <a:solidFill>
                  <a:srgbClr val="990000"/>
                </a:solidFill>
              </a:rPr>
              <a:t>CONCLUSIONI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b="1" dirty="0"/>
              <a:t>Materiale completo:</a:t>
            </a:r>
          </a:p>
          <a:p>
            <a:pPr marL="914400" lvl="1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dirty="0"/>
              <a:t>Codice</a:t>
            </a:r>
          </a:p>
          <a:p>
            <a:pPr marL="914400" lvl="1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dirty="0"/>
              <a:t>Performance vertex cover non pesato</a:t>
            </a:r>
          </a:p>
          <a:p>
            <a:pPr marL="914400" lvl="1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dirty="0"/>
              <a:t>Performance vertex cover pesato</a:t>
            </a:r>
          </a:p>
          <a:p>
            <a:pPr marL="914400" lvl="1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3200" dirty="0"/>
              <a:t>Questa presentazione</a:t>
            </a:r>
          </a:p>
          <a:p>
            <a:pPr marL="914400" lvl="1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it-IT" sz="3200" dirty="0"/>
          </a:p>
          <a:p>
            <a:pPr lvl="1" algn="ctr">
              <a:spcAft>
                <a:spcPts val="600"/>
              </a:spcAft>
            </a:pPr>
            <a:r>
              <a:rPr lang="it-IT" sz="3200" dirty="0">
                <a:hlinkClick r:id="rId2"/>
              </a:rPr>
              <a:t>https://github.com/gianpaolo-pestilli/amod_project.git</a:t>
            </a:r>
            <a:endParaRPr lang="it-IT" sz="3200" dirty="0"/>
          </a:p>
          <a:p>
            <a:pPr lvl="1" algn="ctr">
              <a:spcAft>
                <a:spcPts val="600"/>
              </a:spcAft>
            </a:pPr>
            <a:endParaRPr lang="it-IT" sz="3200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22876651-11BD-0637-F927-292E8CEAC0B1}"/>
              </a:ext>
            </a:extLst>
          </p:cNvPr>
          <p:cNvSpPr txBox="1"/>
          <p:nvPr/>
        </p:nvSpPr>
        <p:spPr>
          <a:xfrm>
            <a:off x="11307097" y="6222490"/>
            <a:ext cx="6051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bg1"/>
                </a:solidFill>
              </a:rPr>
              <a:t>103</a:t>
            </a:r>
          </a:p>
        </p:txBody>
      </p:sp>
    </p:spTree>
    <p:extLst>
      <p:ext uri="{BB962C8B-B14F-4D97-AF65-F5344CB8AC3E}">
        <p14:creationId xmlns:p14="http://schemas.microsoft.com/office/powerpoint/2010/main" val="15697464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D0934-9639-DB09-279E-CA444BFBD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 descr="grafos">
            <a:extLst>
              <a:ext uri="{FF2B5EF4-FFF2-40B4-BE49-F238E27FC236}">
                <a16:creationId xmlns:a16="http://schemas.microsoft.com/office/drawing/2014/main" id="{36317017-13D9-96A4-364D-828B5524F78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0"/>
            <a:ext cx="12192001" cy="5939415"/>
          </a:xfrm>
          <a:prstGeom prst="rect">
            <a:avLst/>
          </a:prstGeom>
        </p:spPr>
      </p:pic>
      <p:sp>
        <p:nvSpPr>
          <p:cNvPr id="5" name="Rettangolo 4">
            <a:extLst>
              <a:ext uri="{FF2B5EF4-FFF2-40B4-BE49-F238E27FC236}">
                <a16:creationId xmlns:a16="http://schemas.microsoft.com/office/drawing/2014/main" id="{B9DA7EFA-4046-B4ED-4958-D897BBBE6CFC}"/>
              </a:ext>
            </a:extLst>
          </p:cNvPr>
          <p:cNvSpPr/>
          <p:nvPr/>
        </p:nvSpPr>
        <p:spPr>
          <a:xfrm rot="16200000">
            <a:off x="5612871" y="326546"/>
            <a:ext cx="966258" cy="1219200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5CD88C07-EBA5-3BA8-8BF0-191AAEC13E8D}"/>
              </a:ext>
            </a:extLst>
          </p:cNvPr>
          <p:cNvSpPr txBox="1"/>
          <p:nvPr/>
        </p:nvSpPr>
        <p:spPr>
          <a:xfrm>
            <a:off x="8802356" y="6222490"/>
            <a:ext cx="32858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1"/>
                </a:solidFill>
              </a:rPr>
              <a:t>Gianpaolo Pestilli (0386492) 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A1944CDA-378E-2A03-755D-C304650C1A17}"/>
              </a:ext>
            </a:extLst>
          </p:cNvPr>
          <p:cNvSpPr txBox="1"/>
          <p:nvPr/>
        </p:nvSpPr>
        <p:spPr>
          <a:xfrm>
            <a:off x="103832" y="6222490"/>
            <a:ext cx="21269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bg1"/>
                </a:solidFill>
              </a:rPr>
              <a:t>AMOD 2025-2026</a:t>
            </a:r>
          </a:p>
        </p:txBody>
      </p:sp>
    </p:spTree>
    <p:extLst>
      <p:ext uri="{BB962C8B-B14F-4D97-AF65-F5344CB8AC3E}">
        <p14:creationId xmlns:p14="http://schemas.microsoft.com/office/powerpoint/2010/main" val="25276318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07 - 2010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1615</TotalTime>
  <Words>3766</Words>
  <Application>Microsoft Office PowerPoint</Application>
  <PresentationFormat>Widescreen</PresentationFormat>
  <Paragraphs>710</Paragraphs>
  <Slides>120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120</vt:i4>
      </vt:variant>
    </vt:vector>
  </HeadingPairs>
  <TitlesOfParts>
    <vt:vector size="125" baseType="lpstr">
      <vt:lpstr>Arial</vt:lpstr>
      <vt:lpstr>Calibri</vt:lpstr>
      <vt:lpstr>Cambria Math</vt:lpstr>
      <vt:lpstr>Consolas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Gianpaolo Pestilli</dc:creator>
  <cp:lastModifiedBy>Gianpaolo Pestilli</cp:lastModifiedBy>
  <cp:revision>60</cp:revision>
  <dcterms:created xsi:type="dcterms:W3CDTF">2026-06-12T20:11:00Z</dcterms:created>
  <dcterms:modified xsi:type="dcterms:W3CDTF">2026-06-29T18:41:18Z</dcterms:modified>
</cp:coreProperties>
</file>